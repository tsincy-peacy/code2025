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457" r:id="rId2"/>
    <p:sldId id="458" r:id="rId3"/>
    <p:sldId id="459" r:id="rId4"/>
    <p:sldId id="460" r:id="rId5"/>
    <p:sldId id="462" r:id="rId6"/>
    <p:sldId id="463" r:id="rId7"/>
    <p:sldId id="464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5F5F5F"/>
    <a:srgbClr val="808080"/>
    <a:srgbClr val="336600"/>
    <a:srgbClr val="993366"/>
    <a:srgbClr val="6600CC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0"/>
    <p:restoredTop sz="97121"/>
  </p:normalViewPr>
  <p:slideViewPr>
    <p:cSldViewPr showGuides="1">
      <p:cViewPr varScale="1">
        <p:scale>
          <a:sx n="108" d="100"/>
          <a:sy n="108" d="100"/>
        </p:scale>
        <p:origin x="168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83D09C-B129-46E6-A773-727838837F6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2025/10/28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C876ED-837E-4248-AF5A-5C8984FCB5A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019793-DEBB-4D0C-AE87-030C13CF739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1814513"/>
            <a:ext cx="9009063" cy="1052512"/>
            <a:chOff x="0" y="1536"/>
            <a:chExt cx="5675" cy="663"/>
          </a:xfrm>
        </p:grpSpPr>
        <p:grpSp>
          <p:nvGrpSpPr>
            <p:cNvPr id="2055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6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8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051" name="Picture 17" descr="ust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Text Box 1"/>
          <p:cNvSpPr txBox="1">
            <a:spLocks noChangeArrowheads="1"/>
          </p:cNvSpPr>
          <p:nvPr/>
        </p:nvSpPr>
        <p:spPr bwMode="auto">
          <a:xfrm>
            <a:off x="0" y="4076700"/>
            <a:ext cx="91440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郑重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ahoma" panose="020B0604030504040204" pitchFamily="34" charset="0"/>
                <a:ea typeface="华文行楷" panose="02010800040101010101" pitchFamily="2" charset="-122"/>
                <a:cs typeface="+mn-cs"/>
              </a:rPr>
              <a:t>中国科学技术大学微电子学院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ahoma" panose="020B0604030504040204" pitchFamily="34" charset="0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School of Microelectronics, USTC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Fall, 2022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1052513"/>
            <a:ext cx="9144000" cy="1462087"/>
          </a:xfrm>
        </p:spPr>
        <p:txBody>
          <a:bodyPr/>
          <a:lstStyle>
            <a:lvl1pPr algn="ctr">
              <a:defRPr sz="5000" b="1" baseline="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0" y="3141663"/>
            <a:ext cx="9144000" cy="863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隶书" panose="02010800040101010101" pitchFamily="2" charset="-122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237288"/>
            <a:ext cx="115252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710548-9946-452B-92FA-CB120A09C6F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6375" y="6243638"/>
            <a:ext cx="61912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程序设计与计算思维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第一章预备知识</a:t>
            </a:r>
          </a:p>
        </p:txBody>
      </p:sp>
      <p:sp>
        <p:nvSpPr>
          <p:cNvPr id="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237288"/>
            <a:ext cx="115252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39467A-D284-4A66-ADF4-769F864CBE5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6013" y="1844675"/>
            <a:ext cx="3843337" cy="4392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1750" y="1844675"/>
            <a:ext cx="3843338" cy="4392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96113" y="620713"/>
            <a:ext cx="1958975" cy="5616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6013" y="620713"/>
            <a:ext cx="5727700" cy="5616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620713"/>
            <a:ext cx="7827962" cy="9366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16013" y="1844675"/>
            <a:ext cx="3843337" cy="43926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1750" y="1844675"/>
            <a:ext cx="3843338" cy="43926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90011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90011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32238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32238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2493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79216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5827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620713"/>
            <a:ext cx="7827963" cy="93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/>
          </p:cNvSpPr>
          <p:nvPr>
            <p:ph type="body" idx="1"/>
          </p:nvPr>
        </p:nvSpPr>
        <p:spPr>
          <a:xfrm>
            <a:off x="1116013" y="1844675"/>
            <a:ext cx="7839075" cy="43926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237288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4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方正姚体" panose="02010601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9A0F2-B9ED-4330-A7FB-CF423B42ECA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6375" y="6243638"/>
            <a:ext cx="61912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方正姚体" panose="02010601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237288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方正姚体" panose="02010601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6A4C1A-DECC-428B-A37D-939DD332DAB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1038" name="Picture 18" descr="ustc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44000" cy="6731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013" y="620713"/>
            <a:ext cx="7827963" cy="9366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3.5 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结构体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概述</a:t>
            </a:r>
          </a:p>
        </p:txBody>
      </p:sp>
      <p:sp>
        <p:nvSpPr>
          <p:cNvPr id="5123" name="Rectangle 5"/>
          <p:cNvSpPr>
            <a:spLocks noGrp="1"/>
          </p:cNvSpPr>
          <p:nvPr>
            <p:ph type="body" sz="half" idx="1"/>
          </p:nvPr>
        </p:nvSpPr>
        <p:spPr>
          <a:xfrm>
            <a:off x="792163" y="1739900"/>
            <a:ext cx="7416800" cy="3024188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结构体</a:t>
            </a: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将不同类型的数据组合成一个整体</a:t>
            </a: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用来表示简单类型无法描述的复杂对象</a:t>
            </a: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可以用结构体来定义用户自己的数据结构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举例</a:t>
            </a: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描述学生信息</a:t>
            </a:r>
          </a:p>
        </p:txBody>
      </p:sp>
      <p:sp>
        <p:nvSpPr>
          <p:cNvPr id="8196" name="Text Box 70"/>
          <p:cNvSpPr txBox="1"/>
          <p:nvPr/>
        </p:nvSpPr>
        <p:spPr>
          <a:xfrm>
            <a:off x="1187450" y="4724400"/>
            <a:ext cx="75612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92583" name="Group 7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75905498"/>
              </p:ext>
            </p:extLst>
          </p:nvPr>
        </p:nvGraphicFramePr>
        <p:xfrm>
          <a:off x="971550" y="4508500"/>
          <a:ext cx="6913563" cy="1512888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1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5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num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name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sex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age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score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addr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12039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Bill Gates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69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76.5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New York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日期占位符 5"/>
          <p:cNvSpPr txBox="1">
            <a:spLocks noGrp="1"/>
          </p:cNvSpPr>
          <p:nvPr>
            <p:ph type="dt" sz="half" idx="10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C33AEE-B628-4478-9BA5-285FC116E9C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268" name="灯片编号占位符 6"/>
          <p:cNvSpPr txBox="1">
            <a:spLocks noGrp="1"/>
          </p:cNvSpPr>
          <p:nvPr>
            <p:ph type="sldNum" sz="quarter" idx="12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95C1D9-EF2F-4162-9345-251A378BD45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2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2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4" name="Text Box 4"/>
          <p:cNvSpPr txBox="1"/>
          <p:nvPr/>
        </p:nvSpPr>
        <p:spPr>
          <a:xfrm>
            <a:off x="2771775" y="2997200"/>
            <a:ext cx="3143250" cy="1958975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</a:rPr>
              <a:t>struct    </a:t>
            </a:r>
            <a:r>
              <a:rPr lang="en-US" altLang="zh-CN" sz="2000" dirty="0">
                <a:solidFill>
                  <a:schemeClr val="bg2"/>
                </a:solidFill>
                <a:ea typeface="宋体" panose="02010600030101010101" pitchFamily="2" charset="-122"/>
              </a:rPr>
              <a:t> [</a:t>
            </a:r>
            <a:r>
              <a:rPr lang="zh-CN" altLang="zh-CN" sz="2000" dirty="0">
                <a:solidFill>
                  <a:srgbClr val="FF9900"/>
                </a:solidFill>
                <a:ea typeface="宋体" panose="02010600030101010101" pitchFamily="2" charset="-122"/>
              </a:rPr>
              <a:t>结构体名</a:t>
            </a:r>
            <a:r>
              <a:rPr lang="zh-CN" altLang="zh-CN" sz="2000" dirty="0">
                <a:solidFill>
                  <a:schemeClr val="bg2"/>
                </a:solidFill>
                <a:ea typeface="宋体" panose="02010600030101010101" pitchFamily="2" charset="-122"/>
              </a:rPr>
              <a:t>]</a:t>
            </a:r>
            <a:endParaRPr lang="zh-CN" altLang="zh-CN" sz="20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3366"/>
                </a:solidFill>
                <a:ea typeface="宋体" panose="02010600030101010101" pitchFamily="2" charset="-122"/>
              </a:rPr>
              <a:t>{</a:t>
            </a:r>
            <a:endParaRPr lang="en-US" altLang="zh-CN" sz="20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</a:rPr>
              <a:t>      </a:t>
            </a:r>
            <a:r>
              <a:rPr lang="zh-CN" altLang="en-US" sz="2000" dirty="0">
                <a:solidFill>
                  <a:srgbClr val="339933"/>
                </a:solidFill>
                <a:ea typeface="宋体" panose="02010600030101010101" pitchFamily="2" charset="-122"/>
              </a:rPr>
              <a:t>类型标识符    成员名；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9933"/>
                </a:solidFill>
                <a:ea typeface="宋体" panose="02010600030101010101" pitchFamily="2" charset="-122"/>
              </a:rPr>
              <a:t>      类型标识符    成员名；</a:t>
            </a:r>
            <a:endParaRPr lang="zh-CN" altLang="en-US" sz="20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</a:rPr>
              <a:t>         </a:t>
            </a:r>
            <a:r>
              <a:rPr lang="en-US" altLang="zh-CN" sz="2000" dirty="0">
                <a:solidFill>
                  <a:srgbClr val="339933"/>
                </a:solidFill>
                <a:ea typeface="宋体" panose="02010600030101010101" pitchFamily="2" charset="-122"/>
              </a:rPr>
              <a:t>…………….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3366"/>
                </a:solidFill>
                <a:ea typeface="宋体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3366"/>
                </a:solidFill>
                <a:ea typeface="宋体" panose="02010600030101010101" pitchFamily="2" charset="-122"/>
              </a:rPr>
              <a:t>；</a:t>
            </a:r>
            <a:endParaRPr lang="zh-CN" altLang="en-US" sz="20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194565" name="AutoShape 5"/>
          <p:cNvSpPr/>
          <p:nvPr/>
        </p:nvSpPr>
        <p:spPr>
          <a:xfrm>
            <a:off x="6156325" y="4221163"/>
            <a:ext cx="2352675" cy="860425"/>
          </a:xfrm>
          <a:prstGeom prst="wedgeRectCallout">
            <a:avLst>
              <a:gd name="adj1" fmla="val -88866"/>
              <a:gd name="adj2" fmla="val -53134"/>
            </a:avLst>
          </a:prstGeom>
          <a:solidFill>
            <a:schemeClr val="bg1"/>
          </a:solidFill>
          <a:ln w="38100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隶书" panose="02010509060101010101" pitchFamily="49" charset="-122"/>
              </a:rPr>
              <a:t>成员类型可以是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隶书" panose="02010509060101010101" pitchFamily="49" charset="-122"/>
              </a:rPr>
              <a:t>基本型或构造型</a:t>
            </a:r>
          </a:p>
        </p:txBody>
      </p:sp>
      <p:sp>
        <p:nvSpPr>
          <p:cNvPr id="194566" name="AutoShape 6"/>
          <p:cNvSpPr/>
          <p:nvPr/>
        </p:nvSpPr>
        <p:spPr>
          <a:xfrm>
            <a:off x="323850" y="4149725"/>
            <a:ext cx="2266950" cy="860425"/>
          </a:xfrm>
          <a:prstGeom prst="wedgeRectCallout">
            <a:avLst>
              <a:gd name="adj1" fmla="val 62954"/>
              <a:gd name="adj2" fmla="val -145755"/>
            </a:avLst>
          </a:prstGeom>
          <a:solidFill>
            <a:schemeClr val="bg1"/>
          </a:solidFill>
          <a:ln w="38100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ea typeface="隶书" panose="02010509060101010101" pitchFamily="49" charset="-122"/>
              </a:rPr>
              <a:t>struct</a:t>
            </a:r>
            <a:r>
              <a:rPr lang="zh-CN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是</a:t>
            </a:r>
            <a:r>
              <a:rPr lang="zh-CN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关键字</a:t>
            </a:r>
            <a:r>
              <a:rPr lang="zh-CN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不能省略</a:t>
            </a:r>
            <a:endParaRPr lang="zh-CN" altLang="en-US" sz="24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94567" name="AutoShape 7"/>
          <p:cNvSpPr/>
          <p:nvPr/>
        </p:nvSpPr>
        <p:spPr>
          <a:xfrm>
            <a:off x="6200775" y="2311400"/>
            <a:ext cx="2352675" cy="860425"/>
          </a:xfrm>
          <a:prstGeom prst="wedgeRectCallout">
            <a:avLst>
              <a:gd name="adj1" fmla="val -119903"/>
              <a:gd name="adj2" fmla="val 126935"/>
            </a:avLst>
          </a:prstGeom>
          <a:solidFill>
            <a:schemeClr val="bg1"/>
          </a:solidFill>
          <a:ln w="38100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隶书" panose="02010509060101010101" pitchFamily="49" charset="-122"/>
              </a:rPr>
              <a:t>合法类型标识符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150" name="Text Box 8"/>
          <p:cNvSpPr txBox="1">
            <a:spLocks noChangeArrowheads="1"/>
          </p:cNvSpPr>
          <p:nvPr/>
        </p:nvSpPr>
        <p:spPr bwMode="auto">
          <a:xfrm>
            <a:off x="1116013" y="1052513"/>
            <a:ext cx="53276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3.5.1 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结构体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类型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定义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7" name="日期占位符 6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A85C89-219E-452A-B4AB-52A3BA85CD9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1272" name="灯片编号占位符 7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877024-4D91-4CD4-AF35-5095B201E99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 animBg="1"/>
      <p:bldP spid="194565" grpId="0" animBg="1"/>
      <p:bldP spid="194566" grpId="0" animBg="1"/>
      <p:bldP spid="19456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8" name="Text Box 4"/>
          <p:cNvSpPr txBox="1"/>
          <p:nvPr/>
        </p:nvSpPr>
        <p:spPr>
          <a:xfrm>
            <a:off x="628650" y="1620838"/>
            <a:ext cx="3441700" cy="3051175"/>
          </a:xfrm>
          <a:prstGeom prst="rect">
            <a:avLst/>
          </a:prstGeom>
          <a:solidFill>
            <a:srgbClr val="EBFFFF"/>
          </a:solidFill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例  </a:t>
            </a:r>
            <a:r>
              <a:rPr lang="zh-CN" altLang="en-US" sz="2400" dirty="0">
                <a:solidFill>
                  <a:srgbClr val="3333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400" dirty="0">
                <a:solidFill>
                  <a:srgbClr val="3333FF"/>
                </a:solidFill>
                <a:ea typeface="宋体" panose="02010600030101010101" pitchFamily="2" charset="-122"/>
              </a:rPr>
              <a:t>struct </a:t>
            </a:r>
            <a:r>
              <a:rPr lang="en-US" altLang="zh-CN" sz="2400" dirty="0">
                <a:ea typeface="宋体" panose="02010600030101010101" pitchFamily="2" charset="-122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student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{       int num;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   char  name[20];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   char sex;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   int age;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   float score;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   char addr[30];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}; 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5119688" y="346075"/>
            <a:ext cx="3521075" cy="3871913"/>
            <a:chOff x="2420" y="300"/>
            <a:chExt cx="2915" cy="3823"/>
          </a:xfrm>
        </p:grpSpPr>
        <p:sp>
          <p:nvSpPr>
            <p:cNvPr id="10249" name="Rectangle 6"/>
            <p:cNvSpPr/>
            <p:nvPr/>
          </p:nvSpPr>
          <p:spPr>
            <a:xfrm>
              <a:off x="3078" y="300"/>
              <a:ext cx="1478" cy="381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0" name="Line 7"/>
            <p:cNvSpPr/>
            <p:nvPr/>
          </p:nvSpPr>
          <p:spPr>
            <a:xfrm>
              <a:off x="3064" y="556"/>
              <a:ext cx="1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1" name="Line 8"/>
            <p:cNvSpPr/>
            <p:nvPr/>
          </p:nvSpPr>
          <p:spPr>
            <a:xfrm>
              <a:off x="3064" y="843"/>
              <a:ext cx="1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2" name="Line 9"/>
            <p:cNvSpPr/>
            <p:nvPr/>
          </p:nvSpPr>
          <p:spPr>
            <a:xfrm>
              <a:off x="3064" y="1396"/>
              <a:ext cx="1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3" name="Line 10"/>
            <p:cNvSpPr/>
            <p:nvPr/>
          </p:nvSpPr>
          <p:spPr>
            <a:xfrm>
              <a:off x="3064" y="1673"/>
              <a:ext cx="1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4" name="Line 11"/>
            <p:cNvSpPr/>
            <p:nvPr/>
          </p:nvSpPr>
          <p:spPr>
            <a:xfrm>
              <a:off x="3064" y="1949"/>
              <a:ext cx="1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5" name="Line 12"/>
            <p:cNvSpPr/>
            <p:nvPr/>
          </p:nvSpPr>
          <p:spPr>
            <a:xfrm>
              <a:off x="3064" y="2226"/>
              <a:ext cx="1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6" name="Line 13"/>
            <p:cNvSpPr/>
            <p:nvPr/>
          </p:nvSpPr>
          <p:spPr>
            <a:xfrm>
              <a:off x="3064" y="2502"/>
              <a:ext cx="1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7" name="Line 14"/>
            <p:cNvSpPr/>
            <p:nvPr/>
          </p:nvSpPr>
          <p:spPr>
            <a:xfrm>
              <a:off x="3064" y="2779"/>
              <a:ext cx="1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8" name="Line 15"/>
            <p:cNvSpPr/>
            <p:nvPr/>
          </p:nvSpPr>
          <p:spPr>
            <a:xfrm>
              <a:off x="3064" y="3055"/>
              <a:ext cx="1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9" name="Line 16"/>
            <p:cNvSpPr/>
            <p:nvPr/>
          </p:nvSpPr>
          <p:spPr>
            <a:xfrm>
              <a:off x="3064" y="3332"/>
              <a:ext cx="1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0" name="AutoShape 17"/>
            <p:cNvSpPr/>
            <p:nvPr/>
          </p:nvSpPr>
          <p:spPr>
            <a:xfrm>
              <a:off x="2998" y="311"/>
              <a:ext cx="47" cy="533"/>
            </a:xfrm>
            <a:prstGeom prst="leftBrace">
              <a:avLst>
                <a:gd name="adj1" fmla="val 94503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1" name="AutoShape 18"/>
            <p:cNvSpPr/>
            <p:nvPr/>
          </p:nvSpPr>
          <p:spPr>
            <a:xfrm>
              <a:off x="4567" y="300"/>
              <a:ext cx="78" cy="544"/>
            </a:xfrm>
            <a:prstGeom prst="rightBrace">
              <a:avLst>
                <a:gd name="adj1" fmla="val 58119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2" name="AutoShape 19"/>
            <p:cNvSpPr/>
            <p:nvPr/>
          </p:nvSpPr>
          <p:spPr>
            <a:xfrm>
              <a:off x="4563" y="862"/>
              <a:ext cx="78" cy="544"/>
            </a:xfrm>
            <a:prstGeom prst="rightBrace">
              <a:avLst>
                <a:gd name="adj1" fmla="val 58119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3" name="AutoShape 20"/>
            <p:cNvSpPr/>
            <p:nvPr/>
          </p:nvSpPr>
          <p:spPr>
            <a:xfrm>
              <a:off x="2993" y="851"/>
              <a:ext cx="47" cy="533"/>
            </a:xfrm>
            <a:prstGeom prst="leftBrace">
              <a:avLst>
                <a:gd name="adj1" fmla="val 94503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4" name="AutoShape 21"/>
            <p:cNvSpPr/>
            <p:nvPr/>
          </p:nvSpPr>
          <p:spPr>
            <a:xfrm>
              <a:off x="2987" y="1411"/>
              <a:ext cx="47" cy="278"/>
            </a:xfrm>
            <a:prstGeom prst="leftBrace">
              <a:avLst>
                <a:gd name="adj1" fmla="val 4929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5" name="AutoShape 22"/>
            <p:cNvSpPr/>
            <p:nvPr/>
          </p:nvSpPr>
          <p:spPr>
            <a:xfrm>
              <a:off x="4578" y="1400"/>
              <a:ext cx="47" cy="278"/>
            </a:xfrm>
            <a:prstGeom prst="rightBrace">
              <a:avLst>
                <a:gd name="adj1" fmla="val 4929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6" name="AutoShape 23"/>
            <p:cNvSpPr/>
            <p:nvPr/>
          </p:nvSpPr>
          <p:spPr>
            <a:xfrm>
              <a:off x="4563" y="1684"/>
              <a:ext cx="78" cy="544"/>
            </a:xfrm>
            <a:prstGeom prst="rightBrace">
              <a:avLst>
                <a:gd name="adj1" fmla="val 58119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7" name="AutoShape 24"/>
            <p:cNvSpPr/>
            <p:nvPr/>
          </p:nvSpPr>
          <p:spPr>
            <a:xfrm>
              <a:off x="2994" y="1696"/>
              <a:ext cx="47" cy="533"/>
            </a:xfrm>
            <a:prstGeom prst="leftBrace">
              <a:avLst>
                <a:gd name="adj1" fmla="val 94503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8" name="AutoShape 25"/>
            <p:cNvSpPr/>
            <p:nvPr/>
          </p:nvSpPr>
          <p:spPr>
            <a:xfrm>
              <a:off x="2998" y="2233"/>
              <a:ext cx="47" cy="1100"/>
            </a:xfrm>
            <a:prstGeom prst="leftBrace">
              <a:avLst>
                <a:gd name="adj1" fmla="val 195035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9" name="AutoShape 26"/>
            <p:cNvSpPr/>
            <p:nvPr/>
          </p:nvSpPr>
          <p:spPr>
            <a:xfrm>
              <a:off x="4578" y="2222"/>
              <a:ext cx="47" cy="1111"/>
            </a:xfrm>
            <a:prstGeom prst="rightBrace">
              <a:avLst>
                <a:gd name="adj1" fmla="val 196985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70" name="AutoShape 27"/>
            <p:cNvSpPr/>
            <p:nvPr/>
          </p:nvSpPr>
          <p:spPr>
            <a:xfrm>
              <a:off x="3000" y="3333"/>
              <a:ext cx="56" cy="778"/>
            </a:xfrm>
            <a:prstGeom prst="leftBrace">
              <a:avLst>
                <a:gd name="adj1" fmla="val 115773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71" name="AutoShape 28"/>
            <p:cNvSpPr/>
            <p:nvPr/>
          </p:nvSpPr>
          <p:spPr>
            <a:xfrm>
              <a:off x="4579" y="3333"/>
              <a:ext cx="47" cy="778"/>
            </a:xfrm>
            <a:prstGeom prst="rightBrace">
              <a:avLst>
                <a:gd name="adj1" fmla="val 137943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72" name="Text Box 29"/>
            <p:cNvSpPr txBox="1"/>
            <p:nvPr/>
          </p:nvSpPr>
          <p:spPr>
            <a:xfrm>
              <a:off x="2420" y="916"/>
              <a:ext cx="607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name</a:t>
              </a:r>
            </a:p>
          </p:txBody>
        </p:sp>
        <p:sp>
          <p:nvSpPr>
            <p:cNvPr id="10273" name="Text Box 30"/>
            <p:cNvSpPr txBox="1"/>
            <p:nvPr/>
          </p:nvSpPr>
          <p:spPr>
            <a:xfrm>
              <a:off x="2534" y="389"/>
              <a:ext cx="526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num</a:t>
              </a:r>
            </a:p>
          </p:txBody>
        </p:sp>
        <p:sp>
          <p:nvSpPr>
            <p:cNvPr id="10274" name="Text Box 31"/>
            <p:cNvSpPr txBox="1"/>
            <p:nvPr/>
          </p:nvSpPr>
          <p:spPr>
            <a:xfrm>
              <a:off x="2563" y="1360"/>
              <a:ext cx="433" cy="3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sex</a:t>
              </a:r>
            </a:p>
          </p:txBody>
        </p:sp>
        <p:sp>
          <p:nvSpPr>
            <p:cNvPr id="10275" name="Text Box 32"/>
            <p:cNvSpPr txBox="1"/>
            <p:nvPr/>
          </p:nvSpPr>
          <p:spPr>
            <a:xfrm>
              <a:off x="2579" y="1759"/>
              <a:ext cx="444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age</a:t>
              </a:r>
            </a:p>
          </p:txBody>
        </p:sp>
        <p:sp>
          <p:nvSpPr>
            <p:cNvPr id="10276" name="Text Box 33"/>
            <p:cNvSpPr txBox="1"/>
            <p:nvPr/>
          </p:nvSpPr>
          <p:spPr>
            <a:xfrm>
              <a:off x="2459" y="2581"/>
              <a:ext cx="596" cy="3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score</a:t>
              </a:r>
            </a:p>
          </p:txBody>
        </p:sp>
        <p:sp>
          <p:nvSpPr>
            <p:cNvPr id="10277" name="Text Box 34"/>
            <p:cNvSpPr txBox="1"/>
            <p:nvPr/>
          </p:nvSpPr>
          <p:spPr>
            <a:xfrm>
              <a:off x="2515" y="3516"/>
              <a:ext cx="525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addr</a:t>
              </a:r>
            </a:p>
          </p:txBody>
        </p:sp>
        <p:sp>
          <p:nvSpPr>
            <p:cNvPr id="10278" name="Text Box 35"/>
            <p:cNvSpPr txBox="1"/>
            <p:nvPr/>
          </p:nvSpPr>
          <p:spPr>
            <a:xfrm>
              <a:off x="4561" y="325"/>
              <a:ext cx="678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2</a:t>
              </a:r>
              <a:r>
                <a:rPr lang="zh-CN" altLang="zh-CN" sz="2000" dirty="0">
                  <a:ea typeface="宋体" panose="02010600030101010101" pitchFamily="2" charset="-122"/>
                </a:rPr>
                <a:t>字节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10279" name="Text Box 36"/>
            <p:cNvSpPr txBox="1"/>
            <p:nvPr/>
          </p:nvSpPr>
          <p:spPr>
            <a:xfrm>
              <a:off x="4571" y="1750"/>
              <a:ext cx="679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2</a:t>
              </a:r>
              <a:r>
                <a:rPr lang="zh-CN" altLang="zh-CN" sz="2000" dirty="0">
                  <a:ea typeface="宋体" panose="02010600030101010101" pitchFamily="2" charset="-122"/>
                </a:rPr>
                <a:t>字节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10280" name="Text Box 37"/>
            <p:cNvSpPr txBox="1"/>
            <p:nvPr/>
          </p:nvSpPr>
          <p:spPr>
            <a:xfrm>
              <a:off x="4552" y="949"/>
              <a:ext cx="783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20</a:t>
              </a:r>
              <a:r>
                <a:rPr lang="zh-CN" altLang="zh-CN" sz="2000" dirty="0">
                  <a:ea typeface="宋体" panose="02010600030101010101" pitchFamily="2" charset="-122"/>
                </a:rPr>
                <a:t>字节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10281" name="Text Box 38"/>
            <p:cNvSpPr txBox="1"/>
            <p:nvPr/>
          </p:nvSpPr>
          <p:spPr>
            <a:xfrm>
              <a:off x="4561" y="1327"/>
              <a:ext cx="678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1</a:t>
              </a:r>
              <a:r>
                <a:rPr lang="zh-CN" altLang="zh-CN" sz="2000" dirty="0">
                  <a:ea typeface="宋体" panose="02010600030101010101" pitchFamily="2" charset="-122"/>
                </a:rPr>
                <a:t>字节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10282" name="Text Box 39"/>
            <p:cNvSpPr txBox="1"/>
            <p:nvPr/>
          </p:nvSpPr>
          <p:spPr>
            <a:xfrm>
              <a:off x="4561" y="2560"/>
              <a:ext cx="678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4</a:t>
              </a:r>
              <a:r>
                <a:rPr lang="zh-CN" altLang="zh-CN" sz="2000" dirty="0">
                  <a:ea typeface="宋体" panose="02010600030101010101" pitchFamily="2" charset="-122"/>
                </a:rPr>
                <a:t>字节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10283" name="Text Box 40"/>
            <p:cNvSpPr txBox="1"/>
            <p:nvPr/>
          </p:nvSpPr>
          <p:spPr>
            <a:xfrm>
              <a:off x="4552" y="3516"/>
              <a:ext cx="783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30</a:t>
              </a:r>
              <a:r>
                <a:rPr lang="zh-CN" altLang="zh-CN" sz="2000" dirty="0">
                  <a:ea typeface="宋体" panose="02010600030101010101" pitchFamily="2" charset="-122"/>
                </a:rPr>
                <a:t>字节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10284" name="Text Box 41"/>
            <p:cNvSpPr txBox="1"/>
            <p:nvPr/>
          </p:nvSpPr>
          <p:spPr>
            <a:xfrm>
              <a:off x="3561" y="871"/>
              <a:ext cx="657" cy="45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 dirty="0">
                  <a:ea typeface="宋体" panose="02010600030101010101" pitchFamily="2" charset="-122"/>
                </a:rPr>
                <a:t>…</a:t>
              </a:r>
            </a:p>
          </p:txBody>
        </p:sp>
        <p:sp>
          <p:nvSpPr>
            <p:cNvPr id="10285" name="Text Box 42"/>
            <p:cNvSpPr txBox="1"/>
            <p:nvPr/>
          </p:nvSpPr>
          <p:spPr>
            <a:xfrm>
              <a:off x="3594" y="3280"/>
              <a:ext cx="657" cy="84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 dirty="0">
                  <a:ea typeface="宋体" panose="02010600030101010101" pitchFamily="2" charset="-122"/>
                </a:rPr>
                <a:t>…..</a:t>
              </a:r>
            </a:p>
          </p:txBody>
        </p:sp>
      </p:grpSp>
      <p:sp>
        <p:nvSpPr>
          <p:cNvPr id="195627" name="AutoShape 43"/>
          <p:cNvSpPr/>
          <p:nvPr/>
        </p:nvSpPr>
        <p:spPr>
          <a:xfrm>
            <a:off x="4967288" y="4765675"/>
            <a:ext cx="3571875" cy="860425"/>
          </a:xfrm>
          <a:prstGeom prst="wedgeRectCallout">
            <a:avLst>
              <a:gd name="adj1" fmla="val -69065"/>
              <a:gd name="adj2" fmla="val -104426"/>
            </a:avLst>
          </a:prstGeom>
          <a:solidFill>
            <a:schemeClr val="bg1"/>
          </a:solidFill>
          <a:ln w="38100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隶书" panose="02010509060101010101" pitchFamily="49" charset="-122"/>
              </a:rPr>
              <a:t>结构体类型定义描述结构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隶书" panose="02010509060101010101" pitchFamily="49" charset="-122"/>
              </a:rPr>
              <a:t>的组织形式</a:t>
            </a:r>
            <a:r>
              <a:rPr lang="en-US" altLang="zh-CN" sz="2400" dirty="0">
                <a:ea typeface="隶书" panose="02010509060101010101" pitchFamily="49" charset="-122"/>
              </a:rPr>
              <a:t>,</a:t>
            </a:r>
            <a:r>
              <a:rPr lang="zh-CN" altLang="en-US" sz="2400" dirty="0">
                <a:solidFill>
                  <a:schemeClr val="accent2"/>
                </a:solidFill>
                <a:ea typeface="隶书" panose="02010509060101010101" pitchFamily="49" charset="-122"/>
              </a:rPr>
              <a:t>不分配内存</a:t>
            </a:r>
            <a:endParaRPr lang="zh-CN" altLang="en-US" sz="2400" dirty="0">
              <a:ea typeface="隶书" panose="02010509060101010101" pitchFamily="49" charset="-122"/>
            </a:endParaRPr>
          </a:p>
        </p:txBody>
      </p:sp>
      <p:sp>
        <p:nvSpPr>
          <p:cNvPr id="195628" name="AutoShape 44"/>
          <p:cNvSpPr/>
          <p:nvPr/>
        </p:nvSpPr>
        <p:spPr>
          <a:xfrm>
            <a:off x="900113" y="5589588"/>
            <a:ext cx="3571875" cy="495300"/>
          </a:xfrm>
          <a:prstGeom prst="wedgeRectCallout">
            <a:avLst>
              <a:gd name="adj1" fmla="val -24398"/>
              <a:gd name="adj2" fmla="val -220833"/>
            </a:avLst>
          </a:prstGeom>
          <a:solidFill>
            <a:schemeClr val="bg1"/>
          </a:solidFill>
          <a:ln w="38100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隶书" panose="02010509060101010101" pitchFamily="49" charset="-122"/>
              </a:rPr>
              <a:t>结构体类型定义的</a:t>
            </a:r>
            <a:r>
              <a:rPr lang="zh-CN" altLang="en-US" sz="2400" dirty="0">
                <a:solidFill>
                  <a:srgbClr val="FF9900"/>
                </a:solidFill>
                <a:ea typeface="隶书" panose="02010509060101010101" pitchFamily="49" charset="-122"/>
              </a:rPr>
              <a:t>作用域</a:t>
            </a:r>
            <a:endParaRPr lang="zh-CN" altLang="en-US" sz="2400" dirty="0">
              <a:ea typeface="隶书" panose="02010509060101010101" pitchFamily="49" charset="-122"/>
            </a:endParaRPr>
          </a:p>
        </p:txBody>
      </p:sp>
      <p:sp>
        <p:nvSpPr>
          <p:cNvPr id="43" name="日期占位符 42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D0913E-A58C-4FAB-9AC3-1B919E610F2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2295" name="灯片编号占位符 43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1B5630-3108-42A4-B3AF-6A2202E05CC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1116013" y="1052513"/>
            <a:ext cx="53276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3.5.1 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结构体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类型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定义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5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5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5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5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 animBg="1"/>
      <p:bldP spid="195627" grpId="0" animBg="1"/>
      <p:bldP spid="1956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结构体类型定义的说明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755650" y="1564484"/>
            <a:ext cx="8128000" cy="4392613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定义了一种类型</a:t>
            </a:r>
            <a:r>
              <a:rPr lang="zh-CN" altLang="en-US" sz="22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，而不是定义变量</a:t>
            </a:r>
            <a:endParaRPr lang="en-US" altLang="zh-CN" sz="22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en-US" altLang="zh-CN" sz="22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22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</a:t>
            </a:r>
            <a:r>
              <a:rPr lang="zh-CN" altLang="en-US" sz="22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类型可以是另一结构体类型，但</a:t>
            </a:r>
            <a:r>
              <a:rPr lang="zh-CN" altLang="en-US" sz="2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不可直接或间接递归嵌套</a:t>
            </a:r>
          </a:p>
          <a:p>
            <a:pPr eaLnBrk="1" hangingPunct="1"/>
            <a:endParaRPr lang="en-US" altLang="zh-CN" sz="22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22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成员表列不可为空，至少要有一个</a:t>
            </a:r>
            <a:r>
              <a:rPr lang="zh-CN" altLang="en-US" sz="22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</a:t>
            </a:r>
            <a:endParaRPr lang="en-US" altLang="zh-CN" sz="2200" b="1" dirty="0" smtClean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en-US" altLang="zh-CN" sz="22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eaLnBrk="1" hangingPunct="1"/>
            <a:r>
              <a:rPr lang="zh-CN" altLang="en-US" sz="2200" b="1" dirty="0">
                <a:solidFill>
                  <a:srgbClr val="33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</a:t>
            </a:r>
            <a:r>
              <a:rPr lang="en-US" altLang="zh-CN" sz="2200" b="1" dirty="0">
                <a:solidFill>
                  <a:srgbClr val="33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{}</a:t>
            </a:r>
            <a:r>
              <a:rPr lang="zh-CN" altLang="en-US" sz="2200" b="1" dirty="0">
                <a:solidFill>
                  <a:srgbClr val="33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不表示复合语句，其后有分号</a:t>
            </a:r>
          </a:p>
          <a:p>
            <a:pPr lvl="0" eaLnBrk="1" hangingPunct="1"/>
            <a:endParaRPr lang="en-US" altLang="zh-CN" sz="2200" b="1" dirty="0" smtClean="0">
              <a:solidFill>
                <a:srgbClr val="33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eaLnBrk="1" hangingPunct="1"/>
            <a:r>
              <a:rPr lang="zh-CN" altLang="en-US" sz="2200" b="1" dirty="0" smtClean="0">
                <a:solidFill>
                  <a:srgbClr val="33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</a:t>
            </a:r>
            <a:r>
              <a:rPr lang="zh-CN" altLang="en-US" sz="2200" b="1" dirty="0">
                <a:solidFill>
                  <a:srgbClr val="33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一结构体的成员不能</a:t>
            </a:r>
            <a:r>
              <a:rPr lang="zh-CN" altLang="en-US" sz="2200" b="1" dirty="0" smtClean="0">
                <a:solidFill>
                  <a:srgbClr val="33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重名</a:t>
            </a:r>
            <a:endParaRPr lang="en-US" altLang="zh-CN" sz="2200" b="1" dirty="0" smtClean="0">
              <a:solidFill>
                <a:srgbClr val="33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eaLnBrk="1" hangingPunct="1"/>
            <a:endParaRPr lang="en-US" altLang="zh-CN" sz="2200" b="1" dirty="0">
              <a:solidFill>
                <a:srgbClr val="33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eaLnBrk="1" hangingPunct="1">
              <a:defRPr/>
            </a:pPr>
            <a:r>
              <a:rPr lang="zh-CN" altLang="en-US" sz="2200" b="1" dirty="0">
                <a:solidFill>
                  <a:srgbClr val="33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结构体类型与其成员或其变量可重名</a:t>
            </a:r>
          </a:p>
          <a:p>
            <a:pPr lvl="1" eaLnBrk="1" hangingPunct="1">
              <a:defRPr/>
            </a:pPr>
            <a:r>
              <a:rPr lang="en-US" altLang="zh-CN" sz="2200" b="1" dirty="0" err="1">
                <a:solidFill>
                  <a:srgbClr val="333399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struct</a:t>
            </a:r>
            <a:r>
              <a:rPr lang="en-US" altLang="zh-CN" sz="2200" b="1" dirty="0">
                <a:solidFill>
                  <a:srgbClr val="333399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test { </a:t>
            </a:r>
            <a:r>
              <a:rPr lang="en-US" altLang="zh-CN" sz="2200" b="1" dirty="0" err="1">
                <a:solidFill>
                  <a:srgbClr val="333399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int</a:t>
            </a:r>
            <a:r>
              <a:rPr lang="en-US" altLang="zh-CN" sz="2200" b="1" dirty="0">
                <a:solidFill>
                  <a:srgbClr val="333399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test; } test;</a:t>
            </a:r>
            <a:endParaRPr lang="zh-CN" altLang="en-US" sz="2200" b="1" dirty="0">
              <a:solidFill>
                <a:srgbClr val="333399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 eaLnBrk="1" hangingPunct="1"/>
            <a:endParaRPr lang="zh-CN" altLang="en-US" sz="2200" b="1" dirty="0">
              <a:solidFill>
                <a:srgbClr val="33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zh-CN" altLang="en-US" sz="22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3149BB-D42B-402A-BE8B-EFEEB85B319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3317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C785EF-13CB-4D7E-A280-221FA99A8CD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1200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结构体类型定义的说明 </a:t>
            </a:r>
            <a:r>
              <a:rPr lang="en-US" altLang="zh-CN" sz="2800" b="1" kern="120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endParaRPr lang="en-US" altLang="zh-CN" sz="2800" b="1" kern="120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1773935"/>
            <a:ext cx="7839075" cy="4392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结构体类型名称是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struct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结构体名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struct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关键字不能省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即使两个结构体定义中的成员类型、名称、顺序都完全一致，它们也是不同的类型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类型也要“先定义，后使用”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结构体类型定义在函数内部，则该函数之外无法引用此结构体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类型，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一般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把结构体类型定义放到文件最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前面，也可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以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把结构体类型定义放在头文件里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9D1DC2-38C7-4EE7-89EA-C6B5B89E133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5365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94B265-5B55-4FDA-86E4-33BD52D96DE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836613"/>
            <a:ext cx="4702175" cy="7191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结构体类型的定义举例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827088" y="1484313"/>
            <a:ext cx="7848600" cy="4824413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42000" tIns="154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student {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unsigned num;       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学号</a:t>
            </a:r>
            <a:r>
              <a:rPr kumimoji="0" lang="zh-CN" alt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*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name[20];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姓名 *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sex;         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性别 *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unsigned age;         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年龄 *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float         score;      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分数 *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addr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[50];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地址 *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};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B1F38-B0B8-4EF8-9644-B04E1DD4EA2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6389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9FA352-0133-4B1D-9D3B-1977517306B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980728"/>
            <a:ext cx="4464099" cy="57661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3.5.2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结构体变量的定义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772816"/>
            <a:ext cx="8229600" cy="6334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(1)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先定义结构体类型再定义变量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823913" y="2276476"/>
            <a:ext cx="7848600" cy="4032250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42000" tIns="46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student {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unsigned     num;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name[20];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sex;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unsigned     age;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float             score;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addr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[50];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};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student stu1, stu2;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B364D8-C791-4422-956A-9F11AE0C3F7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41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1791D-CD67-4069-9301-A82EF4A6AEB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81125" y="1783256"/>
            <a:ext cx="7839075" cy="5032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在定义结构体类型的同时定义变量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971600" y="2276872"/>
            <a:ext cx="7848600" cy="4032250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42000" tIns="46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student {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unsigned     num;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name[20];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sex;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unsigned     age;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float             score;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addr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[50];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} stu1, stu2;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0DCB97-3FDC-451C-BE88-226DDF48A10B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843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7E080E-834E-4E52-8C71-C31121257A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8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980728"/>
            <a:ext cx="4464099" cy="57661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3.5.2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结构体变量的定义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439" y="1772047"/>
            <a:ext cx="7827963" cy="5048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(3)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直接定义无名结构类型变量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899592" y="2276872"/>
            <a:ext cx="7848600" cy="4032250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42000" tIns="46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{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unsigned      num;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 name[20];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 sex;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unsigned      age;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float              score;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addr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[50];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} stu1, stu2;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AB781E-1516-435B-970E-D9DB52479CC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946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8D632A-7E8A-4019-867C-FD03023654C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9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16013" y="980728"/>
            <a:ext cx="4464099" cy="5766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3.5.2 </a:t>
            </a:r>
            <a:r>
              <a:rPr lang="zh-CN" altLang="en-US" sz="28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结构体变量的定义</a:t>
            </a:r>
            <a:endParaRPr lang="en-US" altLang="zh-CN" sz="2800" b="1" kern="0" dirty="0" smtClean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980728"/>
            <a:ext cx="5832251" cy="57661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3.5.3 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结构体定义和变量定义举例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827088" y="1557338"/>
            <a:ext cx="7848600" cy="4751388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42000" tIns="46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date {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int     year, month, day;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};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student{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unsigned      num;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 name[20];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char              sex;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date   birthday;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float              score;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} stu1, stu2;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517E9C-90A3-4B4C-B6A5-9932B26FDBC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0485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960E75-ECB5-4711-B6B3-0336B2E5B49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10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956156" y="1844055"/>
            <a:ext cx="7839075" cy="5048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按照成员的顺序和类型对成员初始化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777250" y="2348880"/>
            <a:ext cx="7848600" cy="4032250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62000" tIns="154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date date1 = {2004, 10, 20};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student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= {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1001,              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/*unsigned num*/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"Tom",	   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/*char name[20]*/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'M',                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/*char sex*/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{2004, 9, 20}, 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/*struct date birthday*/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93.5                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/*float score*/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};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069F85-5C2D-4FA3-96ED-8E9701032A3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151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883DFE-D060-4EDA-A830-CCD7D1CB11C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980728"/>
            <a:ext cx="5832251" cy="57661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3.5.3 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结构体定义和变量定义举例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3.5.4 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结构体变量中成员的引用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一般形式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结构体变量名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成员名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成员运算符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具有最高的优先级，自左向右结合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说明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结构体成员和同类型的变量用法相同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若成员类型又是一个结构体，则可以使用若干个成员运算符，访问最低一级的成员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F7DB92-9A86-459C-BB4A-37DC17E06A2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2533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F7322-46A3-49C7-AACD-2B3119ADE95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12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1700808"/>
            <a:ext cx="5544219" cy="57661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 结构体变量中成员的引用举例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899592" y="2446338"/>
            <a:ext cx="7848600" cy="4248150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42000" tIns="154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student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... ...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("%f", &amp;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stu.score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stu.num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= 12345;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stu.birthday.month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= 11;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stu.score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sqrt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stu.score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) * 10;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strcpy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(stu.name, "Mike");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printf("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No.%d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:",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stu.num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);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174B25-9B2F-49C7-9D0F-009E039D66CB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3557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FDEFB0-5ED6-4C59-ACC1-E611CC89069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16013" y="620713"/>
            <a:ext cx="7827963" cy="93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 kern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3.5.4 </a:t>
            </a:r>
            <a:r>
              <a:rPr lang="zh-CN" altLang="en-US" sz="2800" b="1" kern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结构体变量中成员的引用</a:t>
            </a:r>
            <a:endParaRPr lang="zh-CN" altLang="en-US" sz="28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1824097"/>
            <a:ext cx="4032051" cy="504602"/>
          </a:xfrm>
        </p:spPr>
        <p:txBody>
          <a:bodyPr vert="horz" wrap="square" lIns="91440" tIns="45720" rIns="91440" bIns="45720" numCol="1" anchor="b" anchorCtr="0" compatLnSpc="1"/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）结构体变量整体引用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71600" y="2460059"/>
            <a:ext cx="7839075" cy="399327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结构体类型变量之间可以直接相互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赋值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实质上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是两个结构体变量相应的存储空间中的所有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   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据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直接拷贝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的实参和形参可以是结构体类型，并且遵循实参到形参的单向值传递规则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为了提高程序的效率，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函数的参数多使用结构体类型指针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AC445D-02F5-479E-87CD-9E43FAAF7FB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4581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ECEF2-C2C4-4D9F-B709-CE1449CD7E0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14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16013" y="620713"/>
            <a:ext cx="7827963" cy="93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 kern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3.5.4 </a:t>
            </a:r>
            <a:r>
              <a:rPr lang="zh-CN" altLang="en-US" sz="2800" b="1" kern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结构体变量中成员的引用</a:t>
            </a:r>
            <a:endParaRPr lang="zh-CN" altLang="en-US" sz="28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48585" y="1628800"/>
            <a:ext cx="4464099" cy="504602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结构体变量整体引用举例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827584" y="2058174"/>
            <a:ext cx="7848600" cy="4751388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62000" tIns="46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student stu1, stu2={1002, "Kate", 'F',{2004, 11, 4}, 89.0};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void print(struct student s)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printf("%d,%4s,%c,%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d,%02d,%02d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,%4.1f\n",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s.num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 s.name, </a:t>
            </a:r>
            <a:r>
              <a:rPr kumimoji="0" lang="en-US" altLang="zh-CN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s.sex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s.birthday.year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s.birthday.month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s.birthday.day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s.score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int main (){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stu1 = stu2;         </a:t>
            </a:r>
            <a:r>
              <a:rPr kumimoji="0" lang="en-US" altLang="zh-CN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直接赋值 *</a:t>
            </a:r>
            <a:r>
              <a:rPr kumimoji="0" lang="en-US" altLang="zh-CN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print(stu1);   </a:t>
            </a:r>
            <a:r>
              <a:rPr kumimoji="0" lang="en-US" altLang="zh-CN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nb-NO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1002,Kate,F,</a:t>
            </a:r>
            <a:r>
              <a:rPr kumimoji="0" lang="en-US" altLang="zh-CN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2004</a:t>
            </a:r>
            <a:r>
              <a:rPr kumimoji="0" lang="zh-CN" altLang="nb-NO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.11.04,89.0</a:t>
            </a:r>
            <a:r>
              <a:rPr kumimoji="0" lang="en-US" altLang="zh-CN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*/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return 0;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031BE2-1DF1-4DDF-8CA0-FFF6634E90C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5605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72E9D-2124-472E-ADB8-218A059261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16013" y="620713"/>
            <a:ext cx="7827963" cy="93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 kern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3.5.4 </a:t>
            </a:r>
            <a:r>
              <a:rPr lang="zh-CN" altLang="en-US" sz="2800" b="1" kern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结构体变量中成员的引用</a:t>
            </a:r>
            <a:endParaRPr lang="zh-CN" altLang="en-US" sz="28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3.5.5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结构体数组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101725" y="1557338"/>
            <a:ext cx="7839075" cy="4392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结构体数组的用法与基本类型数组类似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定义、初始化、引用等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结构体数组可用于表示二维表格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举例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971550" y="3573463"/>
            <a:ext cx="7848600" cy="2447925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62000" tIns="46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student s[10];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for (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=0;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&lt;10;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scanf("%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d,%s,%c,%d,%f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", &amp;s[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].num, s[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].name,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          &amp;s[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sex,&amp;s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].age, &amp;s[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].score);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04F876-1D6A-426F-8AB7-9E3C1F82736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663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75CB27-E0A7-4895-AD65-F52D7D9D27D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16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3.5.6 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结构体数组初始化及应用举例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900113" y="1628775"/>
            <a:ext cx="7848600" cy="4751388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62000" tIns="46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student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[] = {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{1001,"Tom",'M',{2003,1,2},85.5},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{1002,"Kate",'F',{2004,11,4},89.0},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{1003,"Mike",'M',{2003,3,5},95.5}};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for (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=0;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&lt;3;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printf("%d,%4s,%c,%d.%02d.%02d,%4.1f\n",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].num,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].name,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].sex,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birthday.year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birthday.month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birthday.day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stu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].score);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67F3E1-9E63-498A-A5AD-629FD582DF1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7653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FFC360-3408-46BA-A598-1817AA0595B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17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3.5.7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结构体数组与二维表</a:t>
            </a:r>
          </a:p>
        </p:txBody>
      </p:sp>
      <p:graphicFrame>
        <p:nvGraphicFramePr>
          <p:cNvPr id="213089" name="Group 97"/>
          <p:cNvGraphicFramePr>
            <a:graphicFrameLocks noGrp="1"/>
          </p:cNvGraphicFramePr>
          <p:nvPr/>
        </p:nvGraphicFramePr>
        <p:xfrm>
          <a:off x="1116013" y="2636838"/>
          <a:ext cx="7488237" cy="2987677"/>
        </p:xfrm>
        <a:graphic>
          <a:graphicData uri="http://schemas.openxmlformats.org/drawingml/2006/table">
            <a:tbl>
              <a:tblPr/>
              <a:tblGrid>
                <a:gridCol w="919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8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6811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num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name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sex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birthday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score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81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year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month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day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81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s[0]</a:t>
                      </a:r>
                    </a:p>
                  </a:txBody>
                  <a:tcPr marT="45730" marB="4573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Tom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2003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85.5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81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s[1]</a:t>
                      </a:r>
                    </a:p>
                  </a:txBody>
                  <a:tcPr marT="45730" marB="4573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1002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Kate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2004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89.0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81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s[2]</a:t>
                      </a:r>
                    </a:p>
                  </a:txBody>
                  <a:tcPr marT="45730" marB="4573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1003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Mike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2003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95.5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81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s[3]</a:t>
                      </a:r>
                    </a:p>
                  </a:txBody>
                  <a:tcPr marT="45730" marB="4573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1004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John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2004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73.0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81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s[4]</a:t>
                      </a:r>
                    </a:p>
                  </a:txBody>
                  <a:tcPr marT="45730" marB="4573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1005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Lily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2004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81.0</a:t>
                      </a:r>
                    </a:p>
                  </a:txBody>
                  <a:tcPr marT="45730" marB="4573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621" name="Text Box 92"/>
          <p:cNvSpPr txBox="1">
            <a:spLocks noChangeArrowheads="1"/>
          </p:cNvSpPr>
          <p:nvPr/>
        </p:nvSpPr>
        <p:spPr bwMode="auto">
          <a:xfrm>
            <a:off x="665163" y="1555750"/>
            <a:ext cx="4438650" cy="5191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struct student s[5];</a:t>
            </a:r>
          </a:p>
        </p:txBody>
      </p:sp>
      <p:sp>
        <p:nvSpPr>
          <p:cNvPr id="23622" name="Line 93"/>
          <p:cNvSpPr/>
          <p:nvPr/>
        </p:nvSpPr>
        <p:spPr>
          <a:xfrm>
            <a:off x="1042988" y="2133600"/>
            <a:ext cx="0" cy="381635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stealth" w="lg" len="lg"/>
          </a:ln>
          <a:effectLst>
            <a:outerShdw dist="35921" dir="2699999" algn="ctr" rotWithShape="0">
              <a:schemeClr val="tx1"/>
            </a:outerShdw>
          </a:effectLst>
        </p:spPr>
      </p:sp>
      <p:sp>
        <p:nvSpPr>
          <p:cNvPr id="23623" name="Line 94"/>
          <p:cNvSpPr/>
          <p:nvPr/>
        </p:nvSpPr>
        <p:spPr>
          <a:xfrm>
            <a:off x="755650" y="2420938"/>
            <a:ext cx="8064500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stealth" w="lg" len="lg"/>
          </a:ln>
          <a:effectLst>
            <a:outerShdw dist="35921" dir="2699999" algn="ctr" rotWithShape="0">
              <a:schemeClr val="tx1"/>
            </a:outerShdw>
          </a:effectLst>
        </p:spPr>
      </p:sp>
      <p:sp>
        <p:nvSpPr>
          <p:cNvPr id="23624" name="Text Box 95"/>
          <p:cNvSpPr txBox="1">
            <a:spLocks noChangeArrowheads="1"/>
          </p:cNvSpPr>
          <p:nvPr/>
        </p:nvSpPr>
        <p:spPr bwMode="auto">
          <a:xfrm>
            <a:off x="7524750" y="1844675"/>
            <a:ext cx="1103313" cy="4572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结构体</a:t>
            </a:r>
          </a:p>
        </p:txBody>
      </p:sp>
      <p:sp>
        <p:nvSpPr>
          <p:cNvPr id="23625" name="Text Box 96"/>
          <p:cNvSpPr txBox="1">
            <a:spLocks noChangeArrowheads="1"/>
          </p:cNvSpPr>
          <p:nvPr/>
        </p:nvSpPr>
        <p:spPr bwMode="auto">
          <a:xfrm>
            <a:off x="390525" y="4343400"/>
            <a:ext cx="554038" cy="13049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eaVert"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一维数组</a:t>
            </a:r>
          </a:p>
        </p:txBody>
      </p:sp>
      <p:sp>
        <p:nvSpPr>
          <p:cNvPr id="9" name="日期占位符 8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67FCFC-60B6-45DD-A019-98DE398F7C2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2025/10/28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8747" name="灯片编号占位符 9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0C4176-91C5-47F4-A1C9-07E3DDAD0F9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18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621" grpId="0" animBg="1"/>
      <p:bldP spid="23624" grpId="0" animBg="1"/>
      <p:bldP spid="2362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1858659-6b35-4a83-ad40-2e5863aefdc9"/>
  <p:tag name="COMMONDATA" val="eyJoZGlkIjoiMzYwNWMxMzU3NTUzYWE3ZDZmYWY2YjI0ZGFhMDViN2E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1215</Words>
  <Application>Microsoft Office PowerPoint</Application>
  <PresentationFormat>全屏显示(4:3)</PresentationFormat>
  <Paragraphs>287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方正姚体</vt:lpstr>
      <vt:lpstr>仿宋</vt:lpstr>
      <vt:lpstr>华文隶书</vt:lpstr>
      <vt:lpstr>华文新魏</vt:lpstr>
      <vt:lpstr>华文行楷</vt:lpstr>
      <vt:lpstr>楷体</vt:lpstr>
      <vt:lpstr>楷体_GB2312</vt:lpstr>
      <vt:lpstr>隶书</vt:lpstr>
      <vt:lpstr>宋体</vt:lpstr>
      <vt:lpstr>Arial</vt:lpstr>
      <vt:lpstr>Courier New</vt:lpstr>
      <vt:lpstr>Garamond</vt:lpstr>
      <vt:lpstr>Tahoma</vt:lpstr>
      <vt:lpstr>Times New Roman</vt:lpstr>
      <vt:lpstr>Wingdings</vt:lpstr>
      <vt:lpstr>Blends</vt:lpstr>
      <vt:lpstr>3.5 结构体概述</vt:lpstr>
      <vt:lpstr>PowerPoint 演示文稿</vt:lpstr>
      <vt:lpstr>PowerPoint 演示文稿</vt:lpstr>
      <vt:lpstr>结构体类型定义的说明 (1)</vt:lpstr>
      <vt:lpstr>结构体类型定义的说明 (2)</vt:lpstr>
      <vt:lpstr>结构体类型的定义举例</vt:lpstr>
      <vt:lpstr>3.5.2 结构体变量的定义</vt:lpstr>
      <vt:lpstr>3.5.2 结构体变量的定义</vt:lpstr>
      <vt:lpstr>(3)直接定义无名结构类型变量</vt:lpstr>
      <vt:lpstr>3.5.3 结构体定义和变量定义举例</vt:lpstr>
      <vt:lpstr>3.5.3 结构体定义和变量定义举例</vt:lpstr>
      <vt:lpstr>3.5.4 结构体变量中成员的引用</vt:lpstr>
      <vt:lpstr>（1） 结构体变量中成员的引用举例</vt:lpstr>
      <vt:lpstr>（2）结构体变量整体引用</vt:lpstr>
      <vt:lpstr>（3）结构体变量整体引用举例</vt:lpstr>
      <vt:lpstr>3.5.5 结构体数组</vt:lpstr>
      <vt:lpstr>3.5.6 结构体数组初始化及应用举例</vt:lpstr>
      <vt:lpstr>3.5.7 结构体数组与二维表</vt:lpstr>
    </vt:vector>
  </TitlesOfParts>
  <Company>ustc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zhengzhong</dc:creator>
  <cp:lastModifiedBy>zheng</cp:lastModifiedBy>
  <cp:revision>1108</cp:revision>
  <dcterms:created xsi:type="dcterms:W3CDTF">2003-08-26T10:11:20Z</dcterms:created>
  <dcterms:modified xsi:type="dcterms:W3CDTF">2025-10-28T14:08:49Z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54B0B14DC04442C3872BDE1FB5992367_12</vt:lpwstr>
  </property>
  <property fmtid="{D5CDD505-2E9C-101B-9397-08002B2CF9AE}" pid="3" name="KSOProductBuildVer">
    <vt:lpwstr>2052-11.1.0.14309</vt:lpwstr>
  </property>
</Properties>
</file>