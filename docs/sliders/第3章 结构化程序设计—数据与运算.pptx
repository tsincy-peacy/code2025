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4"/>
  </p:notesMasterIdLst>
  <p:handoutMasterIdLst>
    <p:handoutMasterId r:id="rId75"/>
  </p:handoutMasterIdLst>
  <p:sldIdLst>
    <p:sldId id="477" r:id="rId2"/>
    <p:sldId id="507" r:id="rId3"/>
    <p:sldId id="508" r:id="rId4"/>
    <p:sldId id="509" r:id="rId5"/>
    <p:sldId id="510" r:id="rId6"/>
    <p:sldId id="511" r:id="rId7"/>
    <p:sldId id="512" r:id="rId8"/>
    <p:sldId id="513" r:id="rId9"/>
    <p:sldId id="514" r:id="rId10"/>
    <p:sldId id="515" r:id="rId11"/>
    <p:sldId id="516" r:id="rId12"/>
    <p:sldId id="517" r:id="rId13"/>
    <p:sldId id="518" r:id="rId14"/>
    <p:sldId id="519" r:id="rId15"/>
    <p:sldId id="576" r:id="rId16"/>
    <p:sldId id="550" r:id="rId17"/>
    <p:sldId id="551" r:id="rId18"/>
    <p:sldId id="520" r:id="rId19"/>
    <p:sldId id="521" r:id="rId20"/>
    <p:sldId id="522" r:id="rId21"/>
    <p:sldId id="523" r:id="rId22"/>
    <p:sldId id="552" r:id="rId23"/>
    <p:sldId id="526" r:id="rId24"/>
    <p:sldId id="527" r:id="rId25"/>
    <p:sldId id="528" r:id="rId26"/>
    <p:sldId id="529" r:id="rId27"/>
    <p:sldId id="530" r:id="rId28"/>
    <p:sldId id="531" r:id="rId29"/>
    <p:sldId id="532" r:id="rId30"/>
    <p:sldId id="533" r:id="rId31"/>
    <p:sldId id="534" r:id="rId32"/>
    <p:sldId id="535" r:id="rId33"/>
    <p:sldId id="536" r:id="rId34"/>
    <p:sldId id="579" r:id="rId35"/>
    <p:sldId id="537" r:id="rId36"/>
    <p:sldId id="538" r:id="rId37"/>
    <p:sldId id="577" r:id="rId38"/>
    <p:sldId id="578" r:id="rId39"/>
    <p:sldId id="539" r:id="rId40"/>
    <p:sldId id="540" r:id="rId41"/>
    <p:sldId id="541" r:id="rId42"/>
    <p:sldId id="542" r:id="rId43"/>
    <p:sldId id="543" r:id="rId44"/>
    <p:sldId id="544" r:id="rId45"/>
    <p:sldId id="545" r:id="rId46"/>
    <p:sldId id="546" r:id="rId47"/>
    <p:sldId id="547" r:id="rId48"/>
    <p:sldId id="548" r:id="rId49"/>
    <p:sldId id="553" r:id="rId50"/>
    <p:sldId id="554" r:id="rId51"/>
    <p:sldId id="555" r:id="rId52"/>
    <p:sldId id="556" r:id="rId53"/>
    <p:sldId id="557" r:id="rId54"/>
    <p:sldId id="558" r:id="rId55"/>
    <p:sldId id="559" r:id="rId56"/>
    <p:sldId id="560" r:id="rId57"/>
    <p:sldId id="561" r:id="rId58"/>
    <p:sldId id="562" r:id="rId59"/>
    <p:sldId id="563" r:id="rId60"/>
    <p:sldId id="549" r:id="rId61"/>
    <p:sldId id="564" r:id="rId62"/>
    <p:sldId id="565" r:id="rId63"/>
    <p:sldId id="566" r:id="rId64"/>
    <p:sldId id="567" r:id="rId65"/>
    <p:sldId id="568" r:id="rId66"/>
    <p:sldId id="569" r:id="rId67"/>
    <p:sldId id="570" r:id="rId68"/>
    <p:sldId id="571" r:id="rId69"/>
    <p:sldId id="572" r:id="rId70"/>
    <p:sldId id="573" r:id="rId71"/>
    <p:sldId id="574" r:id="rId72"/>
    <p:sldId id="575" r:id="rId73"/>
  </p:sldIdLst>
  <p:sldSz cx="9144000" cy="6858000" type="screen4x3"/>
  <p:notesSz cx="6858000" cy="9144000"/>
  <p:custDataLst>
    <p:tags r:id="rId76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6600CC"/>
    <a:srgbClr val="993366"/>
    <a:srgbClr val="336600"/>
    <a:srgbClr val="333333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0"/>
    <p:restoredTop sz="94585"/>
  </p:normalViewPr>
  <p:slideViewPr>
    <p:cSldViewPr showGuides="1">
      <p:cViewPr varScale="1">
        <p:scale>
          <a:sx n="115" d="100"/>
          <a:sy n="115" d="100"/>
        </p:scale>
        <p:origin x="148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gs" Target="tags/tag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B665AFB-6B15-4A34-96F4-02AAB3F4CD5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2025/9/24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7D831E-51ED-4F8F-B87C-2F303069BD7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21A337A-C9F1-4247-9999-DFB3F7B551C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Arial" panose="020B0604020202020204" pitchFamily="34" charset="0"/>
              </a:rPr>
              <a:t>36</a:t>
            </a:fld>
            <a:endParaRPr lang="zh-CN" altLang="en-US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0904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smtClean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0FDC08A-2D86-44B6-B8D1-C454FE75D20C}" type="slidenum">
              <a:rPr lang="zh-CN" altLang="en-US" smtClean="0">
                <a:latin typeface="Arial" panose="020B0604020202020204" pitchFamily="34" charset="0"/>
              </a:rPr>
              <a:pPr/>
              <a:t>61</a:t>
            </a:fld>
            <a:endParaRPr lang="zh-CN" altLang="en-US" smtClean="0">
              <a:latin typeface="Arial" panose="020B0604020202020204" pitchFamily="34" charset="0"/>
            </a:endParaRPr>
          </a:p>
        </p:txBody>
      </p:sp>
      <p:sp>
        <p:nvSpPr>
          <p:cNvPr id="7173" name="日期占位符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59C97CC-35E5-49C2-8A13-DF718D24401E}" type="datetime1">
              <a:rPr lang="zh-CN" altLang="en-US" smtClean="0">
                <a:latin typeface="Arial" panose="020B0604020202020204" pitchFamily="34" charset="0"/>
              </a:rPr>
              <a:pPr/>
              <a:t>2025/9/24</a:t>
            </a:fld>
            <a:endParaRPr lang="zh-CN" altLang="en-US" smtClean="0">
              <a:latin typeface="Arial" panose="020B0604020202020204" pitchFamily="34" charset="0"/>
            </a:endParaRPr>
          </a:p>
        </p:txBody>
      </p:sp>
      <p:sp>
        <p:nvSpPr>
          <p:cNvPr id="7174" name="页脚占位符 5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593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1814513"/>
            <a:ext cx="9009063" cy="1052512"/>
            <a:chOff x="0" y="1536"/>
            <a:chExt cx="5675" cy="663"/>
          </a:xfrm>
        </p:grpSpPr>
        <p:grpSp>
          <p:nvGrpSpPr>
            <p:cNvPr id="2055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3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6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1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8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051" name="Picture 17" descr="ustc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73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Text Box 1"/>
          <p:cNvSpPr txBox="1">
            <a:spLocks noChangeArrowheads="1"/>
          </p:cNvSpPr>
          <p:nvPr/>
        </p:nvSpPr>
        <p:spPr bwMode="auto">
          <a:xfrm>
            <a:off x="0" y="4076700"/>
            <a:ext cx="91440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rPr>
              <a:t>郑重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ahoma" panose="020B0604030504040204" pitchFamily="34" charset="0"/>
                <a:ea typeface="华文行楷" panose="02010800040101010101" pitchFamily="2" charset="-122"/>
                <a:cs typeface="+mn-cs"/>
              </a:rPr>
              <a:t>中国科学技术大学微电子学院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ahoma" panose="020B0604030504040204" pitchFamily="34" charset="0"/>
              <a:ea typeface="华文行楷" panose="0201080004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School of Microelectronics, USTC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Fall, 2022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0" y="1052513"/>
            <a:ext cx="9144000" cy="1462087"/>
          </a:xfrm>
        </p:spPr>
        <p:txBody>
          <a:bodyPr/>
          <a:lstStyle>
            <a:lvl1pPr algn="ctr">
              <a:defRPr sz="5000" b="1" baseline="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0" y="3141663"/>
            <a:ext cx="9144000" cy="863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隶书" panose="02010800040101010101" pitchFamily="2" charset="-122"/>
              </a:defRPr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9388" y="6237288"/>
            <a:ext cx="115252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057B8F-A7C0-4FF4-B7EC-919A5BE91DD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76375" y="6243638"/>
            <a:ext cx="619125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12088" y="6237288"/>
            <a:ext cx="1152525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C413671-0D77-4A6B-8137-0EF270EAEF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712F12-4582-473E-9927-DCF82364D26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D54DB1-E3AD-4A68-870F-22BDCD4AAEC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6013" y="1844675"/>
            <a:ext cx="3843337" cy="4392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1750" y="1844675"/>
            <a:ext cx="3843338" cy="4392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A42DAA-8A8C-4ECD-9102-C602A44B5C1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D54DB1-E3AD-4A68-870F-22BDCD4AAEC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4E0307-9EA2-4745-B0CC-416D56626A2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D54DB1-E3AD-4A68-870F-22BDCD4AAEC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43875CB-F40B-4119-9DD4-840331BE399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D54DB1-E3AD-4A68-870F-22BDCD4AAEC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E0C73A-450F-4A4B-8C54-3042762A8E2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D54DB1-E3AD-4A68-870F-22BDCD4AAEC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18383B-2EA9-48B7-8627-9FC9A1473AE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D54DB1-E3AD-4A68-870F-22BDCD4AAEC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B47FCB-7EE5-469B-8D72-10453D0D282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D54DB1-E3AD-4A68-870F-22BDCD4AAEC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A3FD8B-FDA5-4CCB-8202-895CC2E7940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D54DB1-E3AD-4A68-870F-22BDCD4AAEC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96113" y="620713"/>
            <a:ext cx="1958975" cy="56165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16013" y="620713"/>
            <a:ext cx="5727700" cy="56165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857E34-1A79-48F9-BD59-208A59D606F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D54DB1-E3AD-4A68-870F-22BDCD4AAEC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013" y="620713"/>
            <a:ext cx="7827962" cy="9366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16013" y="1844675"/>
            <a:ext cx="3843337" cy="43926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1750" y="1844675"/>
            <a:ext cx="3843338" cy="43926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323A1FA-9081-4DE3-982C-43F32BE033E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D54DB1-E3AD-4A68-870F-22BDCD4AAEC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90011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90011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32238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32238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2493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792163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5827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16013" y="620713"/>
            <a:ext cx="7827963" cy="93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4" name="Rectangle 10"/>
          <p:cNvSpPr>
            <a:spLocks noGrp="1"/>
          </p:cNvSpPr>
          <p:nvPr>
            <p:ph type="body" idx="1"/>
          </p:nvPr>
        </p:nvSpPr>
        <p:spPr>
          <a:xfrm>
            <a:off x="1116013" y="1844675"/>
            <a:ext cx="7839075" cy="43926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9388" y="6237288"/>
            <a:ext cx="11525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4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方正姚体" panose="02010601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A696D9B-B2E9-4604-B1C4-069D7A93ED4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1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76375" y="6243638"/>
            <a:ext cx="61912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方正姚体" panose="02010601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812088" y="6237288"/>
            <a:ext cx="11525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方正姚体" panose="02010601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D54DB1-E3AD-4A68-870F-22BDCD4AAEC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charset="0"/>
                <a:ea typeface="方正姚体" panose="02010601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方正姚体" panose="02010601030101010101" pitchFamily="2" charset="-122"/>
              <a:cs typeface="+mn-cs"/>
            </a:endParaRPr>
          </a:p>
        </p:txBody>
      </p:sp>
      <p:pic>
        <p:nvPicPr>
          <p:cNvPr id="1038" name="Picture 18" descr="ustc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9144000" cy="6731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charset="0"/>
          <a:ea typeface="华文新魏" panose="020108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charset="0"/>
          <a:ea typeface="华文新魏" panose="020108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charset="0"/>
          <a:ea typeface="华文新魏" panose="020108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charset="0"/>
          <a:ea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800">
          <a:solidFill>
            <a:srgbClr val="336600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620F6A-4E9D-49EC-9803-5025629657F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15616" y="1764131"/>
            <a:ext cx="467995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程序设计语言包含的语法元素</a:t>
            </a:r>
          </a:p>
        </p:txBody>
      </p:sp>
      <p:sp>
        <p:nvSpPr>
          <p:cNvPr id="7174" name="文本框 5"/>
          <p:cNvSpPr txBox="1"/>
          <p:nvPr/>
        </p:nvSpPr>
        <p:spPr>
          <a:xfrm>
            <a:off x="960120" y="2205355"/>
            <a:ext cx="735711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※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从问题中抽象出计算机能存储和处理的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※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根据数据的特性确定计算机能执行的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运算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规则；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※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针对问题的特征设计能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计算过程的算法；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※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在计算机内部以及与外界之间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传输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数据。</a:t>
            </a: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数据、运算、控制、传输是程序设计语言的基本成分</a:t>
            </a:r>
          </a:p>
        </p:txBody>
      </p:sp>
      <p:sp>
        <p:nvSpPr>
          <p:cNvPr id="6" name="矩形 5"/>
          <p:cNvSpPr/>
          <p:nvPr/>
        </p:nvSpPr>
        <p:spPr>
          <a:xfrm>
            <a:off x="1106207" y="1140878"/>
            <a:ext cx="64607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kern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第</a:t>
            </a:r>
            <a:r>
              <a:rPr lang="en-US" altLang="zh-CN" sz="2400" b="1" kern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400" b="1" kern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章 结构化程序设计</a:t>
            </a:r>
            <a:r>
              <a:rPr lang="en-US" altLang="zh-CN" sz="2400" b="1" kern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—</a:t>
            </a:r>
            <a:r>
              <a:rPr lang="zh-CN" altLang="en-US" sz="2000" b="1" kern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数据与运算</a:t>
            </a:r>
            <a:endParaRPr lang="zh-CN" altLang="en-US" sz="2000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23963" y="836613"/>
            <a:ext cx="7772400" cy="6858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.</a:t>
            </a:r>
            <a:r>
              <a:rPr kumimoji="0" lang="en-US" altLang="zh-CN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C语言的数据类型</a:t>
            </a: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614363" y="1650207"/>
            <a:ext cx="8382000" cy="4465637"/>
          </a:xfrm>
        </p:spPr>
        <p:txBody>
          <a:bodyPr vert="horz" wrap="square" lIns="91440" tIns="45720" rIns="91440" bIns="45720" anchor="t" anchorCtr="0"/>
          <a:lstStyle/>
          <a:p>
            <a:pPr marL="0" indent="574675" algn="just" eaLnBrk="1" hangingPunct="1">
              <a:lnSpc>
                <a:spcPct val="90000"/>
              </a:lnSpc>
              <a:buNone/>
            </a:pPr>
            <a:r>
              <a:rPr lang="zh-CN" altLang="en-US" sz="24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一个算法应包括对</a:t>
            </a:r>
            <a:r>
              <a:rPr lang="zh-CN" altLang="en-US" sz="24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</a:t>
            </a:r>
            <a:r>
              <a:rPr lang="zh-CN" altLang="en-US" sz="2400" kern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的描述</a:t>
            </a:r>
            <a:r>
              <a:rPr lang="zh-CN" altLang="en-US" sz="24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2400" kern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lang="zh-CN" altLang="en-US" sz="24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数据处理</a:t>
            </a:r>
            <a:r>
              <a:rPr lang="zh-CN" altLang="en-US" sz="24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的描述。</a:t>
            </a:r>
          </a:p>
          <a:p>
            <a:pPr marL="0" indent="574675" algn="just" eaLnBrk="1" hangingPunct="1">
              <a:lnSpc>
                <a:spcPct val="90000"/>
              </a:lnSpc>
              <a:buNone/>
            </a:pPr>
            <a:endParaRPr lang="zh-CN" altLang="en-US" sz="2400" kern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4675" algn="just" eaLnBrk="1" hangingPunct="1">
              <a:lnSpc>
                <a:spcPct val="90000"/>
              </a:lnSpc>
              <a:buNone/>
            </a:pPr>
            <a:r>
              <a:rPr lang="zh-CN" altLang="en-US" sz="24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C语言对数据</a:t>
            </a:r>
            <a:r>
              <a:rPr lang="zh-CN" altLang="en-US" sz="2400" kern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的描述</a:t>
            </a:r>
            <a:r>
              <a:rPr lang="zh-CN" altLang="en-US" sz="24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，是以</a:t>
            </a:r>
            <a:r>
              <a:rPr lang="zh-CN" altLang="en-US" sz="24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数据类型</a:t>
            </a:r>
            <a:r>
              <a:rPr lang="zh-CN" altLang="en-US" sz="24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形式出现的。</a:t>
            </a:r>
          </a:p>
          <a:p>
            <a:pPr marL="0" indent="574675" algn="just" eaLnBrk="1" hangingPunct="1">
              <a:lnSpc>
                <a:spcPct val="90000"/>
              </a:lnSpc>
              <a:buNone/>
            </a:pPr>
            <a:r>
              <a:rPr lang="zh-CN" altLang="en-US" sz="24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具体分类如下：</a:t>
            </a:r>
          </a:p>
          <a:p>
            <a:pPr marL="0" indent="574675" algn="just" eaLnBrk="1" hangingPunct="1">
              <a:lnSpc>
                <a:spcPct val="90000"/>
              </a:lnSpc>
              <a:buNone/>
            </a:pPr>
            <a:r>
              <a:rPr lang="zh-CN" altLang="en-US" sz="24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4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基本类型</a:t>
            </a:r>
            <a:endParaRPr lang="zh-CN" altLang="en-US" sz="2400" kern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4675" algn="just" eaLnBrk="1" hangingPunct="1">
              <a:lnSpc>
                <a:spcPct val="90000"/>
              </a:lnSpc>
              <a:buNone/>
            </a:pPr>
            <a:r>
              <a:rPr lang="zh-CN" altLang="en-US" sz="24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分为整型、实型（又称浮点型）、字符型和枚举型四种。</a:t>
            </a:r>
          </a:p>
          <a:p>
            <a:pPr marL="0" indent="574675" algn="just" eaLnBrk="1" hangingPunct="1">
              <a:lnSpc>
                <a:spcPct val="90000"/>
              </a:lnSpc>
              <a:buNone/>
            </a:pPr>
            <a:r>
              <a:rPr lang="zh-CN" altLang="en-US" sz="24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4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构造类型</a:t>
            </a:r>
            <a:endParaRPr lang="zh-CN" altLang="en-US" sz="2400" kern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4675" algn="just" eaLnBrk="1" hangingPunct="1">
              <a:lnSpc>
                <a:spcPct val="90000"/>
              </a:lnSpc>
              <a:buNone/>
            </a:pPr>
            <a:r>
              <a:rPr lang="zh-CN" altLang="en-US" sz="24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分为数组类型、结构体类型和共用体类型三种。</a:t>
            </a:r>
          </a:p>
          <a:p>
            <a:pPr marL="0" indent="574675" algn="just" eaLnBrk="1" hangingPunct="1">
              <a:lnSpc>
                <a:spcPct val="90000"/>
              </a:lnSpc>
              <a:buNone/>
            </a:pPr>
            <a:r>
              <a:rPr lang="zh-CN" altLang="en-US" sz="24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4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指针类型</a:t>
            </a:r>
            <a:endParaRPr lang="zh-CN" altLang="en-US" sz="2400" kern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4675" algn="just" eaLnBrk="1" hangingPunct="1">
              <a:lnSpc>
                <a:spcPct val="90000"/>
              </a:lnSpc>
              <a:buNone/>
            </a:pPr>
            <a:r>
              <a:rPr lang="zh-CN" altLang="en-US" sz="24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C语言中的数据，有常量和变量之分，它们分别属于上述</a:t>
            </a:r>
          </a:p>
          <a:p>
            <a:pPr marL="0" indent="574675" algn="just" eaLnBrk="1" hangingPunct="1">
              <a:lnSpc>
                <a:spcPct val="90000"/>
              </a:lnSpc>
              <a:buNone/>
            </a:pPr>
            <a:r>
              <a:rPr lang="zh-CN" altLang="en-US" sz="2400" kern="1200" dirty="0">
                <a:latin typeface="楷体" panose="02010609060101010101" pitchFamily="49" charset="-122"/>
                <a:ea typeface="楷体" panose="02010609060101010101" pitchFamily="49" charset="-122"/>
              </a:rPr>
              <a:t>这些类型。</a:t>
            </a:r>
          </a:p>
          <a:p>
            <a:pPr marL="0" indent="574675" algn="just" eaLnBrk="1" hangingPunct="1">
              <a:lnSpc>
                <a:spcPct val="90000"/>
              </a:lnSpc>
              <a:buNone/>
            </a:pPr>
            <a:endParaRPr lang="zh-CN" altLang="en-US" sz="2400" kern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4675" eaLnBrk="1" hangingPunct="1">
              <a:lnSpc>
                <a:spcPct val="90000"/>
              </a:lnSpc>
              <a:buNone/>
            </a:pPr>
            <a:endParaRPr lang="en-US" altLang="zh-CN" sz="2400" dirty="0"/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560494-7B39-494D-BE61-425F35E23C3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charRg st="25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charRg st="118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3">
                                            <p:txEl>
                                              <p:charRg st="118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3">
                                            <p:txEl>
                                              <p:charRg st="118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charRg st="126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char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2688" y="1084263"/>
            <a:ext cx="3533328" cy="4572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.</a:t>
            </a:r>
            <a:r>
              <a:rPr kumimoji="0" lang="en-US" altLang="zh-CN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.</a:t>
            </a:r>
            <a:r>
              <a:rPr kumimoji="0" lang="zh-CN" altLang="en-US" sz="2400" b="1" i="0" u="none" strike="noStrike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   常量和变量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3733800"/>
            <a:ext cx="7993063" cy="23304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3746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</a:t>
            </a:r>
            <a:r>
              <a:rPr kumimoji="0" lang="zh-CN" altLang="en-US" sz="2400" b="0" i="0" u="none" strike="noStrike" kern="1200" cap="none" spc="0" normalizeH="0" baseline="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常量的分类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/>
            </a:r>
            <a:b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</a:b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</a:t>
            </a:r>
            <a:r>
              <a:rPr kumimoji="0" lang="zh-CN" altLang="en-US" sz="2400" b="0" i="0" u="none" strike="noStrike" kern="1200" cap="none" spc="0" normalizeH="0" baseline="0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字面常量（幻数）的类型，可通过书写形式来判别。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</a:p>
          <a:p>
            <a:pPr marL="0" marR="0" lvl="0" indent="3746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3746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</a:t>
            </a:r>
            <a:r>
              <a:rPr kumimoji="0" lang="zh-CN" altLang="en-US" sz="2400" b="0" i="0" u="none" strike="noStrike" kern="1200" cap="none" spc="0" normalizeH="0" baseline="0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符号常量    ＃define  符号常量名   常量 </a:t>
            </a:r>
          </a:p>
          <a:p>
            <a:pPr marL="0" marR="0" lvl="0" indent="3746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    符号常量的优点：1.含义清楚；2.一改全改</a:t>
            </a:r>
          </a:p>
          <a:p>
            <a:pPr marL="0" marR="0" lvl="0" indent="3746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9A5826-28F2-4292-949A-66F891FAAEB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1043608" y="1688109"/>
            <a:ext cx="522128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常量</a:t>
            </a: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1182688" y="2389467"/>
            <a:ext cx="7850188" cy="1106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</a:t>
            </a:r>
            <a:r>
              <a:rPr kumimoji="0" lang="zh-CN" altLang="en-US" sz="2400" b="0" i="0" u="none" strike="noStrike" kern="1200" cap="none" spc="0" normalizeH="0" baseline="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常量的概念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在程序运行过程中，其值不能被改变的量称为常量。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/>
            </a:r>
            <a:b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</a:br>
            <a:endParaRPr kumimoji="0" lang="zh-CN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47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47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43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7">
                                            <p:txEl>
                                              <p:charRg st="43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7">
                                            <p:txEl>
                                              <p:charRg st="43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45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47">
                                            <p:txEl>
                                              <p:charRg st="45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47">
                                            <p:txEl>
                                              <p:charRg st="45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78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147">
                                            <p:txEl>
                                              <p:charRg st="78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47">
                                            <p:txEl>
                                              <p:charRg st="78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971600" y="2200275"/>
            <a:ext cx="7772400" cy="40433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3746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1.变量的两个要素</a:t>
            </a: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（1）</a:t>
            </a:r>
            <a:r>
              <a:rPr kumimoji="0" lang="zh-CN" altLang="en-US" sz="2400" b="0" i="0" u="none" strike="noStrike" kern="1200" cap="none" spc="0" normalizeH="0" baseline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变量名</a:t>
            </a:r>
            <a:r>
              <a:rPr kumimoji="0" lang="en-US" altLang="zh-CN" sz="2400" b="0" i="0" u="none" strike="noStrike" kern="1200" cap="none" spc="0" normalizeH="0" baseline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每个变量都必须有一个名字──变量名，变量命名遵循标识符命名规则。变量名实际上代表的是一个符号地址。通常用小写。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（2）</a:t>
            </a:r>
            <a:r>
              <a:rPr kumimoji="0" lang="zh-CN" altLang="en-US" sz="2400" b="0" i="0" u="none" strike="noStrike" kern="1200" cap="none" spc="0" normalizeH="0" baseline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变量值</a:t>
            </a:r>
            <a:r>
              <a:rPr kumimoji="0" lang="en-US" altLang="zh-CN" sz="2400" b="0" i="0" u="none" strike="noStrike" kern="1200" cap="none" spc="0" normalizeH="0" baseline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dirty="0"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在程序运行过程中，变量值存储在内存中。在程序中，通过变量名找到相应的内存存储单元来引用变量的值。</a:t>
            </a:r>
          </a:p>
          <a:p>
            <a:pPr marL="0" marR="0" lvl="0" indent="574675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注意：变量和符号常量的本质区别。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B43CDA-2CD5-40D6-914A-7C6D2BB7EF3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1600" y="1697271"/>
            <a:ext cx="9813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2688" y="1084263"/>
            <a:ext cx="3533328" cy="4572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.</a:t>
            </a:r>
            <a:r>
              <a:rPr kumimoji="0" lang="en-US" altLang="zh-CN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.</a:t>
            </a:r>
            <a:r>
              <a:rPr kumimoji="0" lang="zh-CN" altLang="en-US" sz="2400" b="1" i="0" u="none" strike="noStrike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   常量和变量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772335" y="2239641"/>
            <a:ext cx="8229600" cy="424837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有效字符：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只能由字母、数字和下划线组成，且以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字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 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母或下划线开头。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有效长度：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随系统而异，但至少前８个字符有效。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如果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超长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       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则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超长部分被舍弃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。如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student_name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和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        </a:t>
            </a:r>
            <a:r>
              <a:rPr kumimoji="0" lang="en-US" altLang="zh-CN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student_number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的前８个字符相同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，有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的系统认为这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两 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       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个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变量是一回事而不加区别。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关键字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: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是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由Ｃ语言规定的具有特定意义的字符串，如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int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        float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等。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用户定义的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标识符不应与关键字相同。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1B3981-9114-4FBD-B11F-E5C41B50124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1560" y="1991958"/>
            <a:ext cx="3486852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74650" eaLnBrk="1" hangingPunct="1">
              <a:lnSpc>
                <a:spcPct val="90000"/>
              </a:lnSpc>
              <a:spcBef>
                <a:spcPct val="20000"/>
              </a:spcBef>
              <a:buClr>
                <a:srgbClr val="CC9900"/>
              </a:buClr>
              <a:buSzPct val="60000"/>
              <a:defRPr/>
            </a:pPr>
            <a:r>
              <a:rPr lang="en-US" altLang="zh-CN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lang="zh-CN" altLang="en-US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标识符的命名规则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2688" y="1084263"/>
            <a:ext cx="3533328" cy="4572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.</a:t>
            </a:r>
            <a:r>
              <a:rPr kumimoji="0" lang="en-US" altLang="zh-CN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.</a:t>
            </a:r>
            <a:r>
              <a:rPr kumimoji="0" lang="zh-CN" altLang="en-US" sz="2400" b="1" i="0" u="none" strike="noStrike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   常量和变量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201" end="2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194">
                                            <p:txEl>
                                              <p:charRg st="201" end="2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194">
                                            <p:txEl>
                                              <p:charRg st="201" end="2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194">
                                            <p:txEl>
                                              <p:charRg st="201" end="2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194">
                                            <p:txEl>
                                              <p:char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194">
                                            <p:txEl>
                                              <p:char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194">
                                            <p:txEl>
                                              <p:char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35560" y="1701165"/>
            <a:ext cx="8938260" cy="468185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注意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语言对英文字母的大小敏感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，在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语言中，变量名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total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与变量名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TOTAL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ToTaL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tOtAl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等是不同的变量。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标识符命名的良好习惯──见名知意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通常应选择能表示数据含义的英文单词（或缩写）作变量名，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或汉语拼音字头作变量名。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例如，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name/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xm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（姓名）、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sex/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xb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（性别）、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age/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nl</a:t>
            </a:r>
            <a:r>
              <a:rPr lang="zh-CN" altLang="en-US" sz="240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（年龄）、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salary/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gz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（工资）。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E76C2A-A4B4-45D6-9E49-BC83C71C1A1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1052736"/>
            <a:ext cx="3533328" cy="4572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.</a:t>
            </a:r>
            <a:r>
              <a:rPr kumimoji="0" lang="en-US" altLang="zh-CN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.</a:t>
            </a:r>
            <a:r>
              <a:rPr kumimoji="0" lang="zh-CN" altLang="en-US" sz="2400" b="1" i="0" u="none" strike="noStrike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   常量和变量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>
          <a:xfrm>
            <a:off x="470413" y="2167808"/>
            <a:ext cx="8566083" cy="4429544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变量，</a:t>
            </a:r>
            <a:r>
              <a:rPr kumimoji="0" lang="zh-CN" altLang="en-US" sz="2400" b="1" i="0" u="sng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必须先定义、后使用</a:t>
            </a:r>
            <a:endParaRPr kumimoji="0" lang="en-US" altLang="zh-CN" sz="2400" b="1" i="0" u="sng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）编译时分配存储单元的依据；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）不同类的变量所允许的操作集不同。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变量定义的一般格式</a:t>
            </a: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[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存储类型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] 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数据类型   变量名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[,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变量名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2……];</a:t>
            </a: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   例如，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float  radius, length, area;</a:t>
            </a: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称在定义变量的同时进行赋初值的操作称为</a:t>
            </a:r>
            <a:r>
              <a:rPr kumimoji="0" lang="zh-CN" altLang="en-US" sz="2400" b="1" i="0" u="sng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变量的初始化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变量初始化的一般格式</a:t>
            </a: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[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存储类型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]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数据类型 变量名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[=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初值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][,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变量名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2[=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初值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2]……];</a:t>
            </a: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        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例如，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float radius=2.5,  length, area;  </a:t>
            </a: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1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DDCBBE-6B4C-48C9-9614-F489CDD5B48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95536" y="1743076"/>
            <a:ext cx="3752950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变量的定义与初始化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2688" y="1084263"/>
            <a:ext cx="3533328" cy="4572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.</a:t>
            </a:r>
            <a:r>
              <a:rPr kumimoji="0" lang="en-US" altLang="zh-CN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.</a:t>
            </a:r>
            <a:r>
              <a:rPr kumimoji="0" lang="zh-CN" altLang="en-US" sz="2400" b="1" i="0" u="none" strike="noStrike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   常量和变量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2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2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FCC9B4-7C94-4418-B7AE-594A97F570E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7508" y="1757289"/>
            <a:ext cx="2521844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 const</a:t>
            </a:r>
            <a:r>
              <a:rPr lang="zh-CN" altLang="en-US" sz="24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变量</a:t>
            </a:r>
          </a:p>
        </p:txBody>
      </p:sp>
      <p:sp>
        <p:nvSpPr>
          <p:cNvPr id="8" name="矩形 7"/>
          <p:cNvSpPr/>
          <p:nvPr/>
        </p:nvSpPr>
        <p:spPr>
          <a:xfrm>
            <a:off x="863600" y="2276872"/>
            <a:ext cx="7416800" cy="33845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有时候我们希望定义这样一种变量，它的值不能被改变，在整个作用域中都保持固定。例如，用一个变量来表示班级的最大人数，或者表示缓冲区的大小。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为了满足这一要求，可以使用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const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关键字对变量加以限定：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const int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MaxNum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= 100;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//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班级的最大人数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这样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MaxNum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的值就不能被修改了，任何对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MaxNum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赋值的行为都将引发错误：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MaxNum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= 90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;                //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错误，试图向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const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变量写入数据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182688" y="1084263"/>
            <a:ext cx="3533328" cy="4572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.</a:t>
            </a:r>
            <a:r>
              <a:rPr kumimoji="0" lang="en-US" altLang="zh-CN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.</a:t>
            </a:r>
            <a:r>
              <a:rPr kumimoji="0" lang="zh-CN" altLang="en-US" sz="2400" b="1" i="0" u="none" strike="noStrike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   常量和变量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620713"/>
            <a:ext cx="7827963" cy="9366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3.1.2  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整型数据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8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1095375" y="1673225"/>
                <a:ext cx="7940675" cy="5106988"/>
              </a:xfrm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仿宋" panose="02010609060101010101" pitchFamily="49" charset="-122"/>
                    <a:ea typeface="仿宋" panose="02010609060101010101" pitchFamily="49" charset="-122"/>
                    <a:cs typeface="+mn-cs"/>
                  </a:rPr>
                  <a:t>1.</a:t>
                </a:r>
                <a:r>
                  <a:rPr kumimoji="0" lang="zh-CN" altLang="en-US" sz="24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补码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正数：采用符号－绝对值表示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负数：用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0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kumimoji="0" lang="en-US" altLang="zh-CN" sz="20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b="1" i="1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n</m:t>
                        </m:r>
                      </m:sup>
                    </m:sSup>
                    <m:r>
                      <a:rPr kumimoji="0" lang="en-US" altLang="zh-CN" sz="20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zh-CN" sz="20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kumimoji="0" lang="en-US" altLang="zh-CN" sz="20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𝑿</m:t>
                        </m:r>
                      </m:e>
                    </m:d>
                  </m:oMath>
                </a14:m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来表示，其中</a:t>
                </a:r>
                <a:r>
                  <a:rPr kumimoji="0" lang="en-US" altLang="zh-CN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X</a:t>
                </a: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为要表示的负数，</a:t>
                </a:r>
                <a:r>
                  <a:rPr kumimoji="0" lang="en-US" altLang="zh-CN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n</a:t>
                </a: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为机器的字长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kumimoji="0" lang="zh-CN" altLang="en-US" sz="24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简单的写出一个负数的补码的方法：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（</a:t>
                </a:r>
                <a:r>
                  <a:rPr kumimoji="0" lang="en-US" altLang="zh-CN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1</a:t>
                </a: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）写出与该负数相对应的正数的补码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（</a:t>
                </a:r>
                <a:r>
                  <a:rPr kumimoji="0" lang="en-US" altLang="zh-CN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2</a:t>
                </a: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）按位求反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（</a:t>
                </a:r>
                <a:r>
                  <a:rPr kumimoji="0" lang="en-US" altLang="zh-CN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3</a:t>
                </a: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）末位加</a:t>
                </a:r>
                <a:r>
                  <a:rPr kumimoji="0" lang="en-US" altLang="zh-CN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1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kumimoji="0" lang="en-US" altLang="zh-CN" sz="24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用补码表示数时的符号扩展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kumimoji="0" lang="zh-CN" altLang="en-US" sz="24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补码进行加减法运算时，只要符号位参加运算能自动地得到正确结果。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4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         </a:t>
                </a:r>
              </a:p>
            </p:txBody>
          </p:sp>
        </mc:Choice>
        <mc:Fallback xmlns="">
          <p:sp>
            <p:nvSpPr>
              <p:cNvPr id="102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095375" y="1673225"/>
                <a:ext cx="7940675" cy="5106988"/>
              </a:xfrm>
              <a:blipFill>
                <a:blip r:embed="rId2"/>
                <a:stretch>
                  <a:fillRect l="-1229" t="-1671" r="-2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日期占位符 6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13C07-E5EF-4E21-9B49-C96E8EDEA97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495300" y="2481908"/>
            <a:ext cx="8153400" cy="3899420"/>
          </a:xfrm>
        </p:spPr>
        <p:txBody>
          <a:bodyPr vert="horz" wrap="square" lIns="91440" tIns="45720" rIns="91440" bIns="45720" anchor="t" anchorCtr="0"/>
          <a:lstStyle/>
          <a:p>
            <a:pPr marL="0" indent="574675" eaLnBrk="1" hangingPunct="1">
              <a:buNone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）分类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/>
            </a:r>
            <a:b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</a:b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根据占用内存字节数的不同，整型变量又分为４类：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574675" eaLnBrk="1" hangingPunct="1"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）基本整型（类型关键字为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int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）。</a:t>
            </a:r>
          </a:p>
          <a:p>
            <a:pPr marL="0" indent="574675" eaLnBrk="1" hangingPunct="1"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）短整型（类型关键字为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short  [int]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）。</a:t>
            </a:r>
          </a:p>
          <a:p>
            <a:pPr marL="0" indent="574675" eaLnBrk="1" hangingPunct="1"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）长整型（类型关键字为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long  [int]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）。</a:t>
            </a:r>
          </a:p>
          <a:p>
            <a:pPr marL="0" indent="574675" eaLnBrk="1" hangingPunct="1"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）超长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整型（类型关键字为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long  </a:t>
            </a:r>
            <a:r>
              <a:rPr lang="en-US" altLang="zh-CN" sz="2000" dirty="0" err="1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long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</a:p>
          <a:p>
            <a:pPr marL="0" indent="574675" eaLnBrk="1" hangingPunct="1">
              <a:buNone/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5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无符号整型。无符号型又分为无符号基本整型（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unsigned  </a:t>
            </a:r>
          </a:p>
          <a:p>
            <a:pPr marL="0" indent="574675" eaLnBrk="1" hangingPunct="1"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[int]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）、无符号短整型（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unsigned  short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）和无符号长整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574675" eaLnBrk="1" hangingPunct="1"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型（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unsigned  long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 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unsigned  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long </a:t>
            </a:r>
            <a:r>
              <a:rPr lang="en-US" altLang="zh-CN" sz="2000" dirty="0" err="1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long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,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只能用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indent="574675" eaLnBrk="1" hangingPunct="1">
              <a:buNone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来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存储无符号整数。</a:t>
            </a:r>
          </a:p>
          <a:p>
            <a:pPr marL="0" indent="574675" eaLnBrk="1" hangingPunct="1">
              <a:buNone/>
            </a:pPr>
            <a:endParaRPr lang="zh-CN" altLang="en-US" sz="2900" dirty="0"/>
          </a:p>
          <a:p>
            <a:pPr marL="0" indent="574675" eaLnBrk="1" hangingPunct="1">
              <a:buNone/>
            </a:pPr>
            <a:endParaRPr lang="en-US" altLang="zh-CN" sz="2900" dirty="0"/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41B8E39-F3B0-456F-9CCA-AEEC154623E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99592" y="1700808"/>
            <a:ext cx="18886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2.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整型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变量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43608" y="1017871"/>
            <a:ext cx="30764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kern="0" dirty="0" smtClean="0"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3.1.2   </a:t>
            </a:r>
            <a:r>
              <a:rPr lang="zh-CN" altLang="en-US" sz="2800" b="1" kern="0" dirty="0"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整型数据</a:t>
            </a:r>
            <a:endParaRPr lang="zh-CN" altLang="en-US" dirty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29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755650" y="2288937"/>
                <a:ext cx="7356425" cy="3816449"/>
              </a:xfrm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       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上述各类型整型变量占用的内存字节数，随系统而异。</a:t>
                </a:r>
                <a:endPara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在</a:t>
                </a:r>
                <a:r>
                  <a:rPr lang="en-US" altLang="zh-CN" sz="2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64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位操作系统中，一般用</a:t>
                </a:r>
                <a:r>
                  <a:rPr lang="en-US" altLang="zh-CN" sz="2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4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字节表示一个</a:t>
                </a:r>
                <a:r>
                  <a:rPr lang="en-US" altLang="zh-CN" sz="2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int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型变量，且</a:t>
                </a:r>
                <a:endPara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  <a:p>
                <a:pPr lvl="0" eaLnBrk="1" hangingPunct="1">
                  <a:buNone/>
                  <a:defRPr/>
                </a:pPr>
                <a:endParaRPr lang="en-US" altLang="zh-CN" sz="2000" b="1" dirty="0" smtClean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  <a:p>
                <a:pPr lvl="0" eaLnBrk="1" hangingPunct="1">
                  <a:buNone/>
                  <a:defRPr/>
                </a:pPr>
                <a:r>
                  <a:rPr lang="en-US" altLang="zh-CN" sz="2000" b="1" dirty="0" smtClean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long long</a:t>
                </a:r>
                <a:r>
                  <a:rPr lang="zh-CN" altLang="en-US" sz="2000" b="1" dirty="0" smtClean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型（</a:t>
                </a:r>
                <a:r>
                  <a:rPr lang="en-US" altLang="zh-CN" sz="2000" b="1" dirty="0" smtClean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8</a:t>
                </a:r>
                <a:r>
                  <a:rPr lang="zh-CN" altLang="en-US" sz="2000" b="1" dirty="0" smtClean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字节</a:t>
                </a:r>
                <a:r>
                  <a:rPr lang="zh-CN" altLang="en-US" sz="20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）≥</a:t>
                </a:r>
                <a:endParaRPr kumimoji="0" lang="en-US" altLang="zh-CN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long</a:t>
                </a: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型（４字节）≥</a:t>
                </a:r>
                <a:r>
                  <a:rPr kumimoji="0" lang="en-US" altLang="zh-CN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int</a:t>
                </a: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型（</a:t>
                </a:r>
                <a:r>
                  <a:rPr kumimoji="0" lang="en-US" altLang="zh-CN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4</a:t>
                </a: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字节）≥</a:t>
                </a:r>
                <a:r>
                  <a:rPr kumimoji="0" lang="en-US" altLang="zh-CN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short</a:t>
                </a: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型（２字节）</a:t>
                </a:r>
                <a:r>
                  <a:rPr kumimoji="0" lang="zh-CN" altLang="en-US" sz="20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2">
                        <a:lumMod val="75000"/>
                      </a:scheme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。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/>
                </a:r>
                <a:br>
                  <a:rPr kumimoji="0" lang="zh-CN" altLang="en-US" sz="2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</a:b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r>
                  <a:rPr lang="en-US" altLang="zh-CN" sz="2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不同类型的整型变量，其值域不同。占用内存字节数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为</a:t>
                </a:r>
                <a:r>
                  <a:rPr lang="en-US" altLang="zh-CN" sz="2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n</a:t>
                </a: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的（有符号）整型变量，其值域为</a:t>
                </a:r>
                <a:r>
                  <a:rPr lang="zh-CN" altLang="en-US" sz="2000" dirty="0" smtClean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∗8−1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∗8−1</m:t>
                        </m:r>
                      </m:sup>
                    </m:sSup>
                  </m:oMath>
                </a14:m>
                <a:r>
                  <a:rPr lang="en-US" altLang="zh-CN" sz="2000" dirty="0" smtClean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-1</a:t>
                </a:r>
                <a:r>
                  <a:rPr lang="zh-CN" altLang="en-US" sz="2000" dirty="0" smtClean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；</a:t>
                </a:r>
                <a:endPara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  <a:p>
                <a:pPr lvl="0" eaLnBrk="1" hangingPunct="1">
                  <a:buNone/>
                  <a:defRPr/>
                </a:pPr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无符号整型变量的值域为：</a:t>
                </a:r>
                <a:r>
                  <a:rPr lang="en-US" altLang="zh-CN" sz="2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0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∗8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。</a:t>
                </a:r>
                <a:endPara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29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5650" y="2288937"/>
                <a:ext cx="7356425" cy="3816449"/>
              </a:xfrm>
              <a:blipFill>
                <a:blip r:embed="rId2"/>
                <a:stretch>
                  <a:fillRect l="-9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39CDEBC-C50E-47BC-AAA5-219ADBF19BE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3608" y="1772816"/>
            <a:ext cx="31534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）占用内存字节数与值域</a:t>
            </a:r>
          </a:p>
        </p:txBody>
      </p:sp>
      <p:sp>
        <p:nvSpPr>
          <p:cNvPr id="8" name="矩形 7"/>
          <p:cNvSpPr/>
          <p:nvPr/>
        </p:nvSpPr>
        <p:spPr>
          <a:xfrm>
            <a:off x="1043608" y="1017871"/>
            <a:ext cx="30764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kern="0" dirty="0" smtClean="0"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3.1.2   </a:t>
            </a:r>
            <a:r>
              <a:rPr lang="zh-CN" altLang="en-US" sz="2800" b="1" kern="0" dirty="0"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整型数据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420888"/>
            <a:ext cx="8135938" cy="39766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１）三种表示形式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整型常量即整常数，在Ｃ语言中可用三种形式表示：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）十进制。例如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10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36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）八进制（以数字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0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开头）。例如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012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）十六进制（以数字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0+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小写字母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x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开头）。例如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0x36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</a:p>
          <a:p>
            <a:pPr marL="0" lvl="0" indent="574675" algn="just" eaLnBrk="1" hangingPunct="1">
              <a:buNone/>
              <a:defRPr/>
            </a:pPr>
            <a:endParaRPr lang="zh-CN" altLang="en-US" sz="200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2 </a:t>
            </a: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）类型匹配规则</a:t>
            </a:r>
          </a:p>
          <a:p>
            <a:pPr marL="0" marR="0" lvl="0" indent="5746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类型匹配规则为：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一个整型常量，可以赋给能容纳下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其值的整型变量。</a:t>
            </a:r>
          </a:p>
          <a:p>
            <a:pPr marL="0" marR="0" lvl="0" indent="574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782B228-0C2B-47D8-9D9F-B2765461B14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1767" y="1893788"/>
            <a:ext cx="3533775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5746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3.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整型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常量</a:t>
            </a:r>
          </a:p>
        </p:txBody>
      </p:sp>
      <p:sp>
        <p:nvSpPr>
          <p:cNvPr id="8" name="矩形 7"/>
          <p:cNvSpPr/>
          <p:nvPr/>
        </p:nvSpPr>
        <p:spPr>
          <a:xfrm>
            <a:off x="1043608" y="1017871"/>
            <a:ext cx="30764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kern="0" dirty="0" smtClean="0"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3.1.2   </a:t>
            </a:r>
            <a:r>
              <a:rPr lang="zh-CN" altLang="en-US" sz="2800" b="1" kern="0" dirty="0"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整型数据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013" y="1052736"/>
            <a:ext cx="3239963" cy="504602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3.1.3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实型数据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DE6C80-F8ED-4E1F-AA1D-48145AEBF74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604837" y="1735138"/>
            <a:ext cx="7934325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9pPr>
          </a:lstStyle>
          <a:p>
            <a:pPr marL="0" marR="0" lvl="0" indent="4857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1.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实型常量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/>
            </a:r>
            <a:b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</a:b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857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实型常量即实数，在Ｃ语言中又称浮点数，其值有两</a:t>
            </a:r>
          </a:p>
          <a:p>
            <a:pPr marL="0" marR="0" lvl="0" indent="4857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种表达形式：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857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1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）十进制形式。例如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3.14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9.8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  </a:t>
            </a:r>
          </a:p>
          <a:p>
            <a:pPr marL="0" marR="0" lvl="0" indent="4857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）指数形式：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&lt;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尾数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&gt;E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e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&lt;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整型指数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&gt;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857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例如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3.0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Ｅ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+5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等。规范化指数形式。</a:t>
            </a:r>
            <a:b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</a:b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2.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实型变量</a:t>
            </a:r>
            <a:b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</a:b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Ｃ语言的实型变量，分为两种：</a:t>
            </a:r>
            <a:b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</a:b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）单精度型。类型关键字为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float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，一般占４字节（３２位）、</a:t>
            </a: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   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提供７位有效数字。</a:t>
            </a:r>
            <a:b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</a:b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）双精度型（长双精度数）。类型关键字为（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long)double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   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一般占８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(16)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个字节、提供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15~16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位有效数字。</a:t>
            </a:r>
            <a:b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</a:br>
            <a:endParaRPr kumimoji="0" lang="zh-CN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779975" y="2244303"/>
            <a:ext cx="7772400" cy="46085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如单精度数占四个字节，分别用来存储尾数与指数部分，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尾数部分占的位数越多，精度越高，指数部分占的位数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越多，则表示数的范围越大。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4.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实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型数据有限的精度带来的误差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F06496-7D9F-4DA5-9E09-BF6F1899B4F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9388" y="1783928"/>
            <a:ext cx="50978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5746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型数据在内存中的存放形式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116013" y="1052736"/>
            <a:ext cx="3239963" cy="504602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3.1.3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实型数据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057B8F-A7C0-4FF4-B7EC-919A5BE91DD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5650" y="1617561"/>
            <a:ext cx="705678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5.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实型数据存储举例：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按照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IEEE754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将浮点数 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20.5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存储为单精度数：</a:t>
            </a:r>
          </a:p>
          <a:p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20.5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转换为二进制形式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10100.1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（整数部分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除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基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取余，小数部分乘基取整）</a:t>
            </a:r>
          </a:p>
          <a:p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转换为以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为底的指数形式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: 1.01001 * 2^4</a:t>
            </a: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得到要存储的三部分符号位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、指数部分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4+127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、尾数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部分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01001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（舍掉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还原时补上，尾数部分位数不足补零）</a:t>
            </a:r>
          </a:p>
          <a:p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得到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0 1000 0011 0100 1000 0000 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0000 0000 000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116013" y="1052736"/>
            <a:ext cx="3239963" cy="504602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3.1.3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实型数据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010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B75F60-3FE4-4189-BB8A-2502B16154C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91680" y="1628800"/>
            <a:ext cx="4572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altLang="zh-CN" kern="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[</a:t>
            </a:r>
            <a:r>
              <a:rPr lang="zh-CN" altLang="en-US" b="1" kern="0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b="1" kern="0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3.1</a:t>
            </a:r>
            <a:r>
              <a:rPr lang="en-US" altLang="zh-CN" kern="0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] </a:t>
            </a:r>
            <a:r>
              <a:rPr lang="zh-CN" altLang="en-US" kern="0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浮点数的误差问题</a:t>
            </a:r>
            <a:r>
              <a:rPr lang="en-US" altLang="zh-CN" dirty="0" smtClean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b="1" dirty="0" smtClean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 smtClean="0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 smtClean="0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 smtClean="0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0.1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0.1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"x1</a:t>
            </a:r>
            <a:r>
              <a:rPr lang="zh-CN" altLang="en-US" b="1" dirty="0">
                <a:solidFill>
                  <a:srgbClr val="007D17"/>
                </a:solidFill>
                <a:latin typeface="Consolas" panose="020B0609020204030204" pitchFamily="49" charset="0"/>
              </a:rPr>
              <a:t>与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x2</a:t>
            </a:r>
            <a:r>
              <a:rPr lang="zh-CN" altLang="en-US" b="1" dirty="0">
                <a:solidFill>
                  <a:srgbClr val="007D17"/>
                </a:solidFill>
                <a:latin typeface="Consolas" panose="020B0609020204030204" pitchFamily="49" charset="0"/>
              </a:rPr>
              <a:t>相等。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else</a:t>
            </a:r>
            <a:b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"x1</a:t>
            </a:r>
            <a:r>
              <a:rPr lang="zh-CN" altLang="en-US" b="1" dirty="0">
                <a:solidFill>
                  <a:srgbClr val="007D17"/>
                </a:solidFill>
                <a:latin typeface="Consolas" panose="020B0609020204030204" pitchFamily="49" charset="0"/>
              </a:rPr>
              <a:t>与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x2</a:t>
            </a:r>
            <a:r>
              <a:rPr lang="zh-CN" altLang="en-US" b="1" dirty="0">
                <a:solidFill>
                  <a:srgbClr val="007D17"/>
                </a:solidFill>
                <a:latin typeface="Consolas" panose="020B0609020204030204" pitchFamily="49" charset="0"/>
              </a:rPr>
              <a:t>不相等。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21" y="4869160"/>
            <a:ext cx="7372350" cy="1219200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116013" y="1052736"/>
            <a:ext cx="3239963" cy="504602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3.1.3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实型数据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36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0FA100-7B8B-4F88-958E-D2D33FB7F1C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19672" y="1668864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kern="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[</a:t>
            </a:r>
            <a:r>
              <a:rPr lang="zh-CN" altLang="en-US" b="1" kern="0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b="1" kern="0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3.1</a:t>
            </a:r>
            <a:r>
              <a:rPr lang="en-US" altLang="zh-CN" kern="0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] </a:t>
            </a:r>
            <a:r>
              <a:rPr lang="zh-CN" altLang="en-US" kern="0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通常不对两个浮点数直接比较大小</a:t>
            </a:r>
            <a:endParaRPr lang="en-US" altLang="zh-CN" dirty="0" smtClean="0">
              <a:solidFill>
                <a:srgbClr val="1F542E"/>
              </a:solidFill>
              <a:latin typeface="Consolas" panose="020B0609020204030204" pitchFamily="49" charset="0"/>
            </a:endParaRPr>
          </a:p>
          <a:p>
            <a:r>
              <a:rPr lang="en-US" altLang="zh-CN" dirty="0" smtClean="0">
                <a:solidFill>
                  <a:srgbClr val="1F542E"/>
                </a:solidFill>
                <a:latin typeface="Consolas" panose="020B0609020204030204" pitchFamily="49" charset="0"/>
              </a:rPr>
              <a:t>#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math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0.1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0.1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fabs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)&lt;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1e-6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"x1</a:t>
            </a:r>
            <a:r>
              <a:rPr lang="zh-CN" altLang="en-US" b="1" dirty="0">
                <a:solidFill>
                  <a:srgbClr val="007D17"/>
                </a:solidFill>
                <a:latin typeface="Consolas" panose="020B0609020204030204" pitchFamily="49" charset="0"/>
              </a:rPr>
              <a:t>与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x2</a:t>
            </a:r>
            <a:r>
              <a:rPr lang="zh-CN" altLang="en-US" b="1" dirty="0">
                <a:solidFill>
                  <a:srgbClr val="007D17"/>
                </a:solidFill>
                <a:latin typeface="Consolas" panose="020B0609020204030204" pitchFamily="49" charset="0"/>
              </a:rPr>
              <a:t>相等。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else</a:t>
            </a:r>
            <a:b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"x1</a:t>
            </a:r>
            <a:r>
              <a:rPr lang="zh-CN" altLang="en-US" b="1" dirty="0">
                <a:solidFill>
                  <a:srgbClr val="007D17"/>
                </a:solidFill>
                <a:latin typeface="Consolas" panose="020B0609020204030204" pitchFamily="49" charset="0"/>
              </a:rPr>
              <a:t>与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x2</a:t>
            </a:r>
            <a:r>
              <a:rPr lang="zh-CN" altLang="en-US" b="1" dirty="0">
                <a:solidFill>
                  <a:srgbClr val="007D17"/>
                </a:solidFill>
                <a:latin typeface="Consolas" panose="020B0609020204030204" pitchFamily="49" charset="0"/>
              </a:rPr>
              <a:t>不相等。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83" y="5085184"/>
            <a:ext cx="7743825" cy="1266825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116013" y="1052736"/>
            <a:ext cx="3239963" cy="504602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3.1.3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实型数据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659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6"/>
            <a:ext cx="3672011" cy="541114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3.1.4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字符型数据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576580" y="1697355"/>
            <a:ext cx="8304530" cy="4752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4857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字符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常量</a:t>
            </a:r>
          </a:p>
          <a:p>
            <a:pPr marL="0" marR="0" lvl="0" indent="4857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857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）字符常量的定义</a:t>
            </a:r>
          </a:p>
          <a:p>
            <a:pPr marL="0" marR="0" lvl="0" indent="4857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用一对单引号括起来的单个字符，称为字符常量。</a:t>
            </a:r>
          </a:p>
          <a:p>
            <a:pPr marL="0" marR="0" lvl="0" indent="4857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例如，‘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A’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、‘１’、‘＋’等。</a:t>
            </a:r>
          </a:p>
          <a:p>
            <a:pPr marL="0" marR="0" lvl="0" indent="4857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857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）转义字符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(P42)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857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Ｃ语言还允许使用一种特殊形式的字符常量，就是  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857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以反斜杠“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\ ”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开头的转义字符。</a:t>
            </a:r>
            <a:b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</a:b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857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注意：如果反斜杠或单、双引号本身作为字符常量，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4857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必须使用转义字符：‘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\\’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、‘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\’’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 ‘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\”’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5FEBEF-90AF-4406-A7BA-7F02814B266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8CE6D6-44B7-4F0E-8816-D5238F43882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71944" y="4218234"/>
            <a:ext cx="7191375" cy="1752600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6"/>
            <a:ext cx="3672011" cy="541114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3.1.4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字符型数据</a:t>
            </a:r>
          </a:p>
        </p:txBody>
      </p:sp>
      <p:sp>
        <p:nvSpPr>
          <p:cNvPr id="2" name="矩形 1"/>
          <p:cNvSpPr/>
          <p:nvPr/>
        </p:nvSpPr>
        <p:spPr>
          <a:xfrm>
            <a:off x="1259632" y="1637106"/>
            <a:ext cx="74888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kern="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[</a:t>
            </a:r>
            <a:r>
              <a:rPr lang="zh-CN" altLang="en-US" b="1" kern="0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b="1" kern="0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3.3</a:t>
            </a:r>
            <a:r>
              <a:rPr lang="en-US" altLang="zh-CN" kern="0" dirty="0" smtClean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] </a:t>
            </a:r>
            <a:r>
              <a:rPr lang="zh-CN" altLang="en-US" kern="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转义字符</a:t>
            </a:r>
            <a:endParaRPr lang="en-US" altLang="zh-CN" kern="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dirty="0" smtClean="0">
                <a:solidFill>
                  <a:srgbClr val="1F542E"/>
                </a:solidFill>
                <a:latin typeface="Consolas" panose="020B0609020204030204" pitchFamily="49" charset="0"/>
              </a:rPr>
              <a:t>#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\x4F\x4B\x21\n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i="1" dirty="0">
                <a:solidFill>
                  <a:srgbClr val="336600"/>
                </a:solidFill>
                <a:latin typeface="Consolas" panose="020B0609020204030204" pitchFamily="49" charset="0"/>
              </a:rPr>
              <a:t>/*</a:t>
            </a:r>
            <a:r>
              <a:rPr lang="en-US" altLang="zh-CN" dirty="0">
                <a:solidFill>
                  <a:srgbClr val="336600"/>
                </a:solidFill>
                <a:latin typeface="Consolas" panose="020B0609020204030204" pitchFamily="49" charset="0"/>
              </a:rPr>
              <a:t> </a:t>
            </a:r>
            <a:r>
              <a:rPr lang="zh-CN" altLang="en-US" i="1" dirty="0">
                <a:solidFill>
                  <a:srgbClr val="336600"/>
                </a:solidFill>
                <a:latin typeface="Consolas" panose="020B0609020204030204" pitchFamily="49" charset="0"/>
              </a:rPr>
              <a:t>等价于</a:t>
            </a:r>
            <a:r>
              <a:rPr lang="en-US" altLang="zh-CN" i="1" dirty="0" err="1">
                <a:solidFill>
                  <a:srgbClr val="336600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i="1" dirty="0">
                <a:solidFill>
                  <a:srgbClr val="336600"/>
                </a:solidFill>
                <a:latin typeface="Consolas" panose="020B0609020204030204" pitchFamily="49" charset="0"/>
              </a:rPr>
              <a:t>(“OK!\n”);*/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/>
            </a:r>
            <a:b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\x40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xAB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i="1" dirty="0">
                <a:solidFill>
                  <a:srgbClr val="336600"/>
                </a:solidFill>
                <a:latin typeface="Consolas" panose="020B0609020204030204" pitchFamily="49" charset="0"/>
              </a:rPr>
              <a:t>/*</a:t>
            </a:r>
            <a:r>
              <a:rPr lang="en-US" altLang="zh-CN" dirty="0">
                <a:solidFill>
                  <a:srgbClr val="336600"/>
                </a:solidFill>
                <a:latin typeface="Consolas" panose="020B0609020204030204" pitchFamily="49" charset="0"/>
              </a:rPr>
              <a:t> </a:t>
            </a:r>
            <a:r>
              <a:rPr lang="zh-CN" altLang="en-US" i="1" dirty="0">
                <a:solidFill>
                  <a:srgbClr val="336600"/>
                </a:solidFill>
                <a:latin typeface="Consolas" panose="020B0609020204030204" pitchFamily="49" charset="0"/>
              </a:rPr>
              <a:t>此处</a:t>
            </a:r>
            <a:r>
              <a:rPr lang="en-US" altLang="zh-CN" i="1" dirty="0">
                <a:solidFill>
                  <a:srgbClr val="336600"/>
                </a:solidFill>
                <a:latin typeface="Consolas" panose="020B0609020204030204" pitchFamily="49" charset="0"/>
              </a:rPr>
              <a:t>x</a:t>
            </a:r>
            <a:r>
              <a:rPr lang="zh-CN" altLang="en-US" i="1" dirty="0">
                <a:solidFill>
                  <a:srgbClr val="336600"/>
                </a:solidFill>
                <a:latin typeface="Consolas" panose="020B0609020204030204" pitchFamily="49" charset="0"/>
              </a:rPr>
              <a:t>不能写成</a:t>
            </a:r>
            <a:r>
              <a:rPr lang="en-US" altLang="zh-CN" i="1" dirty="0">
                <a:solidFill>
                  <a:srgbClr val="3366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>
                <a:solidFill>
                  <a:srgbClr val="3366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i="1" dirty="0">
                <a:solidFill>
                  <a:srgbClr val="336600"/>
                </a:solidFill>
                <a:latin typeface="Consolas" panose="020B0609020204030204" pitchFamily="49" charset="0"/>
              </a:rPr>
              <a:t>*/</a:t>
            </a:r>
            <a:r>
              <a:rPr lang="en-US" altLang="zh-CN" dirty="0">
                <a:solidFill>
                  <a:srgbClr val="336600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3366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7"/>
          <p:cNvSpPr>
            <a:spLocks noGrp="1" noChangeArrowheads="1"/>
          </p:cNvSpPr>
          <p:nvPr>
            <p:ph idx="1"/>
          </p:nvPr>
        </p:nvSpPr>
        <p:spPr>
          <a:xfrm>
            <a:off x="612775" y="2001324"/>
            <a:ext cx="8351838" cy="44640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746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字符变量的类型关键字为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char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，一般占用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字节内存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单元。</a:t>
            </a:r>
          </a:p>
          <a:p>
            <a:pPr marL="0" marR="0" lvl="0" indent="574675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）变量值的存储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574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字符变量用来存储字符常量。将一个字符常量存储到一个字符变量中，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实际上是将该字符的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ASCII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码值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无符号整数）存储到内存单元中。</a:t>
            </a:r>
          </a:p>
          <a:p>
            <a:pPr marL="0" marR="0" lvl="0" indent="574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0" marR="0" lvl="0" indent="5746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/>
            </a:r>
            <a:b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</a:b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）特性</a:t>
            </a:r>
          </a:p>
          <a:p>
            <a:pPr marL="0" marR="0" lvl="0" indent="574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字符数据在内存中存储的是字符的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ASCII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码── 一个无符号整数，其形式与整数的存储形式一样，所以Ｃ语言允许字符型数据与整型数据之间通用。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C18719-F446-444F-8AD7-AB36E25D3CC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8622" y="1613526"/>
            <a:ext cx="2468946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574675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2.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字符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变量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6"/>
            <a:ext cx="3672011" cy="541114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3.1.4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字符型数据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3EA790-48BD-43D7-89D8-2C4AED96054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31577" y="1753404"/>
            <a:ext cx="828084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en-US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3.4</a:t>
            </a:r>
            <a:r>
              <a:rPr lang="en-US" altLang="zh-CN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] 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字符数据</a:t>
            </a:r>
            <a:endParaRPr lang="en-US" altLang="zh-CN" dirty="0" smtClean="0">
              <a:solidFill>
                <a:srgbClr val="1F542E"/>
              </a:solidFill>
              <a:latin typeface="Consolas" panose="020B0609020204030204" pitchFamily="49" charset="0"/>
            </a:endParaRPr>
          </a:p>
          <a:p>
            <a:r>
              <a:rPr lang="en-US" altLang="zh-CN" dirty="0" smtClean="0">
                <a:solidFill>
                  <a:srgbClr val="1F542E"/>
                </a:solidFill>
                <a:latin typeface="Consolas" panose="020B0609020204030204" pitchFamily="49" charset="0"/>
              </a:rPr>
              <a:t>#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ch1</a:t>
            </a:r>
            <a:r>
              <a:rPr lang="en-US" altLang="zh-CN" b="1" dirty="0" smtClean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‘a’</a:t>
            </a:r>
            <a:r>
              <a:rPr lang="en-US" altLang="zh-CN" b="1" dirty="0" smtClean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ch2</a:t>
            </a:r>
            <a:r>
              <a:rPr lang="en-US" altLang="zh-CN" b="1" dirty="0" smtClean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‘b’</a:t>
            </a:r>
            <a:r>
              <a:rPr lang="en-US" altLang="zh-CN" b="1" dirty="0" smtClean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/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 smtClean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smtClean="0">
                <a:solidFill>
                  <a:srgbClr val="007D17"/>
                </a:solidFill>
                <a:latin typeface="Consolas" panose="020B0609020204030204" pitchFamily="49" charset="0"/>
              </a:rPr>
              <a:t>“ch1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=%c,ch2=%</a:t>
            </a:r>
            <a:r>
              <a:rPr lang="en-US" altLang="zh-CN" b="1" dirty="0" smtClean="0">
                <a:solidFill>
                  <a:srgbClr val="007D17"/>
                </a:solidFill>
                <a:latin typeface="Consolas" panose="020B0609020204030204" pitchFamily="49" charset="0"/>
              </a:rPr>
              <a:t>c</a:t>
            </a:r>
            <a:r>
              <a:rPr lang="en-US" altLang="zh-CN" dirty="0" smtClean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 smtClean="0">
                <a:solidFill>
                  <a:srgbClr val="007D17"/>
                </a:solidFill>
                <a:latin typeface="Consolas" panose="020B0609020204030204" pitchFamily="49" charset="0"/>
              </a:rPr>
              <a:t>”</a:t>
            </a:r>
            <a:r>
              <a:rPr lang="en-US" altLang="zh-CN" b="1" dirty="0" smtClean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ch2</a:t>
            </a:r>
            <a:r>
              <a:rPr lang="en-US" altLang="zh-CN" b="1" dirty="0" smtClean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i="1" dirty="0">
                <a:solidFill>
                  <a:srgbClr val="336600"/>
                </a:solidFill>
                <a:latin typeface="Consolas" panose="020B0609020204030204" pitchFamily="49" charset="0"/>
              </a:rPr>
              <a:t>/*</a:t>
            </a:r>
            <a:r>
              <a:rPr lang="zh-CN" altLang="en-US" i="1" dirty="0">
                <a:solidFill>
                  <a:srgbClr val="336600"/>
                </a:solidFill>
                <a:latin typeface="Consolas" panose="020B0609020204030204" pitchFamily="49" charset="0"/>
              </a:rPr>
              <a:t>既可以字符形式输出    </a:t>
            </a:r>
            <a:endParaRPr lang="en-US" altLang="zh-CN" i="1" dirty="0">
              <a:solidFill>
                <a:srgbClr val="336600"/>
              </a:solidFill>
              <a:latin typeface="Consolas" panose="020B0609020204030204" pitchFamily="49" charset="0"/>
            </a:endParaRPr>
          </a:p>
          <a:p>
            <a:r>
              <a:rPr lang="en-US" altLang="zh-CN" i="1" dirty="0">
                <a:solidFill>
                  <a:srgbClr val="336600"/>
                </a:solidFill>
                <a:latin typeface="Consolas" panose="020B0609020204030204" pitchFamily="49" charset="0"/>
              </a:rPr>
              <a:t>                                       </a:t>
            </a:r>
            <a:r>
              <a:rPr lang="zh-CN" altLang="en-US" i="1" dirty="0" smtClean="0">
                <a:solidFill>
                  <a:srgbClr val="336600"/>
                </a:solidFill>
                <a:latin typeface="Consolas" panose="020B0609020204030204" pitchFamily="49" charset="0"/>
              </a:rPr>
              <a:t>也</a:t>
            </a:r>
            <a:r>
              <a:rPr lang="zh-CN" altLang="en-US" i="1" dirty="0">
                <a:solidFill>
                  <a:srgbClr val="336600"/>
                </a:solidFill>
                <a:latin typeface="Consolas" panose="020B0609020204030204" pitchFamily="49" charset="0"/>
              </a:rPr>
              <a:t>可以整数形式输出</a:t>
            </a:r>
            <a:r>
              <a:rPr lang="en-US" altLang="zh-CN" i="1" dirty="0">
                <a:solidFill>
                  <a:srgbClr val="336600"/>
                </a:solidFill>
                <a:latin typeface="Consolas" panose="020B0609020204030204" pitchFamily="49" charset="0"/>
              </a:rPr>
              <a:t>*/</a:t>
            </a:r>
            <a:br>
              <a:rPr lang="en-US" altLang="zh-CN" i="1" dirty="0">
                <a:solidFill>
                  <a:srgbClr val="3366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 smtClean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smtClean="0">
                <a:solidFill>
                  <a:srgbClr val="007D17"/>
                </a:solidFill>
                <a:latin typeface="Consolas" panose="020B0609020204030204" pitchFamily="49" charset="0"/>
              </a:rPr>
              <a:t>“ch1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=%d,ch2=%</a:t>
            </a:r>
            <a:r>
              <a:rPr lang="en-US" altLang="zh-CN" b="1" dirty="0" smtClean="0">
                <a:solidFill>
                  <a:srgbClr val="007D17"/>
                </a:solidFill>
                <a:latin typeface="Consolas" panose="020B0609020204030204" pitchFamily="49" charset="0"/>
              </a:rPr>
              <a:t>d</a:t>
            </a:r>
            <a:r>
              <a:rPr lang="en-US" altLang="zh-CN" dirty="0" smtClean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 smtClean="0">
                <a:solidFill>
                  <a:srgbClr val="007D17"/>
                </a:solidFill>
                <a:latin typeface="Consolas" panose="020B0609020204030204" pitchFamily="49" charset="0"/>
              </a:rPr>
              <a:t>”</a:t>
            </a:r>
            <a:r>
              <a:rPr lang="en-US" altLang="zh-CN" b="1" dirty="0" smtClean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ch2</a:t>
            </a:r>
            <a:r>
              <a:rPr lang="en-US" altLang="zh-CN" b="1" dirty="0" smtClean="0">
                <a:solidFill>
                  <a:srgbClr val="C10000"/>
                </a:solidFill>
                <a:latin typeface="Consolas" panose="020B0609020204030204" pitchFamily="49" charset="0"/>
              </a:rPr>
              <a:t>); 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/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 smtClean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smtClean="0">
                <a:solidFill>
                  <a:srgbClr val="007D17"/>
                </a:solidFill>
                <a:latin typeface="Consolas" panose="020B0609020204030204" pitchFamily="49" charset="0"/>
              </a:rPr>
              <a:t>“ch1+200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=%</a:t>
            </a:r>
            <a:r>
              <a:rPr lang="en-US" altLang="zh-CN" b="1" dirty="0" smtClean="0">
                <a:solidFill>
                  <a:srgbClr val="007D17"/>
                </a:solidFill>
                <a:latin typeface="Consolas" panose="020B0609020204030204" pitchFamily="49" charset="0"/>
              </a:rPr>
              <a:t>d</a:t>
            </a:r>
            <a:r>
              <a:rPr lang="en-US" altLang="zh-CN" dirty="0" smtClean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 smtClean="0">
                <a:solidFill>
                  <a:srgbClr val="007D17"/>
                </a:solidFill>
                <a:latin typeface="Consolas" panose="020B0609020204030204" pitchFamily="49" charset="0"/>
              </a:rPr>
              <a:t>”</a:t>
            </a:r>
            <a:r>
              <a:rPr lang="en-US" altLang="zh-CN" b="1" dirty="0" smtClean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200</a:t>
            </a:r>
            <a:r>
              <a:rPr lang="en-US" altLang="zh-CN" b="1" dirty="0" smtClean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i="1" dirty="0">
                <a:solidFill>
                  <a:srgbClr val="336600"/>
                </a:solidFill>
                <a:latin typeface="Consolas" panose="020B0609020204030204" pitchFamily="49" charset="0"/>
              </a:rPr>
              <a:t>/*</a:t>
            </a:r>
            <a:r>
              <a:rPr lang="zh-CN" altLang="en-US" i="1" dirty="0">
                <a:solidFill>
                  <a:srgbClr val="336600"/>
                </a:solidFill>
                <a:latin typeface="Consolas" panose="020B0609020204030204" pitchFamily="49" charset="0"/>
              </a:rPr>
              <a:t>允许对字符数据进行算术运算</a:t>
            </a:r>
            <a:r>
              <a:rPr lang="en-US" altLang="zh-CN" i="1" dirty="0">
                <a:solidFill>
                  <a:srgbClr val="336600"/>
                </a:solidFill>
                <a:latin typeface="Consolas" panose="020B0609020204030204" pitchFamily="49" charset="0"/>
              </a:rPr>
              <a:t>*/</a:t>
            </a:r>
            <a:br>
              <a:rPr lang="en-US" altLang="zh-CN" i="1" dirty="0">
                <a:solidFill>
                  <a:srgbClr val="3366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"ch1+200=%c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200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"ch1+256=%d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256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"ch1+256=%c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256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116013" y="1052736"/>
            <a:ext cx="3672011" cy="54111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华文新魏" panose="020108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华文新魏" panose="020108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华文新魏" panose="020108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华文新魏" panose="020108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华文新魏" panose="0201080004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华文新魏" panose="0201080004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华文新魏" panose="0201080004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80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3.1.4  </a:t>
            </a:r>
            <a:r>
              <a:rPr lang="zh-CN" altLang="en-US" sz="2800" b="1" kern="0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字符型数据</a:t>
            </a:r>
            <a:endParaRPr lang="zh-CN" altLang="en-US" sz="2800" b="1" kern="0" dirty="0">
              <a:solidFill>
                <a:schemeClr val="tx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7" y="3758005"/>
            <a:ext cx="7286625" cy="221932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EE1849-45F8-41B2-9347-2965C9BB87B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47664" y="1556792"/>
            <a:ext cx="486003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en-US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000" b="1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3.5</a:t>
            </a:r>
            <a:r>
              <a:rPr lang="en-US" altLang="zh-CN" sz="20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]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字符数据的算术运算</a:t>
            </a:r>
            <a:r>
              <a:rPr lang="en-US" altLang="zh-CN" dirty="0" smtClean="0">
                <a:solidFill>
                  <a:srgbClr val="1F542E"/>
                </a:solidFill>
                <a:latin typeface="Consolas" panose="020B0609020204030204" pitchFamily="49" charset="0"/>
              </a:rPr>
              <a:t>#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5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++){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getchar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'a'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&amp;&amp;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'z'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putchar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-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'a'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'A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else</a:t>
            </a:r>
            <a:b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putchar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80" y="4502398"/>
            <a:ext cx="4118506" cy="1495425"/>
          </a:xfrm>
          <a:prstGeom prst="rect">
            <a:avLst/>
          </a:prstGeom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736"/>
            <a:ext cx="3672011" cy="541114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3.1.4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字符型数据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1345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4662" y="1772816"/>
            <a:ext cx="8194675" cy="252028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778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字符串常量的概念和字符串长度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字符串常量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是用一对双引号括起来的若干字符序列。</a:t>
            </a:r>
          </a:p>
          <a:p>
            <a:pPr marL="0" marR="0" lvl="0" indent="5778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字符串中字符的个数称为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字符串长度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4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长度为</a:t>
            </a:r>
            <a:r>
              <a:rPr lang="en-US" altLang="zh-CN" sz="24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的字符串（即一个字符都没有的字符串）称为</a:t>
            </a:r>
            <a:endParaRPr lang="en-US" altLang="zh-CN" sz="24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4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空串，表示为“”（一对紧连的双引号）。</a:t>
            </a:r>
            <a:endParaRPr lang="en-US" altLang="zh-CN" sz="24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例如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How do you do.”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、“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Good morning.”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等，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都是字符串常量，其长度分别为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（空格也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是一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个字符）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6E3574-5A72-4323-A39F-B8D4DCC2AB3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43608" y="1052736"/>
            <a:ext cx="35285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3.1.5 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字符串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常量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4045" y="1556792"/>
            <a:ext cx="8134350" cy="427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778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lvl="0" indent="577850" eaLnBrk="1" hangingPunct="1">
              <a:lnSpc>
                <a:spcPct val="90000"/>
              </a:lnSpc>
              <a:buNone/>
              <a:defRPr/>
            </a:pPr>
            <a:r>
              <a:rPr lang="zh-CN" altLang="en-US" sz="24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如果反斜杠和双引号作为字符串中的有效字符，则必须</a:t>
            </a:r>
            <a:endParaRPr lang="en-US" altLang="zh-CN" sz="24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577850" eaLnBrk="1" hangingPunct="1">
              <a:lnSpc>
                <a:spcPct val="90000"/>
              </a:lnSpc>
              <a:buNone/>
              <a:defRPr/>
            </a:pPr>
            <a:r>
              <a:rPr lang="zh-CN" altLang="en-US" sz="24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使用转义字符。</a:t>
            </a:r>
          </a:p>
          <a:p>
            <a:pPr marL="0" lvl="0" indent="577850" eaLnBrk="1" hangingPunct="1">
              <a:lnSpc>
                <a:spcPct val="90000"/>
              </a:lnSpc>
              <a:buNone/>
              <a:defRPr/>
            </a:pPr>
            <a:endParaRPr lang="zh-CN" altLang="en-US" sz="1800" kern="12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5778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例如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577850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C:\msdos\v6.22  → "C:\\msdos\\v6.22"</a:t>
            </a:r>
            <a:b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</a:b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  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 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）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I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say:"Goodbye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!"  →  "I say:\"Goodbye!\""</a:t>
            </a: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5778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10"/>
          </p:nvPr>
        </p:nvSpPr>
        <p:spPr bwMode="auto"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58C90D0-AB03-45B4-BE6C-0147CFC37FD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43608" y="1052736"/>
            <a:ext cx="35285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3.1.5 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字符串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常量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600244"/>
            <a:ext cx="6985001" cy="36718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lvl="0" indent="577850" algn="just" eaLnBrk="1" hangingPunct="1">
              <a:lnSpc>
                <a:spcPct val="90000"/>
              </a:lnSpc>
              <a:buNone/>
              <a:defRPr/>
            </a:pPr>
            <a:r>
              <a:rPr lang="en-US" altLang="zh-CN" sz="2400" b="1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lang="zh-CN" altLang="en-US" sz="2400" b="1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字符串的存储</a:t>
            </a:r>
          </a:p>
          <a:p>
            <a:pPr marL="0" lvl="0" indent="577850" eaLnBrk="1" hangingPunct="1">
              <a:lnSpc>
                <a:spcPct val="90000"/>
              </a:lnSpc>
              <a:buNone/>
              <a:defRPr/>
            </a:pPr>
            <a:r>
              <a:rPr lang="en-US" altLang="zh-CN" sz="24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语言规定：在存储字符串常量时，由系统</a:t>
            </a:r>
            <a:r>
              <a:rPr lang="zh-CN" altLang="en-US" sz="24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endParaRPr lang="en-US" altLang="zh-CN" sz="2400" kern="1200" dirty="0" smtClean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577850" eaLnBrk="1" hangingPunct="1">
              <a:lnSpc>
                <a:spcPct val="90000"/>
              </a:lnSpc>
              <a:buNone/>
              <a:defRPr/>
            </a:pPr>
            <a:r>
              <a:rPr lang="zh-CN" altLang="en-US" sz="24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字符串的末尾</a:t>
            </a:r>
            <a:r>
              <a:rPr lang="zh-CN" altLang="en-US" sz="24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自动加一个</a:t>
            </a:r>
            <a:r>
              <a:rPr lang="zh-CN" altLang="en-US" sz="24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‘</a:t>
            </a:r>
            <a:r>
              <a:rPr lang="en-US" altLang="zh-CN" sz="24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\0’</a:t>
            </a:r>
            <a:r>
              <a:rPr lang="zh-CN" altLang="en-US" sz="24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作为字符串</a:t>
            </a:r>
            <a:r>
              <a:rPr lang="zh-CN" altLang="en-US" sz="24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endParaRPr lang="en-US" altLang="zh-CN" sz="2400" kern="12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577850" eaLnBrk="1" hangingPunct="1">
              <a:lnSpc>
                <a:spcPct val="90000"/>
              </a:lnSpc>
              <a:buNone/>
              <a:defRPr/>
            </a:pPr>
            <a:r>
              <a:rPr lang="zh-CN" altLang="en-US" sz="24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结束</a:t>
            </a:r>
            <a:r>
              <a:rPr lang="zh-CN" altLang="en-US" sz="24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标志</a:t>
            </a:r>
            <a:r>
              <a:rPr lang="zh-CN" altLang="en-US" sz="24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lvl="0" indent="577850" eaLnBrk="1" hangingPunct="1">
              <a:lnSpc>
                <a:spcPct val="90000"/>
              </a:lnSpc>
              <a:buNone/>
              <a:defRPr/>
            </a:pPr>
            <a:r>
              <a:rPr lang="zh-CN" altLang="en-US" sz="24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注意：</a:t>
            </a:r>
            <a:r>
              <a:rPr lang="zh-CN" altLang="en-US" sz="24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在源程序中书写字符串常量时，不必</a:t>
            </a:r>
            <a:r>
              <a:rPr lang="zh-CN" altLang="en-US" sz="24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加</a:t>
            </a:r>
            <a:endParaRPr lang="en-US" altLang="zh-CN" sz="2400" kern="1200" dirty="0" smtClean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577850" eaLnBrk="1" hangingPunct="1">
              <a:lnSpc>
                <a:spcPct val="90000"/>
              </a:lnSpc>
              <a:buNone/>
              <a:defRPr/>
            </a:pPr>
            <a:r>
              <a:rPr lang="zh-CN" altLang="en-US" sz="24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结束字符‘</a:t>
            </a:r>
            <a:r>
              <a:rPr lang="en-US" altLang="zh-CN" sz="24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\0’</a:t>
            </a:r>
            <a:r>
              <a:rPr lang="zh-CN" altLang="en-US" sz="24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，否则画蛇添足。 </a:t>
            </a:r>
            <a:r>
              <a:rPr lang="zh-CN" altLang="en-US" sz="24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/>
            </a:r>
            <a:br>
              <a:rPr lang="zh-CN" altLang="en-US" sz="24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字符串“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CHINA”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内存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中的实际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存储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如下：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最后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一个字符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'\0'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是系统自动加上的，它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占用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６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字节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而非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５字节内存空间。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6104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633084"/>
              </p:ext>
            </p:extLst>
          </p:nvPr>
        </p:nvGraphicFramePr>
        <p:xfrm>
          <a:off x="1894260" y="4873810"/>
          <a:ext cx="4419600" cy="42261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61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61" marB="457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T="45761" marB="457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marT="45761" marB="457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T="45761" marB="457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61" marB="457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marT="45761" marB="457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日期占位符 2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4D2C6A-DE55-43A0-8E45-76AE000294C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43608" y="1052736"/>
            <a:ext cx="35285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3.1.5 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字符串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常量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515" y="1863725"/>
            <a:ext cx="8749097" cy="46085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字符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常量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'A'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与字符串常量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"A"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是两回事：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）定界符不同：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字符常量使用单引号，而字符串常量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使用双引号；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）长度不同：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字符常量的长度固定为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，而字符串常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  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量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长度可以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，也可以是某个整数；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）存储要求不同：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字符常量存储的是字符的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ASCII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4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值，而字符串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常量，除了要存储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有效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4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字符外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，还要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存储一个结束标志’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\0’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DF63F3-BA54-47C4-824B-611D3281011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43608" y="1052736"/>
            <a:ext cx="35285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3.1.5 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字符串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常量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981075"/>
            <a:ext cx="77724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3.2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运算与表达式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773238"/>
            <a:ext cx="7772400" cy="4470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74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在Ｃ语言中，除控制语句和输入输出函数外，其它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所有基本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操作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都作为运算符处理。</a:t>
            </a:r>
          </a:p>
          <a:p>
            <a:pPr marL="0" marR="0" lvl="0" indent="5746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3.2.1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算术运算</a:t>
            </a:r>
            <a:b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（减法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取负）、*、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%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（求余数）</a:t>
            </a:r>
          </a:p>
          <a:p>
            <a:pPr marL="0" marR="0" lvl="0" indent="5746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）关于除法运算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</a:p>
          <a:p>
            <a:pPr marL="0" marR="0" lvl="0" indent="5746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语言规定：两个整数相除，其商为整数，小数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部分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被舍弃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    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例如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5 / 2 = 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b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</a:t>
            </a:r>
          </a:p>
          <a:p>
            <a:pPr marL="0" marR="0" lvl="0" indent="5746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）关于求余数运算％</a:t>
            </a:r>
          </a:p>
          <a:p>
            <a:pPr marL="0" marR="0" lvl="0" indent="5746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要求两侧的操作数均为整型数据，否则出错。</a:t>
            </a:r>
            <a:b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</a:b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B8FDCF-60B2-4216-A07F-1B4A6B3A4B9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884002"/>
            <a:ext cx="7696597" cy="46085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）表达式的概念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运算符和括号将运算对象（常量、变量和函数等）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连接起来的、符合Ｃ语言语法规则的式子，称为表达式。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单个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常量、变量或函数，可以看作是表达式的一种特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例。将单个常量、变量或函数构成的表达式称为简单表达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式，其它表达式称之为复杂表达式。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）算术表达式的概念</a:t>
            </a: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表达式中的运算符都是算术运算符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如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 + 6 * 9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x + y) / 2 - 1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等，都是算术表达式。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FBED68B-8AA7-4558-AF7D-21D2C1713BD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87624" y="1124744"/>
            <a:ext cx="4105275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3.2.2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表达式和算术表达式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387350" y="1851025"/>
            <a:ext cx="8001000" cy="43926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）Ｃ语言规定了运算符的优先级和结合性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(P49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表</a:t>
            </a: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3-2)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所谓结合性是指，当一个操作数两侧的运算符具有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相同的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优先级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时，该操作数是先与左边的运算符结合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，还是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先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右边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的运算符结合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先与左边的运算符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结合为左结合，否则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称为右结合。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结合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性是Ｃ语言的独有概念。除单目运算符、赋值运算符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条件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运算符是右结合性外，其它运算符都是左结合性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）表达式求值</a:t>
            </a: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）按运算符的优先级高低次序执行。例如，先乘除后加减。</a:t>
            </a: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1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00AA8A-EA41-40CF-82CC-69F4C8C4D57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87624" y="1124744"/>
            <a:ext cx="489585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3.2.3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运算符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的优先级与结合性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6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86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773238"/>
            <a:ext cx="7772400" cy="42783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）如果在一个运算对象（或称操作数）两侧的运算符的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优先级  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相同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，则按Ｃ语言规定的结合方向（结合性）进行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例如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，算术运算符的结合方向是“自左至右”，即：在执行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 – b + c”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时，变量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先与减号结合，执行“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 - b”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然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后再执行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加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的运算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int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a,b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=1,c=2;</a:t>
            </a: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a=b=c;</a:t>
            </a: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a=?</a:t>
            </a: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E1A9A1-FE76-4812-BE4D-D1678A5B174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87624" y="1124744"/>
            <a:ext cx="489585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3.2.3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运算符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的优先级与结合性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4"/>
          <p:cNvSpPr>
            <a:spLocks noChangeArrowheads="1"/>
          </p:cNvSpPr>
          <p:nvPr/>
        </p:nvSpPr>
        <p:spPr bwMode="auto">
          <a:xfrm>
            <a:off x="757238" y="1628800"/>
            <a:ext cx="8207375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336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9336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336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）在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9336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Ｃ语言中，整型、实型和字符型数据间可以混合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336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运算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993366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336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336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中的类型转换。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993366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如果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一个运算符两侧的操作数的数据类型不同，则系统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按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先转换、后运算”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的原则，首先将数据自动转换成同一类型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然后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在同一类型数据间进行运算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1767F6-1C2E-4C27-8806-8A9C0EE8DF8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64386" y="1052736"/>
            <a:ext cx="4824413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3.2.4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数据类型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转换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内容占位符 6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1619250" y="1066800"/>
            <a:ext cx="4897438" cy="3390900"/>
          </a:xfrm>
        </p:spPr>
      </p:pic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2ECA6E-2C09-4355-8EC3-508FCAF8BD7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5846" name="文本框 7"/>
          <p:cNvSpPr txBox="1"/>
          <p:nvPr/>
        </p:nvSpPr>
        <p:spPr>
          <a:xfrm>
            <a:off x="900113" y="4652963"/>
            <a:ext cx="7972425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574675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）横向向左的箭头，表示必须的转换。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char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short </a:t>
            </a:r>
          </a:p>
          <a:p>
            <a:pPr marL="0" lvl="0" indent="574675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型必须转换成 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int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型，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float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型必须转换成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double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型。                        </a:t>
            </a:r>
          </a:p>
          <a:p>
            <a:pPr marL="0" lvl="0" indent="574675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endParaRPr lang="zh-CN" altLang="en-US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574675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）纵向向上的箭头，表示不同类型的转换方向。       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628775"/>
            <a:ext cx="7700963" cy="38147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746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例如，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型与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double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型数据进行混合运算，则先将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型数据转换成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double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型，然后在两个同类型的数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据间进行运算，结果为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double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型。                     </a:t>
            </a:r>
          </a:p>
          <a:p>
            <a:pPr marL="0" marR="0" lvl="0" indent="5746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注意：箭头方向只表示数据类型由低向高转换，不要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理解为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型先转换成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unsigned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型，再转换成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long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型，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最后转换成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double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型。</a:t>
            </a:r>
          </a:p>
          <a:p>
            <a:pPr marL="0" marR="0" lvl="0" indent="5746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E1B87D-01A1-46D6-AA2D-918EE84BD97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64386" y="1052736"/>
            <a:ext cx="4824413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3.2.4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数据类型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转换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057B8F-A7C0-4FF4-B7EC-919A5BE91DD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76375" y="1621161"/>
            <a:ext cx="531033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例：隐含的数据类型转换</a:t>
            </a:r>
            <a:endParaRPr lang="en-US" altLang="zh-CN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dirty="0" smtClean="0">
                <a:solidFill>
                  <a:srgbClr val="1F542E"/>
                </a:solidFill>
                <a:latin typeface="Consolas" panose="020B0609020204030204" pitchFamily="49" charset="0"/>
              </a:rPr>
              <a:t>#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unsigned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uint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=-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if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uint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"-1</a:t>
            </a:r>
            <a:r>
              <a:rPr lang="zh-CN" altLang="en-US" b="1" dirty="0">
                <a:solidFill>
                  <a:srgbClr val="007D17"/>
                </a:solidFill>
                <a:latin typeface="Consolas" panose="020B0609020204030204" pitchFamily="49" charset="0"/>
              </a:rPr>
              <a:t>当然小于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0"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else</a:t>
            </a:r>
            <a:b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"-1</a:t>
            </a:r>
            <a:r>
              <a:rPr lang="zh-CN" altLang="en-US" b="1" dirty="0">
                <a:solidFill>
                  <a:srgbClr val="007D17"/>
                </a:solidFill>
                <a:latin typeface="Consolas" panose="020B0609020204030204" pitchFamily="49" charset="0"/>
              </a:rPr>
              <a:t>并不小于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0"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b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45" y="4868532"/>
            <a:ext cx="7286625" cy="15716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064386" y="1052736"/>
            <a:ext cx="4824413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3.2.4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数据类型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转换</a:t>
            </a:r>
          </a:p>
        </p:txBody>
      </p:sp>
    </p:spTree>
    <p:extLst>
      <p:ext uri="{BB962C8B-B14F-4D97-AF65-F5344CB8AC3E}">
        <p14:creationId xmlns:p14="http://schemas.microsoft.com/office/powerpoint/2010/main" val="429029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4406" y="2420889"/>
            <a:ext cx="8783320" cy="4273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746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数据类型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强制转换的一般格式为：</a:t>
            </a:r>
          </a:p>
          <a:p>
            <a:pPr marL="0" marR="0" lvl="0" indent="5746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要转换成的数据类型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)(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被转换的表达式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例如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(double)a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（等价于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(double)(a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))    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将变量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的值转换成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double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型*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(int)(x + y)   		    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x+y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的结果转换成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型*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(float)5 / 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（等价于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(float)(5)/2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                      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转换成实型，再除以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=2.5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）*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(float)(5 / 2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)   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整除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的结果（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）转换成实型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(2.0)*/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                                                            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1520" y="1892845"/>
            <a:ext cx="4572000" cy="3698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574675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9336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99336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9336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）Ｃ语言中的强制类型转换。</a:t>
            </a:r>
          </a:p>
        </p:txBody>
      </p:sp>
      <p:sp>
        <p:nvSpPr>
          <p:cNvPr id="9" name="矩形 8"/>
          <p:cNvSpPr/>
          <p:nvPr/>
        </p:nvSpPr>
        <p:spPr>
          <a:xfrm>
            <a:off x="1064386" y="1052736"/>
            <a:ext cx="4824413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3.2.4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数据类型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转换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1DE466-35E4-4F7E-8A86-2858526FD91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772816"/>
            <a:ext cx="8064896" cy="3984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4762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注意：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强制转换类型得到的是一个所需类型的中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间量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原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表达式类型并不发生变化。例如，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(double)a </a:t>
            </a:r>
          </a:p>
          <a:p>
            <a:pPr marL="0" marR="0" lvl="0" indent="4762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只是将变量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的值转换成一个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double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型的中间量，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762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的数据类型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并未转换成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double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型。</a:t>
            </a:r>
          </a:p>
          <a:p>
            <a:pPr marL="0" marR="0" lvl="0" indent="4762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lvl="0" indent="476250" algn="just" eaLnBrk="1" hangingPunct="1">
              <a:buNone/>
              <a:defRPr/>
            </a:pPr>
            <a:r>
              <a:rPr lang="zh-CN" altLang="en-US" sz="24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 如何</a:t>
            </a:r>
            <a:r>
              <a:rPr lang="zh-CN" altLang="en-US" sz="24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验证</a:t>
            </a:r>
            <a:r>
              <a:rPr lang="en-US" altLang="zh-CN" sz="24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0 1000 0011 0100 1000 0000 0000 000</a:t>
            </a:r>
            <a:r>
              <a:rPr lang="zh-CN" altLang="en-US" sz="24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</a:t>
            </a:r>
            <a:endParaRPr lang="en-US" altLang="zh-CN" sz="2400" kern="1200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476250" algn="just" eaLnBrk="1" hangingPunct="1">
              <a:buNone/>
              <a:defRPr/>
            </a:pPr>
            <a:r>
              <a:rPr lang="zh-CN" altLang="en-US" sz="24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照</a:t>
            </a:r>
            <a:r>
              <a:rPr lang="en-US" altLang="zh-CN" sz="24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IEEE754</a:t>
            </a:r>
            <a:r>
              <a:rPr lang="zh-CN" altLang="en-US" sz="24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表示的就是</a:t>
            </a:r>
            <a:r>
              <a:rPr lang="en-US" altLang="zh-CN" sz="24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20.5</a:t>
            </a:r>
            <a:r>
              <a:rPr lang="zh-CN" altLang="en-US" sz="24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en-US" altLang="zh-CN" sz="2400" kern="1200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476250" algn="just" eaLnBrk="1" hangingPunct="1">
              <a:buNone/>
              <a:defRPr/>
            </a:pPr>
            <a:r>
              <a:rPr lang="zh-CN" altLang="en-US" sz="24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</a:t>
            </a:r>
            <a:r>
              <a:rPr lang="zh-CN" altLang="en-US" sz="24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一个程序，思路</a:t>
            </a:r>
            <a:r>
              <a:rPr lang="zh-CN" altLang="en-US" sz="24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就是</a:t>
            </a:r>
            <a:r>
              <a:rPr lang="zh-CN" altLang="en-US" sz="24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想办法</a:t>
            </a:r>
            <a:r>
              <a:rPr lang="zh-CN" altLang="en-US" sz="24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endParaRPr lang="en-US" altLang="zh-CN" sz="2400" kern="1200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476250" algn="just" eaLnBrk="1" hangingPunct="1">
              <a:buNone/>
              <a:defRPr/>
            </a:pPr>
            <a:r>
              <a:rPr lang="en-US" altLang="zh-CN" sz="24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 </a:t>
            </a:r>
            <a:r>
              <a:rPr lang="en-US" altLang="zh-CN" sz="24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1000 0011 0100 1000 0000 0000 </a:t>
            </a:r>
            <a:r>
              <a:rPr lang="en-US" altLang="zh-CN" sz="24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000</a:t>
            </a:r>
          </a:p>
          <a:p>
            <a:pPr marL="0" lvl="0" indent="476250" algn="just" eaLnBrk="1" hangingPunct="1">
              <a:buNone/>
              <a:defRPr/>
            </a:pPr>
            <a:r>
              <a:rPr lang="zh-CN" altLang="en-US" sz="24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</a:t>
            </a:r>
            <a:r>
              <a:rPr lang="zh-CN" altLang="en-US" sz="24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到内存中，再以浮点数形式输出。</a:t>
            </a:r>
            <a:endParaRPr lang="en-US" altLang="zh-CN" sz="24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FDA75BC-7958-4103-AD63-45CC9E4319E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64386" y="1052736"/>
            <a:ext cx="4824413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3.2.4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数据类型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转换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057B8F-A7C0-4FF4-B7EC-919A5BE91DD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3568" y="1772816"/>
            <a:ext cx="741682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0 1000 0011 0100 1000 0000 0000 000 </a:t>
            </a:r>
            <a:r>
              <a:rPr lang="zh-CN" altLang="en-US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转换成</a:t>
            </a:r>
            <a:r>
              <a:rPr lang="en-US" altLang="zh-CN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进制整数，就是</a:t>
            </a:r>
            <a:r>
              <a:rPr lang="en-US" altLang="zh-CN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0x41a40000</a:t>
            </a:r>
            <a:r>
              <a:rPr lang="zh-CN" altLang="en-US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4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a.int </a:t>
            </a:r>
            <a:r>
              <a:rPr lang="en-US" altLang="zh-CN" sz="2400" dirty="0" err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=0x41a40000</a:t>
            </a:r>
            <a:r>
              <a:rPr lang="en-US" altLang="zh-CN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r>
              <a:rPr lang="zh-CN" altLang="en-US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把</a:t>
            </a:r>
            <a:r>
              <a:rPr lang="en-US" altLang="zh-CN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0x41a40000</a:t>
            </a:r>
            <a:r>
              <a:rPr lang="zh-CN" altLang="en-US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</a:t>
            </a:r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到整形变量</a:t>
            </a:r>
            <a:r>
              <a:rPr lang="en-US" altLang="zh-CN" sz="2400" dirty="0" err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</a:t>
            </a:r>
            <a:endParaRPr lang="zh-CN" altLang="en-US" sz="24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400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b.</a:t>
            </a:r>
            <a:r>
              <a:rPr lang="zh-CN" altLang="en-US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如何</a:t>
            </a:r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把整型变量</a:t>
            </a:r>
            <a:r>
              <a:rPr lang="en-US" altLang="zh-CN" sz="2400" dirty="0" err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</a:t>
            </a:r>
            <a:r>
              <a:rPr lang="zh-CN" altLang="en-US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0x41a40000</a:t>
            </a:r>
            <a:r>
              <a:rPr lang="zh-CN" altLang="en-US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</a:t>
            </a:r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浮点数的形式读出来？直接读是不行的，因此用</a:t>
            </a:r>
            <a:r>
              <a:rPr lang="zh-CN" altLang="en-US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了强制类型转换</a:t>
            </a:r>
            <a:endParaRPr lang="en-US" altLang="zh-CN" sz="2400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*</a:t>
            </a:r>
            <a:r>
              <a:rPr lang="en-US" altLang="zh-CN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float *)&amp;</a:t>
            </a:r>
            <a:r>
              <a:rPr lang="en-US" altLang="zh-CN" sz="2400" dirty="0" err="1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2400" dirty="0" err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</a:t>
            </a:r>
            <a:r>
              <a:rPr lang="zh-CN" altLang="en-US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0x41a40000</a:t>
            </a:r>
            <a:r>
              <a:rPr lang="zh-CN" altLang="en-US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按照</a:t>
            </a:r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单精度数的存储格式</a:t>
            </a:r>
            <a:r>
              <a:rPr lang="zh-CN" altLang="en-US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解释，</a:t>
            </a:r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也就是得到</a:t>
            </a:r>
            <a:r>
              <a:rPr lang="en-US" altLang="zh-CN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20.5</a:t>
            </a:r>
            <a:r>
              <a:rPr lang="zh-CN" altLang="en-US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400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源程序可</a:t>
            </a:r>
            <a:r>
              <a:rPr lang="zh-CN" altLang="en-US" sz="24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写</a:t>
            </a:r>
            <a:r>
              <a:rPr lang="zh-CN" altLang="en-US" sz="24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成：</a:t>
            </a:r>
            <a:endParaRPr lang="zh-CN" altLang="en-US" sz="24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64386" y="1052736"/>
            <a:ext cx="4824413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3.2.4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数据类型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转换</a:t>
            </a:r>
          </a:p>
        </p:txBody>
      </p:sp>
    </p:spTree>
    <p:extLst>
      <p:ext uri="{BB962C8B-B14F-4D97-AF65-F5344CB8AC3E}">
        <p14:creationId xmlns:p14="http://schemas.microsoft.com/office/powerpoint/2010/main" val="265792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057B8F-A7C0-4FF4-B7EC-919A5BE91DD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35696" y="1772816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20.5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0x41a40000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"%x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,*(</a:t>
            </a: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*)&amp;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"%f"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,*(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*)&amp;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64386" y="1052736"/>
            <a:ext cx="4824413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3.2.4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数据类型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转换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2" y="4340845"/>
            <a:ext cx="7267575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4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2525" y="1055688"/>
            <a:ext cx="7772400" cy="5334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3.2.5  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赋值运算与赋值表达式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1684338"/>
            <a:ext cx="8385175" cy="518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485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赋值运算</a:t>
            </a:r>
          </a:p>
          <a:p>
            <a:pPr marL="0" marR="0" lvl="0" indent="485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赋值符号“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=”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就是赋值运算符，它的作用是将一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个表达式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85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值赋给一个变量。</a:t>
            </a:r>
          </a:p>
          <a:p>
            <a:pPr marL="0" marR="0" lvl="0" indent="485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赋值运算符的一般形式为： 变量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=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赋值表达式 </a:t>
            </a:r>
          </a:p>
          <a:p>
            <a:pPr marL="0" marR="0" lvl="0" indent="485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例如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x = 5     y = (float)5 / 2 </a:t>
            </a:r>
          </a:p>
          <a:p>
            <a:pPr marL="0" marR="0" lvl="0" indent="485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85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如果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表达式值的类型，与被赋值变量的类型不一致，但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85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都是数值型或字符型时，系统自动地将表达式的值转换成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85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被赋值变量的数据类型，然后再赋值给变量。</a:t>
            </a:r>
          </a:p>
          <a:p>
            <a:pPr marL="0" marR="0" lvl="0" indent="485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/>
            </a:r>
            <a:b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思考题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：假设变量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的数据类型为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float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，其值为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2.5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85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则执行“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= (int)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后，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的值等于多少？</a:t>
            </a: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9D7FA5-024A-4111-A36D-CABA5BDD679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idx="1"/>
          </p:nvPr>
        </p:nvSpPr>
        <p:spPr>
          <a:xfrm>
            <a:off x="647701" y="2464479"/>
            <a:ext cx="7848600" cy="4060866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485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复合赋值运算符是由赋值运算符之前再加一个双目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运算符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857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构成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的，一般格式为： </a:t>
            </a: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变量  双目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运算符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=  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表达式 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└─┬─┘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复合赋值运算符</a:t>
            </a: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它等价于：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变量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=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变量 双目运算符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表达式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当表达式为简单表达式时，表达式外的一对圆括号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才可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缺省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否则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可能出错。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646CFEB-E706-4FC5-AAB3-B748643AF33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59285" y="1772816"/>
            <a:ext cx="2841625" cy="4238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4857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复合赋值运算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2525" y="1055688"/>
            <a:ext cx="7772400" cy="533400"/>
          </a:xfrm>
        </p:spPr>
        <p:txBody>
          <a:bodyPr vert="horz" wrap="square" lIns="91440" tIns="45720" rIns="91440" bIns="45720" numCol="1" anchor="b" anchorCtr="0" compatLnSpc="1"/>
          <a:lstStyle/>
          <a:p>
            <a:pPr eaLnBrk="1" hangingPunct="1"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3.2.5  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赋值运算与赋值表达式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8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8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48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8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29600" cy="31670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例如，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x += 3     	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/*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等价于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x=x+3 */</a:t>
            </a: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y *= x + 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6    /*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等价于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y=y*(x+6)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，而不是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y=y*x+6 */</a:t>
            </a: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语言规定的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种复合赋值运算符如下：</a:t>
            </a:r>
          </a:p>
          <a:p>
            <a:pPr marL="0" marR="0" lvl="0" indent="574675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+=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-=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，*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/=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%=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；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复合算术运算符（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个）*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</a:p>
          <a:p>
            <a:pPr marL="0" marR="0" lvl="0" indent="574675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&amp;=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^=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|=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&lt;&lt;=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&gt;&gt;=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复合位运算符（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个）*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</a:p>
          <a:p>
            <a:pPr marL="0" marR="0" lvl="0" indent="4857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2520EE-5536-43CE-883A-DEE320BE20E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2525" y="1055688"/>
            <a:ext cx="7772400" cy="533400"/>
          </a:xfrm>
        </p:spPr>
        <p:txBody>
          <a:bodyPr vert="horz" wrap="square" lIns="91440" tIns="45720" rIns="91440" bIns="45720" numCol="1" anchor="b" anchorCtr="0" compatLnSpc="1"/>
          <a:lstStyle/>
          <a:p>
            <a:pPr eaLnBrk="1" hangingPunct="1"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3.2.5  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赋值运算与赋值表达式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992313"/>
            <a:ext cx="7772400" cy="47021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74675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由赋值运算符或复合赋值运算符，将一个变量和一个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表达式连接起来的表达式，称为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赋值表达式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）一般格式</a:t>
            </a:r>
          </a:p>
          <a:p>
            <a:pPr marL="0" marR="0" lvl="0" indent="574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      变量  （复合）赋值运算符  表达式</a:t>
            </a:r>
          </a:p>
          <a:p>
            <a:pPr marL="0" marR="0" lvl="0" indent="574675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赋值表达式的值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任何一个表达式都有一个值，赋值表达式也不例外。 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被赋值变量的值，就是赋值表达式的值。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例如，“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 = 5”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这个赋值表达式，变量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的值“５”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就是它的值。</a:t>
            </a:r>
          </a:p>
          <a:p>
            <a:pPr marL="0" marR="0" lvl="0" indent="574675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A7A656D-31E0-468C-B3C9-F0067C59CFD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95536" y="1792288"/>
            <a:ext cx="3629025" cy="3873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574675" algn="just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赋值表达式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2525" y="1055688"/>
            <a:ext cx="7772400" cy="533400"/>
          </a:xfrm>
        </p:spPr>
        <p:txBody>
          <a:bodyPr vert="horz" wrap="square" lIns="91440" tIns="45720" rIns="91440" bIns="45720" numCol="1" anchor="b" anchorCtr="0" compatLnSpc="1"/>
          <a:lstStyle/>
          <a:p>
            <a:pPr eaLnBrk="1" hangingPunct="1"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3.2.5  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赋值运算与赋值表达式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8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8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8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8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0463" y="995363"/>
            <a:ext cx="77724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3.2.6  </a:t>
            </a:r>
            <a:r>
              <a:rPr lang="en-US" altLang="zh-CN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C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语言特有的运算和运算符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85725" y="2924175"/>
            <a:ext cx="7772400" cy="45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746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用法与运算</a:t>
            </a:r>
            <a:r>
              <a:rPr kumimoji="0" lang="zh-CN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规则（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自增、自减运算符都有两种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用法）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/>
            </a:r>
            <a:b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</a:b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</a:p>
        </p:txBody>
      </p:sp>
      <p:sp>
        <p:nvSpPr>
          <p:cNvPr id="6" name="日期占位符 5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FAAC37-03C3-4B9C-8DAD-74B0D00466C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979488" y="1716088"/>
            <a:ext cx="777557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自增（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++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）、自减（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--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）运算</a:t>
            </a:r>
            <a:b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</a:b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9775" y="3422650"/>
            <a:ext cx="7848600" cy="1323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000" kern="0" cap="none" spc="0" normalizeH="0" baseline="0" noProof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000" kern="0" cap="none" spc="0" normalizeH="0" baseline="0" noProof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000" kern="0" cap="none" spc="0" normalizeH="0" baseline="0" noProof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kumimoji="0" lang="zh-CN" altLang="en-US" sz="2000" b="1" kern="0" cap="none" spc="0" normalizeH="0" baseline="0" noProof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前置运算</a:t>
            </a:r>
            <a:r>
              <a:rPr kumimoji="0" lang="en-US" altLang="zh-CN" sz="2000" b="1" kern="0" cap="none" spc="0" normalizeH="0" baseline="0" noProof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sz="2000" kern="0" cap="none" spc="0" normalizeH="0" baseline="0" noProof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运算符放在变量之前</a:t>
            </a:r>
            <a:r>
              <a:rPr kumimoji="0" lang="zh-CN" altLang="en-US" sz="2000" kern="0" cap="none" spc="0" normalizeH="0" baseline="0" noProof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：＋＋变量、－－变量先使变量的值增（或减）１，然后再以变化后的值参与其它运算，即</a:t>
            </a:r>
            <a:r>
              <a:rPr kumimoji="0" lang="zh-CN" altLang="en-US" sz="2000" b="1" kern="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先增减、后运算</a:t>
            </a:r>
            <a:r>
              <a:rPr kumimoji="0" lang="zh-CN" altLang="en-US" sz="2000" kern="0" cap="none" spc="0" normalizeH="0" baseline="0" noProof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br>
              <a:rPr kumimoji="0" lang="zh-CN" altLang="en-US" sz="2000" kern="0" cap="none" spc="0" normalizeH="0" baseline="0" noProof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kumimoji="0" lang="zh-CN" altLang="en-US" sz="2000" kern="0" cap="none" spc="0" normalizeH="0" baseline="0" noProof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endParaRPr kumimoji="0" lang="zh-CN" altLang="en-US" sz="2000" kern="1200" cap="none" spc="0" normalizeH="0" baseline="0" noProof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5650" y="2162175"/>
            <a:ext cx="7405688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作用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/>
            </a:r>
            <a:b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增运算使单个变量的值增１，自减运算使单个变量的值减１。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00088" y="4556125"/>
            <a:ext cx="8080375" cy="1016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000" kern="0" cap="none" spc="0" normalizeH="0" baseline="0" noProof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000" kern="0" cap="none" spc="0" normalizeH="0" baseline="0" noProof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000" kern="0" cap="none" spc="0" normalizeH="0" baseline="0" noProof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）后置运算</a:t>
            </a:r>
            <a:r>
              <a:rPr kumimoji="0" lang="en-US" altLang="zh-CN" sz="2000" kern="0" cap="none" spc="0" normalizeH="0" baseline="0" noProof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sz="2000" kern="0" cap="none" spc="0" normalizeH="0" baseline="0" noProof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运算符放在变量之后</a:t>
            </a:r>
            <a:r>
              <a:rPr kumimoji="0" lang="zh-CN" altLang="en-US" sz="2000" kern="0" cap="none" spc="0" normalizeH="0" baseline="0" noProof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：变量＋＋、变量－－ 先使变量</a:t>
            </a:r>
            <a:endParaRPr kumimoji="0" lang="en-US" altLang="zh-CN" sz="2000" kern="0" cap="none" spc="0" normalizeH="0" baseline="0" noProof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000" kern="0" cap="none" spc="0" normalizeH="0" baseline="0" noProof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参与其它运算，然后再使变量的值增（或减），即</a:t>
            </a:r>
            <a:r>
              <a:rPr kumimoji="0" lang="zh-CN" altLang="en-US" sz="2000" b="1" kern="0" cap="none" spc="0" normalizeH="0" baseline="0" noProof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先运算、后增减</a:t>
            </a:r>
            <a:r>
              <a:rPr kumimoji="0" lang="zh-CN" altLang="en-US" sz="2000" kern="0" cap="none" spc="0" normalizeH="0" baseline="0" noProof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br>
              <a:rPr kumimoji="0" lang="zh-CN" altLang="en-US" sz="2000" kern="0" cap="none" spc="0" normalizeH="0" baseline="0" noProof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endParaRPr kumimoji="0" lang="zh-CN" altLang="en-US" sz="2000" kern="1200" cap="none" spc="0" normalizeH="0" baseline="0" noProof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BFBA3A1-70A1-4C02-98D9-9C4DF1FFB99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64386" y="1772816"/>
            <a:ext cx="746805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3.6] 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自增、自减运算符的用法与运算规则示例</a:t>
            </a:r>
            <a:r>
              <a:rPr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endParaRPr lang="en-US" altLang="zh-CN" kern="0" dirty="0" smtClean="0">
              <a:solidFill>
                <a:srgbClr val="FF0000"/>
              </a:solidFill>
            </a:endParaRPr>
          </a:p>
          <a:p>
            <a:r>
              <a:rPr lang="en-US" altLang="zh-CN" kern="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/*</a:t>
            </a:r>
            <a:r>
              <a:rPr lang="zh-CN" altLang="en-US" kern="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程序功能：自增、自减运算符的用法与运算规则示例*</a:t>
            </a:r>
            <a:r>
              <a:rPr lang="en-US" altLang="zh-CN" kern="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</a:p>
          <a:p>
            <a:endParaRPr lang="en-US" altLang="zh-CN" dirty="0">
              <a:solidFill>
                <a:srgbClr val="1F542E"/>
              </a:solidFill>
              <a:latin typeface="Consolas" panose="020B0609020204030204" pitchFamily="49" charset="0"/>
            </a:endParaRPr>
          </a:p>
          <a:p>
            <a:r>
              <a:rPr lang="en-US" altLang="zh-CN" dirty="0" smtClean="0">
                <a:solidFill>
                  <a:srgbClr val="1F542E"/>
                </a:solidFill>
                <a:latin typeface="Consolas" panose="020B0609020204030204" pitchFamily="49" charset="0"/>
              </a:rPr>
              <a:t>#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6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"x=%d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       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输出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的初值*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</a:t>
            </a:r>
            <a:b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++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                 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前置运算*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</a:t>
            </a:r>
            <a:b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"y=++x: x=%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d,y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=%d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--;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                  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后置运算*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</a:t>
            </a:r>
            <a:b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"y=x--: x=%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d,y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=%d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214996" y="957001"/>
            <a:ext cx="77724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3.2.6  </a:t>
            </a:r>
            <a:r>
              <a:rPr lang="en-US" altLang="zh-CN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C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语言特有的运算和运算符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4170363"/>
            <a:ext cx="8229600" cy="187191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574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思考题：如果将案例“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y=++x;”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语句中的前置运算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改为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后置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y=x++;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），“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y=x--;”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语句中的后置运算改为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前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置（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y=--x;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），程序运行结果会如何？</a:t>
            </a:r>
          </a:p>
          <a:p>
            <a:pPr marL="0" marR="0" lvl="0" indent="5746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8120DE-1E71-43BA-B35C-261A471B20E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0463" y="995363"/>
            <a:ext cx="77724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eaLnBrk="1" hangingPunct="1"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3.2.6  </a:t>
            </a:r>
            <a:r>
              <a:rPr lang="en-US" altLang="zh-CN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C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语言特有的运算和运算符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48" y="1982788"/>
            <a:ext cx="7715250" cy="1809750"/>
          </a:xfrm>
          <a:prstGeom prst="rect">
            <a:avLst/>
          </a:prstGeom>
        </p:spPr>
      </p:pic>
      <p:sp>
        <p:nvSpPr>
          <p:cNvPr id="7" name="页脚占位符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477838" y="1700213"/>
            <a:ext cx="7924800" cy="46815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说明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）自增、自减运算，常用于循环语句中，使循环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控制变量加（或减）１，以及指针变量中，使指针指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向下（或上）一个地址。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）自增、自减运算符，不能用于常量和表达式。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例如，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5++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--(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a+b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等都是非法的。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）在表达式中，连续使同一变量进行自增或自减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运算时，很容易出错，所以最好避免这种用法。</a:t>
            </a:r>
          </a:p>
          <a:p>
            <a:pPr marL="0" marR="0" lvl="0" indent="574675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467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E8A1A99-27C8-4D44-BBC5-A8F41B0DFDC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0463" y="995363"/>
            <a:ext cx="77724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3.2.6  </a:t>
            </a:r>
            <a:r>
              <a:rPr lang="en-US" altLang="zh-CN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C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语言特有的运算和运算符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627063" y="1844675"/>
            <a:ext cx="7772400" cy="45370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Ｃ语言提供一种用逗号运算符“，”连接起来的式子，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称为逗号表达式。逗号运算符又称顺序求值运算符。</a:t>
            </a: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一般形式</a:t>
            </a: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表达式１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表达式２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, ……,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表达式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求解过程</a:t>
            </a: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自左至右，依次计算各表达式的值，“表达式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n”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值即为整个逗号表达式的值。</a:t>
            </a: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例如，逗号表达式“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 = 3 * 5, a * 4”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的值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=60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：先求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 = 3 * 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，得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a=15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；再求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 * 4 = 60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，所以逗号表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达式的值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=60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0C8454-E79C-47A0-B67A-DED31496402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62000" y="1125538"/>
            <a:ext cx="5826125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3.2.7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逗号运算（，）及其表达式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99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99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99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 noChangeArrowheads="1"/>
          </p:cNvSpPr>
          <p:nvPr>
            <p:ph idx="1"/>
          </p:nvPr>
        </p:nvSpPr>
        <p:spPr>
          <a:xfrm>
            <a:off x="735013" y="2205038"/>
            <a:ext cx="8229600" cy="33131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又例如，逗号表达式“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(a = 3 * 5, a * 4), a + 5”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的值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=20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先求解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 = 3 * 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，得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a=15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；再求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 * 4=60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；最后求解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 + 5=20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所以逗号表达式的值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=20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注意：并不是任何地方出现的逗号，都是逗号运算符。很多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情况下，逗号仅用作分隔符。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日期占位符 4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A3EDE61-E069-420D-A96B-6F1B3758DE1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62000" y="1125538"/>
            <a:ext cx="5826125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3.2.7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逗号运算（，）及其表达式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09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9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11333" y="1270794"/>
            <a:ext cx="7489825" cy="3794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3.2.8  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关系运算及其表达式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287338" y="1773238"/>
            <a:ext cx="8569325" cy="46085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indent="577850" eaLnBrk="1" hangingPunct="1">
              <a:lnSpc>
                <a:spcPct val="80000"/>
              </a:lnSpc>
              <a:buNone/>
            </a:pP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所谓“关系运算”实际上就是“比较运算”，即将两个数据进行</a:t>
            </a:r>
            <a:endParaRPr lang="en-US" altLang="zh-CN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eaLnBrk="1" hangingPunct="1">
              <a:lnSpc>
                <a:spcPct val="80000"/>
              </a:lnSpc>
              <a:buNone/>
            </a:pP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比较，判定两个数据是否符合给定的关系。</a:t>
            </a:r>
            <a:endParaRPr lang="en-US" altLang="zh-CN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eaLnBrk="1" hangingPunct="1">
              <a:lnSpc>
                <a:spcPct val="80000"/>
              </a:lnSpc>
              <a:buNone/>
            </a:pPr>
            <a:endParaRPr lang="en-US" altLang="zh-CN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eaLnBrk="1" hangingPunct="1">
              <a:lnSpc>
                <a:spcPct val="80000"/>
              </a:lnSpc>
              <a:buNone/>
            </a:pP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例如，“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 &gt; b”</a:t>
            </a:r>
            <a:r>
              <a:rPr 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如果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的值是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的值是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，则大于关系运算“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&gt;”</a:t>
            </a:r>
          </a:p>
          <a:p>
            <a:pPr marL="0" indent="577850" eaLnBrk="1" hangingPunct="1">
              <a:lnSpc>
                <a:spcPct val="80000"/>
              </a:lnSpc>
              <a:buNone/>
            </a:pP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的结果为“真”，即条件成立；如果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的值是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的值是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，则大于关</a:t>
            </a:r>
          </a:p>
          <a:p>
            <a:pPr marL="0" indent="577850" eaLnBrk="1" hangingPunct="1">
              <a:lnSpc>
                <a:spcPct val="80000"/>
              </a:lnSpc>
              <a:buNone/>
            </a:pP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系运算“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&gt;”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的结果为“假”，即条件不成立。</a:t>
            </a:r>
          </a:p>
          <a:p>
            <a:pPr marL="0" indent="577850" eaLnBrk="1" hangingPunct="1">
              <a:lnSpc>
                <a:spcPct val="80000"/>
              </a:lnSpc>
              <a:buNone/>
            </a:pP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/>
            </a:r>
            <a:b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关系运算符及其优先次序</a:t>
            </a:r>
          </a:p>
          <a:p>
            <a:pPr marL="0" indent="577850" eaLnBrk="1" hangingPunct="1">
              <a:lnSpc>
                <a:spcPct val="80000"/>
              </a:lnSpc>
              <a:buNone/>
            </a:pPr>
            <a:r>
              <a:rPr lang="en-US" altLang="zh-CN" sz="20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）关系运算符</a:t>
            </a:r>
          </a:p>
          <a:p>
            <a:pPr marL="0" indent="577850" eaLnBrk="1" hangingPunct="1">
              <a:lnSpc>
                <a:spcPct val="80000"/>
              </a:lnSpc>
              <a:buNone/>
            </a:pPr>
            <a:endParaRPr lang="en-US" altLang="zh-CN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eaLnBrk="1" hangingPunct="1">
              <a:lnSpc>
                <a:spcPct val="80000"/>
              </a:lnSpc>
              <a:buNone/>
            </a:pP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语言提供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种关系运算符：</a:t>
            </a:r>
          </a:p>
          <a:p>
            <a:pPr marL="0" indent="577850" eaLnBrk="1" hangingPunct="1">
              <a:lnSpc>
                <a:spcPct val="80000"/>
              </a:lnSpc>
              <a:buNone/>
            </a:pPr>
            <a:r>
              <a:rPr lang="en-US" altLang="zh-CN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&lt;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小于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), </a:t>
            </a:r>
            <a:r>
              <a:rPr lang="en-US" altLang="zh-CN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&lt;=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小于或等于</a:t>
            </a:r>
            <a:r>
              <a:rPr lang="en-US" altLang="zh-CN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),  </a:t>
            </a:r>
            <a:r>
              <a:rPr lang="en-US" altLang="zh-CN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&gt;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大于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),</a:t>
            </a:r>
            <a:r>
              <a:rPr lang="en-US" altLang="zh-CN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&gt;=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大于或等于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), </a:t>
            </a:r>
          </a:p>
          <a:p>
            <a:pPr marL="0" indent="577850" eaLnBrk="1" hangingPunct="1">
              <a:lnSpc>
                <a:spcPct val="80000"/>
              </a:lnSpc>
              <a:buNone/>
            </a:pPr>
            <a:r>
              <a:rPr lang="en-US" altLang="zh-CN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==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等于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),              </a:t>
            </a:r>
            <a:r>
              <a:rPr lang="en-US" altLang="zh-CN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!=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不等于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344426-CEB1-40B2-ADB6-E3A2CCDFA29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466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157163" y="1844675"/>
            <a:ext cx="8231188" cy="46085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778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  <a:p>
            <a:pPr marL="0" marR="0" lvl="0" indent="28892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lang="en-US" altLang="zh-CN" sz="20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）优先级</a:t>
            </a:r>
          </a:p>
          <a:p>
            <a:pPr marL="0" marR="0" lvl="0" indent="28892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（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）在关系运算符中，前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个优先级相同，后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个也相同，</a:t>
            </a:r>
            <a:endParaRPr lang="en-US" altLang="zh-CN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28892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且前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个高于后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个。</a:t>
            </a:r>
          </a:p>
          <a:p>
            <a:pPr marL="0" marR="0" lvl="0" indent="28892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（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）与其它种类运算符的优先级关系</a:t>
            </a:r>
            <a:endParaRPr lang="en-US" altLang="zh-CN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28892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关系运算符的优先级低于算术运算符，但高于赋值运算符。</a:t>
            </a:r>
          </a:p>
          <a:p>
            <a:pPr marL="0" marR="0" lvl="0" indent="28892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lang="zh-CN" altLang="en-US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28892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关系表达式</a:t>
            </a:r>
          </a:p>
          <a:p>
            <a:pPr marL="0" marR="0" lvl="0" indent="28892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000" kern="1200" dirty="0" smtClean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 smtClean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）关系</a:t>
            </a:r>
            <a:r>
              <a:rPr lang="zh-CN" altLang="en-US" sz="20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表达式的概念</a:t>
            </a:r>
          </a:p>
          <a:p>
            <a:pPr marL="0" marR="0" lvl="0" indent="28892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所谓关系表达式是指，用关系运算符将两个表达式连接起来，</a:t>
            </a:r>
            <a:endParaRPr lang="en-US" altLang="zh-CN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28892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进行关系运算的式子。</a:t>
            </a: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C51756-A0BF-41F1-8316-103E22AAF5A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11333" y="1270794"/>
            <a:ext cx="7489825" cy="3794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3.2.8  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关系运算及其表达式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6556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628775"/>
            <a:ext cx="8207375" cy="48244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28892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例如，下面的关系表达式都是合法的：</a:t>
            </a:r>
          </a:p>
          <a:p>
            <a:pPr marL="0" marR="0" lvl="0" indent="28892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a&gt;b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kern="1200" dirty="0" err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a+b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&gt;c-d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(a=3)&lt;=(b=5)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'a'&gt;='b'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(a&gt;b)= =(b&gt;c)</a:t>
            </a:r>
          </a:p>
          <a:p>
            <a:pPr marL="0" marR="0" lvl="0" indent="28892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</a:p>
          <a:p>
            <a:pPr marL="0" marR="0" lvl="0" indent="28892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）关系表达式的值</a:t>
            </a:r>
            <a:r>
              <a:rPr lang="en-US" altLang="zh-CN" sz="20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000" kern="1200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逻辑值（非“真”即“假”）。</a:t>
            </a:r>
          </a:p>
          <a:p>
            <a:pPr marL="0" marR="0" lvl="0" indent="28892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由于Ｃ语言没有逻辑型数据，所以用整数“１”表示“逻辑真”，</a:t>
            </a:r>
            <a:endParaRPr lang="en-US" altLang="zh-CN" sz="2000" kern="1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288925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用整数</a:t>
            </a:r>
            <a:r>
              <a:rPr lang="zh-CN" altLang="en-US" sz="20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en-US" altLang="zh-CN" sz="20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表示“逻辑假”。</a:t>
            </a:r>
            <a:endParaRPr lang="en-US" altLang="zh-CN" sz="2000" kern="1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lang="en-US" altLang="zh-CN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例如，假设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num1=3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num2=4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num3=5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，则：</a:t>
            </a: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（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num1&gt;num2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=0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（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(num1&gt;num2)!=num3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=1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（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num1&lt;num2&lt;num3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=1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sz="2000" kern="1200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思考题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：任意改变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num1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num2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的值，会影响整个表达式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</a:t>
            </a: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的值吗？为什么？</a:t>
            </a: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2EA3DAF-29CD-4056-BF38-3497AC73C73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11333" y="1270794"/>
            <a:ext cx="7489825" cy="3794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3.2.8  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关系运算及其表达式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320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FCAF97B-C718-45D9-8F09-556AB003DC5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8913" y="1916113"/>
            <a:ext cx="8578850" cy="240065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(num1&lt;num2)+num3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=6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，因为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num1&lt;num2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=1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1+5=6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endParaRPr lang="en-US" altLang="zh-CN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再次强调：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语言用整数“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1”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表示“逻辑真”，用整数“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0”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表示</a:t>
            </a:r>
            <a:endParaRPr lang="en-US" altLang="zh-CN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“逻辑假”。所以，关系表达式的值，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还可以参与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其它种类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的运算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例如算术运算、逻辑运算等。</a:t>
            </a:r>
          </a:p>
          <a:p>
            <a:pPr marL="0" marR="0" lvl="0" indent="3746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Tx/>
              <a:buNone/>
              <a:defRPr/>
            </a:pPr>
            <a:endParaRPr lang="zh-CN" altLang="en-US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3746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Tx/>
              <a:buNone/>
              <a:defRPr/>
            </a:pPr>
            <a:endParaRPr lang="en-US" altLang="zh-CN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11333" y="1270794"/>
            <a:ext cx="7489825" cy="3794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3.2.8  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关系运算及其表达式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648000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1152525"/>
            <a:ext cx="7489825" cy="3794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3.2.9   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逻辑运算及其表达式</a:t>
            </a:r>
          </a:p>
        </p:txBody>
      </p:sp>
      <p:sp>
        <p:nvSpPr>
          <p:cNvPr id="7171" name="Rectangle 3"/>
          <p:cNvSpPr>
            <a:spLocks noGrp="1"/>
          </p:cNvSpPr>
          <p:nvPr>
            <p:ph idx="1"/>
          </p:nvPr>
        </p:nvSpPr>
        <p:spPr>
          <a:xfrm>
            <a:off x="615950" y="1628775"/>
            <a:ext cx="7772400" cy="4419600"/>
          </a:xfrm>
        </p:spPr>
        <p:txBody>
          <a:bodyPr vert="horz" wrap="square" lIns="91440" tIns="45720" rIns="91440" bIns="45720" anchor="t" anchorCtr="0"/>
          <a:lstStyle/>
          <a:p>
            <a:pPr marL="0" indent="577850" eaLnBrk="1" hangingPunct="1">
              <a:buNone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关系表达式只能描述单一条件，例如“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x&gt;=0”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。如果需要描述“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x&gt;=0”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、同时“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x&lt;10”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，就要借助于逻辑表达式了。</a:t>
            </a:r>
            <a:b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</a:t>
            </a:r>
          </a:p>
          <a:p>
            <a:pPr marL="0" indent="577850" eaLnBrk="1" hangingPunct="1">
              <a:buNone/>
            </a:pP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逻辑运算</a:t>
            </a:r>
            <a:endParaRPr lang="zh-CN" altLang="en-US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eaLnBrk="1" hangingPunct="1">
              <a:buNone/>
            </a:pPr>
            <a:r>
              <a:rPr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１）逻辑运算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符及其运算规则</a:t>
            </a:r>
          </a:p>
          <a:p>
            <a:pPr marL="0" indent="577850" eaLnBrk="1" hangingPunct="1">
              <a:buNone/>
            </a:pPr>
            <a:r>
              <a:rPr lang="zh-CN" altLang="en-US" sz="2000" kern="1200" dirty="0">
                <a:solidFill>
                  <a:srgbClr val="99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kern="1200" dirty="0">
                <a:solidFill>
                  <a:srgbClr val="99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solidFill>
                  <a:srgbClr val="99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kern="1200" dirty="0">
                <a:solidFill>
                  <a:srgbClr val="99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000" kern="1200" dirty="0">
                <a:solidFill>
                  <a:srgbClr val="99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语言提供三种逻辑运算符：</a:t>
            </a:r>
          </a:p>
          <a:p>
            <a:pPr marL="0" indent="577850" eaLnBrk="1" hangingPunct="1">
              <a:buNone/>
            </a:pP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&amp;&amp;  	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逻辑与（相当于“同时”）</a:t>
            </a:r>
          </a:p>
          <a:p>
            <a:pPr marL="0" indent="577850" eaLnBrk="1" hangingPunct="1">
              <a:buNone/>
            </a:pP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||	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逻辑或（相当于“或者”）</a:t>
            </a:r>
          </a:p>
          <a:p>
            <a:pPr marL="0" indent="577850" eaLnBrk="1" hangingPunct="1">
              <a:buNone/>
            </a:pP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!	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逻辑非（相当于“否定”）</a:t>
            </a:r>
            <a:endParaRPr lang="en-US" altLang="zh-CN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eaLnBrk="1" hangingPunct="1">
              <a:lnSpc>
                <a:spcPct val="90000"/>
              </a:lnSpc>
              <a:buNone/>
            </a:pPr>
            <a:endParaRPr lang="en-US" altLang="zh-CN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577850" eaLnBrk="1" hangingPunct="1">
              <a:lnSpc>
                <a:spcPct val="90000"/>
              </a:lnSpc>
              <a:buNone/>
            </a:pP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例如，下面的表达式都是逻辑表达式：</a:t>
            </a: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(x&gt;=0) &amp;&amp; (x&lt;10) 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(x&lt;1) || (x&gt;5)  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! (x= =0)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	 </a:t>
            </a:r>
          </a:p>
          <a:p>
            <a:pPr marL="0" indent="577850" algn="just" eaLnBrk="1" hangingPunct="1">
              <a:lnSpc>
                <a:spcPct val="90000"/>
              </a:lnSpc>
              <a:buNone/>
            </a:pP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(year%4==0)&amp;&amp;(year%100!=0)||(year%400==0) </a:t>
            </a:r>
          </a:p>
          <a:p>
            <a:pPr marL="0" indent="577850" eaLnBrk="1" hangingPunct="1">
              <a:buNone/>
            </a:pPr>
            <a:endParaRPr lang="zh-CN" altLang="en-US" sz="2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148A1CC-E26F-487F-BA53-D323CA63099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4113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12875"/>
            <a:ext cx="7772400" cy="4968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kern="1200" dirty="0">
                <a:solidFill>
                  <a:srgbClr val="99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kern="1200" dirty="0">
                <a:solidFill>
                  <a:srgbClr val="99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kern="1200" dirty="0">
                <a:solidFill>
                  <a:srgbClr val="99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）运算规则</a:t>
            </a: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&amp;&amp; 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当且仅当两个运算量的值都为“真”时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000" kern="1200" dirty="0" smtClean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运算结果为“真”，否则为“假”。</a:t>
            </a: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||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：当且仅当两个运算量的值都为“假”时，运</a:t>
            </a: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算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结果为“假”，否则为“真”。</a:t>
            </a: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! 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：当运算量的值为“真”时，运算结果为</a:t>
            </a: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“假”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；当运算量的值为“假”时，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运算结</a:t>
            </a:r>
            <a:endParaRPr lang="en-US" altLang="zh-CN" sz="2000" kern="1200" dirty="0" smtClean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果为“真”。</a:t>
            </a: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例如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，假定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x==5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，则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(x&gt;=0) &amp;&amp; (x&lt;10)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的值为“真”，     </a:t>
            </a: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5778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(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x&lt;-1) || (x&gt;5)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的值为“假”。</a:t>
            </a: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ADEFF97-13E5-46B6-8698-D0009467A495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1152525"/>
            <a:ext cx="7489825" cy="3794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3.2.9   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逻辑运算及其表达式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88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/>
          </p:cNvSpPr>
          <p:nvPr>
            <p:ph idx="1"/>
          </p:nvPr>
        </p:nvSpPr>
        <p:spPr>
          <a:xfrm>
            <a:off x="762744" y="2128076"/>
            <a:ext cx="8229600" cy="4464050"/>
          </a:xfrm>
        </p:spPr>
        <p:txBody>
          <a:bodyPr vert="horz" wrap="square" lIns="91440" tIns="45720" rIns="91440" bIns="45720" anchor="t" anchorCtr="0"/>
          <a:lstStyle/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）！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（非）  →  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&amp;&amp;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（与） → 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||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或）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2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）与其它种类运算符的优先关系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！→ 算术运算 → 关系运算 → 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&amp;&amp;→ || →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赋值运算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zh-CN" altLang="en-US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逻辑表达式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）逻辑表达式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的概念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所谓逻辑表达式是指，用逻辑运算符将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个或多个表达式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连接</a:t>
            </a:r>
            <a:endParaRPr lang="en-US" altLang="zh-CN" sz="2000" kern="1200" dirty="0" smtClean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起来，进行逻辑运算的式子。</a:t>
            </a: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000" kern="1200" dirty="0" smtClean="0">
                <a:solidFill>
                  <a:srgbClr val="99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000" kern="1200" dirty="0">
                <a:solidFill>
                  <a:srgbClr val="99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000" kern="1200" dirty="0">
                <a:solidFill>
                  <a:srgbClr val="9933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语言中，用逻辑表达式表示多个条件的组合。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例如，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(year%4==0)&amp;&amp;(year%100!=0)||(year%400==0)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就是一个</a:t>
            </a: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判断一个年份是否是闰年的逻辑表达式。</a:t>
            </a: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A206D15-EB02-4A3F-A521-6DB0CD61727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77309" y="1700808"/>
            <a:ext cx="3476625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lang="en-US" altLang="zh-CN" sz="20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．逻辑运算符的运算优先级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1152525"/>
            <a:ext cx="7489825" cy="3794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3.2.9   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逻辑运算及其表达式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819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>
          <a:xfrm>
            <a:off x="445638" y="2301875"/>
            <a:ext cx="8280400" cy="43926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indent="374650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4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</a:t>
            </a:r>
            <a:r>
              <a:rPr lang="zh-CN" altLang="en-US" sz="24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量的真假判定</a:t>
            </a:r>
            <a:r>
              <a:rPr lang="zh-CN" altLang="en-US" sz="24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──</a:t>
            </a:r>
            <a:r>
              <a:rPr lang="en-US" altLang="zh-CN" sz="24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和非</a:t>
            </a:r>
            <a:r>
              <a:rPr lang="en-US" altLang="zh-CN" sz="24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zh-CN" altLang="en-US" sz="2400" kern="1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indent="374650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en-US" altLang="zh-CN" sz="2000" kern="1200" dirty="0" smtClean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indent="374650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kern="1200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Ｃ语言用整数“１”</a:t>
            </a:r>
            <a:r>
              <a:rPr lang="zh-CN" altLang="en-US" sz="20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表示</a:t>
            </a:r>
            <a:r>
              <a:rPr lang="zh-CN" altLang="en-US" sz="2000" kern="1200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“逻辑真”、用“</a:t>
            </a:r>
            <a:r>
              <a:rPr lang="en-US" altLang="zh-CN" sz="2000" kern="1200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kern="1200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”表示“逻辑假”。</a:t>
            </a:r>
            <a:endParaRPr lang="en-US" altLang="zh-CN" sz="2000" kern="1200" dirty="0" smtClean="0">
              <a:solidFill>
                <a:srgbClr val="7030A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indent="374650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2000" kern="12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kern="1200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kern="1200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但</a:t>
            </a:r>
            <a:r>
              <a:rPr lang="zh-CN" altLang="en-US" sz="2000" kern="12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zh-CN" altLang="en-US" sz="2000" kern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判断</a:t>
            </a:r>
            <a:r>
              <a:rPr lang="zh-CN" altLang="en-US" sz="2000" kern="12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一个数据的“真”或“假”时</a:t>
            </a:r>
            <a:r>
              <a:rPr lang="zh-CN" altLang="en-US" sz="2000" kern="1200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，如果为</a:t>
            </a:r>
            <a:r>
              <a:rPr lang="en-US" altLang="zh-CN" sz="2000" kern="1200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kern="1200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000" kern="12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则判定为“</a:t>
            </a:r>
            <a:r>
              <a:rPr lang="zh-CN" altLang="en-US" sz="2000" kern="1200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</a:t>
            </a:r>
            <a:endParaRPr lang="en-US" altLang="zh-CN" sz="2000" kern="1200" dirty="0" smtClean="0">
              <a:solidFill>
                <a:srgbClr val="7030A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indent="374650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2000" kern="12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kern="1200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kern="1200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辑</a:t>
            </a:r>
            <a:r>
              <a:rPr lang="zh-CN" altLang="en-US" sz="2000" kern="12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假”；如果为</a:t>
            </a:r>
            <a:r>
              <a:rPr lang="zh-CN" altLang="en-US" sz="2000" kern="1200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</a:t>
            </a:r>
            <a:r>
              <a:rPr lang="en-US" altLang="zh-CN" sz="2000" kern="1200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kern="1200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000" kern="12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则判定</a:t>
            </a:r>
            <a:r>
              <a:rPr lang="zh-CN" altLang="en-US" sz="2000" kern="1200" dirty="0" smtClean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为“逻辑真”</a:t>
            </a:r>
            <a:r>
              <a:rPr lang="zh-CN" altLang="en-US" sz="2000" kern="12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kern="1200" dirty="0">
              <a:solidFill>
                <a:srgbClr val="7030A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indent="374650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lang="en-US" altLang="zh-CN" sz="2000" kern="1200" dirty="0" smtClean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indent="374650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例如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，假设</a:t>
            </a:r>
            <a:r>
              <a:rPr lang="en-US" altLang="zh-CN" sz="2000" kern="1200" dirty="0" err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=12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，则：  ！</a:t>
            </a:r>
            <a:r>
              <a:rPr lang="en-US" altLang="zh-CN" sz="2000" kern="1200" dirty="0" err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</a:t>
            </a: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=0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indent="374650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000" kern="1200" dirty="0" err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&gt;=1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＆＆ </a:t>
            </a:r>
            <a:r>
              <a:rPr lang="en-US" altLang="zh-CN" sz="2000" kern="1200" dirty="0" err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&lt;=31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１ ，</a:t>
            </a:r>
            <a:r>
              <a:rPr lang="en-US" altLang="zh-CN" sz="2000" kern="1200" dirty="0" err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|| </a:t>
            </a:r>
            <a:r>
              <a:rPr lang="en-US" altLang="zh-CN" sz="2000" kern="1200" dirty="0" err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num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&gt;31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=1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marR="0" indent="374650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endParaRPr lang="zh-CN" altLang="en-US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indent="374650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．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说明</a:t>
            </a:r>
          </a:p>
          <a:p>
            <a:pPr marL="0" marR="0" indent="374650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（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）逻辑运算符两侧的操作数，除可以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和非</a:t>
            </a: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整数</a:t>
            </a: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indent="374650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外，也可以是其它任何类型的数据，如实型、字符型等。</a:t>
            </a:r>
          </a:p>
          <a:p>
            <a:pPr marL="0" marR="0" indent="374650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A7958E3-7C67-49C7-BB27-7DE104555DB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4342" name="矩形 1"/>
          <p:cNvSpPr/>
          <p:nvPr/>
        </p:nvSpPr>
        <p:spPr>
          <a:xfrm>
            <a:off x="611560" y="1844824"/>
            <a:ext cx="6840537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374650"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0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b="1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0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逻辑表达式</a:t>
            </a:r>
            <a:r>
              <a:rPr lang="zh-CN" altLang="en-US" sz="20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的值也是一个</a:t>
            </a:r>
            <a:r>
              <a:rPr lang="zh-CN" altLang="en-US" sz="20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逻辑值。</a:t>
            </a:r>
            <a:endParaRPr lang="zh-CN" altLang="en-US" sz="20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1231845"/>
            <a:ext cx="7489825" cy="3794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3.2.9   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逻辑运算及其表达式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318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0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0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2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2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2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2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xfrm>
            <a:off x="539750" y="1557338"/>
            <a:ext cx="8215313" cy="4824412"/>
          </a:xfrm>
        </p:spPr>
        <p:txBody>
          <a:bodyPr vert="horz" wrap="square" lIns="91440" tIns="45720" rIns="91440" bIns="45720" anchor="t" anchorCtr="0"/>
          <a:lstStyle/>
          <a:p>
            <a:pPr marL="0" indent="288925" algn="just" eaLnBrk="1" hangingPunct="1">
              <a:buNone/>
            </a:pPr>
            <a:r>
              <a:rPr lang="en-US" altLang="zh-CN" dirty="0"/>
              <a:t>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）在计算逻辑表达式时，只有在必须执行下一个表达式才能</a:t>
            </a: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buNone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求解时，才求解该表达式：</a:t>
            </a:r>
          </a:p>
          <a:p>
            <a:pPr marL="0" indent="288925" algn="just" eaLnBrk="1" hangingPunct="1">
              <a:buNone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buNone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1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）对于逻辑与运算，如果第一个操作数被判定为“假”，</a:t>
            </a: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buNone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不再判定或求解第二操作数。</a:t>
            </a:r>
          </a:p>
          <a:p>
            <a:pPr marL="0" indent="288925" algn="just" eaLnBrk="1" hangingPunct="1">
              <a:buNone/>
            </a:pPr>
            <a:endParaRPr lang="zh-CN" altLang="en-US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buNone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）对于逻辑或运算，如果第一个操作数被判定为“真”，</a:t>
            </a: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buNone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不再判定或求解第二操作数。</a:t>
            </a:r>
          </a:p>
          <a:p>
            <a:pPr marL="0" indent="288925" algn="just" eaLnBrk="1" hangingPunct="1">
              <a:buNone/>
            </a:pPr>
            <a:endParaRPr lang="zh-CN" altLang="en-US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buNone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例如，假设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n1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n2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n3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n4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的值分别为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buNone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4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，则求解表达式“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(x=n1&gt;n2)&amp;&amp;(y=n3&gt;n4)”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后，</a:t>
            </a: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buNone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x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变为</a:t>
            </a:r>
            <a:r>
              <a:rPr lang="en-US" altLang="zh-CN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而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的值不变，仍等于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！</a:t>
            </a:r>
          </a:p>
          <a:p>
            <a:pPr marL="0" indent="288925" algn="just" eaLnBrk="1" hangingPunct="1">
              <a:buNone/>
            </a:pPr>
            <a:endParaRPr lang="zh-CN" altLang="en-US" sz="2400" dirty="0"/>
          </a:p>
          <a:p>
            <a:pPr marL="0" indent="288925" algn="just" eaLnBrk="1" hangingPunct="1">
              <a:buNone/>
            </a:pPr>
            <a:endParaRPr lang="zh-CN" altLang="en-US" dirty="0"/>
          </a:p>
          <a:p>
            <a:pPr marL="0" indent="288925" algn="just" eaLnBrk="1" hangingPunct="1">
              <a:buNone/>
            </a:pPr>
            <a:endParaRPr lang="en-US" altLang="zh-CN" b="1" dirty="0"/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BCE17E-3B1A-42CF-B526-6CABC71679AF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1152525"/>
            <a:ext cx="7489825" cy="3794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3.2.9   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逻辑运算及其表达式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36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1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12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12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/>
          </p:cNvSpPr>
          <p:nvPr>
            <p:ph idx="1"/>
          </p:nvPr>
        </p:nvSpPr>
        <p:spPr>
          <a:xfrm>
            <a:off x="368300" y="2133600"/>
            <a:ext cx="8389938" cy="4248150"/>
          </a:xfrm>
        </p:spPr>
        <p:txBody>
          <a:bodyPr vert="horz" wrap="square" lIns="91440" tIns="45720" rIns="91440" bIns="45720" anchor="t" anchorCtr="0"/>
          <a:lstStyle/>
          <a:p>
            <a:pPr marL="0" indent="288925" algn="just" eaLnBrk="1" hangingPunct="1">
              <a:lnSpc>
                <a:spcPct val="90000"/>
              </a:lnSpc>
              <a:buNone/>
            </a:pPr>
            <a:r>
              <a:rPr lang="zh-CN" altLang="en-US" sz="2800" dirty="0"/>
              <a:t>   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）一般格式： 表达式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？表达式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：表达式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</a:p>
          <a:p>
            <a:pPr marL="0" indent="288925" algn="just" eaLnBrk="1" hangingPunct="1">
              <a:lnSpc>
                <a:spcPct val="90000"/>
              </a:lnSpc>
              <a:buNone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条件表达式中的“表达式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1”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、“表达式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2”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、“表达式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3”</a:t>
            </a:r>
          </a:p>
          <a:p>
            <a:pPr marL="0" indent="288925" algn="just" eaLnBrk="1" hangingPunct="1">
              <a:lnSpc>
                <a:spcPct val="90000"/>
              </a:lnSpc>
              <a:buNone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的类型，可以各不相同。</a:t>
            </a:r>
          </a:p>
          <a:p>
            <a:pPr marL="0" indent="288925" algn="just" eaLnBrk="1" hangingPunct="1">
              <a:lnSpc>
                <a:spcPct val="90000"/>
              </a:lnSpc>
              <a:buNone/>
            </a:pPr>
            <a:endParaRPr lang="zh-CN" altLang="en-US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lnSpc>
                <a:spcPct val="90000"/>
              </a:lnSpc>
              <a:buNone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）运算规则                                                              </a:t>
            </a:r>
          </a:p>
          <a:p>
            <a:pPr marL="0" indent="288925" algn="just" eaLnBrk="1" hangingPunct="1">
              <a:lnSpc>
                <a:spcPct val="90000"/>
              </a:lnSpc>
              <a:buNone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如果“表达式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1”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的值为非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0(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即逻辑真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 则运算结果等于</a:t>
            </a: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lnSpc>
                <a:spcPct val="90000"/>
              </a:lnSpc>
              <a:buNone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“表达式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2”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的值；否则，运算结果等于“表达式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3”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的值。</a:t>
            </a:r>
          </a:p>
          <a:p>
            <a:pPr marL="0" indent="288925" algn="just" eaLnBrk="1" hangingPunct="1">
              <a:lnSpc>
                <a:spcPct val="90000"/>
              </a:lnSpc>
              <a:buNone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</a:p>
          <a:p>
            <a:pPr marL="0" indent="288925" algn="just" eaLnBrk="1" hangingPunct="1">
              <a:lnSpc>
                <a:spcPct val="90000"/>
              </a:lnSpc>
              <a:buNone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）运算符的优先级与结合性                                  </a:t>
            </a:r>
          </a:p>
          <a:p>
            <a:pPr marL="0" indent="288925" algn="just" eaLnBrk="1" hangingPunct="1">
              <a:lnSpc>
                <a:spcPct val="90000"/>
              </a:lnSpc>
              <a:buNone/>
            </a:pP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条件运算符的优先级，高于赋值运算符，但低于关系运算</a:t>
            </a:r>
            <a:endParaRPr lang="en-US" altLang="zh-CN" sz="2000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lnSpc>
                <a:spcPct val="90000"/>
              </a:lnSpc>
              <a:buNone/>
            </a:pPr>
            <a:r>
              <a:rPr lang="en-US" altLang="zh-CN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000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符和算术运算符。其结合性为“从右到左”（即右结合性）。</a:t>
            </a:r>
          </a:p>
          <a:p>
            <a:pPr marL="0" indent="288925" algn="just" eaLnBrk="1" hangingPunct="1">
              <a:lnSpc>
                <a:spcPct val="90000"/>
              </a:lnSpc>
              <a:buNone/>
            </a:pPr>
            <a:r>
              <a:rPr lang="zh-CN" altLang="en-US" sz="2800" dirty="0"/>
              <a:t>                                              </a:t>
            </a:r>
          </a:p>
        </p:txBody>
      </p:sp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9C34E7-4D21-4325-AD58-A73BC71F627D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42988" y="1679575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0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条件运算符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513"/>
            <a:ext cx="7489825" cy="4556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3.2.10   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条件运算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682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2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25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 txBox="1">
            <a:spLocks noGrp="1"/>
          </p:cNvSpPr>
          <p:nvPr>
            <p:ph type="dt" sz="half" idx="2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41685DC-95D9-4EE2-B82F-AAD1232E295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51620" y="1628800"/>
            <a:ext cx="6840760" cy="347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374650" algn="just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[</a:t>
            </a:r>
            <a:r>
              <a:rPr lang="zh-CN" altLang="en-US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3.7] 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从键盘上输入一个字符，如果它是大写字母，</a:t>
            </a:r>
            <a:endParaRPr lang="en-US" altLang="zh-CN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 indent="374650" algn="just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则把它转换成小写字母输出；否则，直接输出。</a:t>
            </a:r>
          </a:p>
          <a:p>
            <a:endParaRPr lang="en-US" altLang="zh-CN" dirty="0" smtClean="0">
              <a:solidFill>
                <a:srgbClr val="1F542E"/>
              </a:solidFill>
              <a:latin typeface="Consolas" panose="020B0609020204030204" pitchFamily="49" charset="0"/>
            </a:endParaRPr>
          </a:p>
          <a:p>
            <a:r>
              <a:rPr lang="en-US" altLang="zh-CN" dirty="0" smtClean="0">
                <a:solidFill>
                  <a:srgbClr val="1F542E"/>
                </a:solidFill>
                <a:latin typeface="Consolas" panose="020B0609020204030204" pitchFamily="49" charset="0"/>
              </a:rPr>
              <a:t>#</a:t>
            </a: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b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"Input a character: 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"%c"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,&amp;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'A'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&amp;&amp;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'Z'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?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32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ch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=%c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sz="1800" dirty="0">
              <a:solidFill>
                <a:srgbClr val="E7E7E7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052513"/>
            <a:ext cx="7489825" cy="45561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kern="1200" dirty="0" smtClean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3.2.10   </a:t>
            </a:r>
            <a:r>
              <a:rPr lang="zh-CN" altLang="en-US" sz="2400" b="1" kern="1200" dirty="0">
                <a:solidFill>
                  <a:schemeClr val="tx2">
                    <a:lumMod val="75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条件运算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95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02ADC34-9FD0-4A70-84CD-E5DDAEA4C0C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方正姚体" panose="02010601030101010101" pitchFamily="2" charset="-122"/>
                <a:cs typeface="+mn-cs"/>
              </a:rPr>
              <a:t>2025/9/24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36541" y="1124744"/>
            <a:ext cx="5826125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577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3.2.10 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表达式的副作用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735013" y="2205038"/>
            <a:ext cx="8229600" cy="3313113"/>
          </a:xfrm>
        </p:spPr>
        <p:txBody>
          <a:bodyPr vert="horz" wrap="square" lIns="91440" tIns="45720" rIns="91440" bIns="45720" numCol="1" anchor="t" anchorCtr="0" compatLnSpc="1"/>
          <a:lstStyle/>
          <a:p>
            <a:pPr lvl="0" algn="just" eaLnBrk="1" hangingPunct="1"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1.C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语言没有指定同一个运算符中多个操作数的计算顺序，如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 algn="just" eaLnBrk="1" hangingPunct="1"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 “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f=(</a:t>
            </a:r>
            <a:r>
              <a:rPr kumimoji="0" lang="en-US" altLang="zh-CN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a+b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)*(a=d)”,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并不保证先算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2000" kern="1200" dirty="0" err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a+b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再算</a:t>
            </a:r>
            <a:r>
              <a:rPr lang="en-US" altLang="zh-CN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(a=d),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因此计算结果并</a:t>
            </a:r>
            <a:endParaRPr lang="en-US" altLang="zh-CN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 algn="just" eaLnBrk="1" hangingPunct="1">
              <a:buNone/>
              <a:defRPr/>
            </a:pPr>
            <a:r>
              <a:rPr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不是</a:t>
            </a:r>
            <a:r>
              <a:rPr lang="zh-CN" altLang="en-US" sz="2000" kern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确定的</a:t>
            </a:r>
            <a:r>
              <a:rPr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000" kern="1200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 algn="just" eaLnBrk="1" hangingPunct="1">
              <a:buNone/>
              <a:defRPr/>
            </a:pPr>
            <a:r>
              <a:rPr lang="en-US" altLang="zh-CN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类似</a:t>
            </a:r>
            <a:r>
              <a:rPr lang="en-US" altLang="zh-CN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a[</a:t>
            </a:r>
            <a:r>
              <a:rPr lang="en-US" altLang="zh-CN" sz="2000" kern="1200" dirty="0" err="1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]=</a:t>
            </a:r>
            <a:r>
              <a:rPr lang="en-US" altLang="zh-CN" sz="2000" kern="1200" dirty="0" err="1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++</a:t>
            </a:r>
            <a:r>
              <a:rPr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，数组下标</a:t>
            </a:r>
            <a:r>
              <a:rPr lang="en-US" altLang="zh-CN" sz="2000" kern="1200" dirty="0" err="1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到底是引用旧值还是引用新值，不同编译器</a:t>
            </a:r>
            <a:endParaRPr lang="en-US" altLang="zh-CN" sz="2000" kern="1200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 algn="just" eaLnBrk="1" hangingPunct="1">
              <a:buNone/>
              <a:defRPr/>
            </a:pPr>
            <a:r>
              <a:rPr lang="zh-CN" altLang="en-US" sz="2000" kern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的解释可能不同。</a:t>
            </a:r>
            <a:endParaRPr lang="en-US" altLang="zh-CN" sz="2000" kern="1200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 algn="just" eaLnBrk="1" hangingPunct="1">
              <a:buNone/>
              <a:defRPr/>
            </a:pPr>
            <a:r>
              <a:rPr lang="zh-CN" altLang="en-US" sz="2000" kern="1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解决的办法：不要让代码的执行结果与求值顺序相关。</a:t>
            </a:r>
            <a:endParaRPr lang="en-US" altLang="zh-CN" sz="2000" kern="1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 algn="just" eaLnBrk="1" hangingPunct="1">
              <a:buNone/>
              <a:defRPr/>
            </a:pPr>
            <a:endParaRPr lang="en-US" altLang="zh-CN" sz="2000" kern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559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/>
          </p:cNvSpPr>
          <p:nvPr>
            <p:ph type="body" idx="4294967295"/>
          </p:nvPr>
        </p:nvSpPr>
        <p:spPr>
          <a:xfrm>
            <a:off x="755650" y="1773238"/>
            <a:ext cx="7772400" cy="1463675"/>
          </a:xfrm>
        </p:spPr>
        <p:txBody>
          <a:bodyPr/>
          <a:lstStyle/>
          <a:p>
            <a:pPr marL="0" indent="577850" eaLnBrk="1" hangingPunct="1">
              <a:buFont typeface="Wingdings" panose="05000000000000000000" pitchFamily="2" charset="2"/>
              <a:buNone/>
            </a:pP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为了让计算机处理各种数据，首先就应该把源数据输入到计算机中；计算机处理结束后，再将目标数据信息以人能够识别的方式输出。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语言中的输入输出操作，是由</a:t>
            </a:r>
            <a:r>
              <a:rPr lang="en-US" altLang="zh-CN" sz="2400" smtClean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smtClean="0">
                <a:latin typeface="楷体" panose="02010609060101010101" pitchFamily="49" charset="-122"/>
                <a:ea typeface="楷体" panose="02010609060101010101" pitchFamily="49" charset="-122"/>
              </a:rPr>
              <a:t>语言编译系统提供的库函数来实现。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81D66F-3958-48FE-934B-63ADC9C2575C}" type="datetime1">
              <a:rPr lang="zh-CN" altLang="en-US" sz="1200" smtClean="0">
                <a:effectLst/>
                <a:latin typeface="+mj-lt"/>
                <a:ea typeface="宋体" panose="02010600030101010101" pitchFamily="2" charset="-122"/>
              </a:rPr>
              <a:t>2025/9/24</a:t>
            </a:fld>
            <a:endParaRPr lang="en-US" altLang="zh-CN" sz="1200">
              <a:effectLst/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55725" y="1150938"/>
            <a:ext cx="417671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3.3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输入</a:t>
            </a:r>
            <a:r>
              <a:rPr lang="zh-CN" altLang="en-US" sz="2400" b="1" kern="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与输出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9070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/>
          </p:cNvSpPr>
          <p:nvPr>
            <p:ph idx="1"/>
          </p:nvPr>
        </p:nvSpPr>
        <p:spPr>
          <a:xfrm>
            <a:off x="1039813" y="1628775"/>
            <a:ext cx="7924800" cy="4321175"/>
          </a:xfrm>
        </p:spPr>
        <p:txBody>
          <a:bodyPr/>
          <a:lstStyle/>
          <a:p>
            <a:pPr marL="0" indent="187325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/>
              <a:t>3.3.1 </a:t>
            </a:r>
            <a:r>
              <a:rPr lang="en-US" altLang="zh-CN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printf()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函数的一般格式如下：</a:t>
            </a: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187325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    printf("</a:t>
            </a:r>
            <a:r>
              <a:rPr lang="zh-CN" altLang="en-US" sz="2000" b="1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格式字符串</a:t>
            </a:r>
            <a:r>
              <a:rPr lang="en-US" altLang="zh-CN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" [</a:t>
            </a:r>
            <a:r>
              <a:rPr lang="zh-CN" altLang="en-US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zh-CN" altLang="en-US" sz="2000" b="1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输出项表</a:t>
            </a:r>
            <a:r>
              <a:rPr lang="en-US" altLang="zh-CN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])</a:t>
            </a:r>
            <a:r>
              <a:rPr lang="zh-CN" altLang="en-US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187325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．</a:t>
            </a:r>
            <a:r>
              <a:rPr lang="zh-CN" altLang="en-US" sz="2000" b="1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格式字符串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包含三种字符：</a:t>
            </a:r>
          </a:p>
          <a:p>
            <a:pPr marL="0" indent="187325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类型转换</a:t>
            </a:r>
            <a:r>
              <a:rPr lang="zh-CN" altLang="en-US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字符</a:t>
            </a:r>
            <a:r>
              <a:rPr lang="en-US" altLang="zh-CN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</a:p>
          <a:p>
            <a:pPr marL="0" indent="187325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      %[-][0][</a:t>
            </a:r>
            <a:r>
              <a:rPr lang="zh-CN" altLang="en-US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宽度</a:t>
            </a:r>
            <a:r>
              <a:rPr lang="en-US" altLang="zh-CN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][.</a:t>
            </a:r>
            <a:r>
              <a:rPr lang="zh-CN" altLang="en-US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精度</a:t>
            </a:r>
            <a:r>
              <a:rPr lang="en-US" altLang="zh-CN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][</a:t>
            </a:r>
            <a:r>
              <a:rPr lang="zh-CN" altLang="en-US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长度修正字符</a:t>
            </a:r>
            <a:r>
              <a:rPr lang="en-US" altLang="zh-CN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l][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类型转换字符</a:t>
            </a:r>
            <a:r>
              <a:rPr lang="en-US" altLang="zh-CN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]</a:t>
            </a: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187325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 smtClean="0">
                <a:solidFill>
                  <a:schemeClr val="tx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dirty="0" smtClean="0">
                <a:solidFill>
                  <a:schemeClr val="tx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zh-CN" altLang="en-US" sz="2000" dirty="0" smtClean="0">
                <a:solidFill>
                  <a:schemeClr val="tx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转义字符</a:t>
            </a:r>
            <a:r>
              <a:rPr lang="en-US" altLang="zh-CN" sz="2000" dirty="0" smtClean="0">
                <a:solidFill>
                  <a:schemeClr val="tx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如 ‘</a:t>
            </a:r>
            <a:r>
              <a:rPr lang="en-US" altLang="zh-CN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\n’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，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输出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时产生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一个“换行”操作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187325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 smtClean="0">
                <a:solidFill>
                  <a:schemeClr val="tx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）普通</a:t>
            </a:r>
            <a:r>
              <a:rPr lang="zh-CN" altLang="en-US" sz="2000" dirty="0" smtClean="0">
                <a:solidFill>
                  <a:schemeClr val="tx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字符</a:t>
            </a:r>
            <a:r>
              <a:rPr lang="en-US" altLang="zh-CN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原样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输出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 2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．</a:t>
            </a:r>
            <a:r>
              <a:rPr lang="zh-CN" altLang="en-US" sz="200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输出项表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  如果要输出的数据不止</a:t>
            </a:r>
            <a:r>
              <a:rPr lang="en-US" altLang="zh-CN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个，相邻</a:t>
            </a:r>
            <a:r>
              <a:rPr lang="en-US" altLang="zh-CN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个之间用逗号分开。</a:t>
            </a:r>
            <a:endParaRPr lang="en-US" altLang="zh-CN" sz="2000" b="1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endParaRPr lang="en-US" altLang="zh-CN" sz="2000" b="1" dirty="0" smtClean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b="1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必须强调</a:t>
            </a:r>
            <a:r>
              <a:rPr lang="zh-CN" altLang="en-US" sz="200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“格式字符串”中的</a:t>
            </a:r>
            <a:r>
              <a:rPr lang="zh-CN" altLang="en-US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类型转换字符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，必须与“输出</a:t>
            </a: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项表”中输出项的数据类型一致，否则会引起输出错误。</a:t>
            </a:r>
          </a:p>
          <a:p>
            <a:pPr marL="0" indent="476250" algn="just" eaLnBrk="1" hangingPunct="1">
              <a:buFont typeface="Wingdings" panose="05000000000000000000" pitchFamily="2" charset="2"/>
              <a:buNone/>
              <a:defRPr/>
            </a:pP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187325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4294967295"/>
          </p:nvPr>
        </p:nvSpPr>
        <p:spPr/>
        <p:txBody>
          <a:bodyPr/>
          <a:lstStyle/>
          <a:p>
            <a:pPr>
              <a:defRPr/>
            </a:pPr>
            <a:fld id="{0FE5A1DC-C20C-44E3-B4B1-834884117DAE}" type="datetime1">
              <a:rPr lang="zh-CN" altLang="en-US" sz="1200" smtClean="0">
                <a:effectLst/>
                <a:latin typeface="+mj-lt"/>
                <a:ea typeface="宋体" panose="02010600030101010101" pitchFamily="2" charset="-122"/>
              </a:rPr>
              <a:t>2025/9/24</a:t>
            </a:fld>
            <a:endParaRPr lang="en-US" altLang="zh-CN" sz="1200">
              <a:effectLst/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31640" y="1166813"/>
            <a:ext cx="417671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3.3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输入</a:t>
            </a:r>
            <a:r>
              <a:rPr lang="zh-CN" altLang="en-US" sz="2400" b="1" kern="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与输出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711194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1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1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719263"/>
            <a:ext cx="8569325" cy="4721225"/>
          </a:xfrm>
        </p:spPr>
        <p:txBody>
          <a:bodyPr/>
          <a:lstStyle/>
          <a:p>
            <a:pPr marL="0" indent="288925" algn="just" eaLnBrk="1" hangingPunct="1"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CN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．类型转换字符</a:t>
            </a:r>
            <a:r>
              <a:rPr lang="en-US" altLang="zh-CN" sz="2000" b="1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d</a:t>
            </a:r>
            <a:r>
              <a:rPr lang="en-US" altLang="zh-CN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──</a:t>
            </a:r>
            <a:r>
              <a:rPr lang="zh-CN" altLang="en-US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以带符号的十进制整数形式输出</a:t>
            </a:r>
            <a:r>
              <a:rPr lang="en-US" altLang="zh-CN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.</a:t>
            </a:r>
          </a:p>
          <a:p>
            <a:pPr marL="0" indent="663575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对于整数还可以八进制无符号形式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%o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、十六进制无符号形式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%x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及十进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663575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制、无符号形式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%u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输出。</a:t>
            </a:r>
          </a:p>
          <a:p>
            <a:pPr marL="0" indent="288925" algn="just" eaLnBrk="1" hangingPunct="1"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zh-CN" altLang="en-US" sz="2000" b="1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288925" algn="just" eaLnBrk="1" hangingPunct="1"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4294967295"/>
          </p:nvPr>
        </p:nvSpPr>
        <p:spPr/>
        <p:txBody>
          <a:bodyPr/>
          <a:lstStyle/>
          <a:p>
            <a:pPr>
              <a:defRPr/>
            </a:pPr>
            <a:fld id="{AFB72B31-C77E-40BD-AF86-9C0562090FD1}" type="datetime1">
              <a:rPr lang="zh-CN" altLang="en-US" sz="1200" smtClean="0">
                <a:effectLst/>
                <a:latin typeface="+mj-lt"/>
                <a:ea typeface="宋体" panose="02010600030101010101" pitchFamily="2" charset="-122"/>
              </a:rPr>
              <a:t>2025/9/24</a:t>
            </a:fld>
            <a:endParaRPr lang="en-US" altLang="zh-CN" sz="1200">
              <a:effectLst/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9222" name="矩形 1"/>
          <p:cNvSpPr>
            <a:spLocks noChangeArrowheads="1"/>
          </p:cNvSpPr>
          <p:nvPr/>
        </p:nvSpPr>
        <p:spPr bwMode="auto">
          <a:xfrm>
            <a:off x="774700" y="2708275"/>
            <a:ext cx="60483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[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3.8]  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类型转换字符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d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的使用。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1800" dirty="0">
                <a:solidFill>
                  <a:srgbClr val="1F542E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#include</a:t>
            </a:r>
            <a: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</a:t>
            </a:r>
            <a:r>
              <a:rPr lang="pt-BR" altLang="zh-CN" sz="1800" dirty="0">
                <a:solidFill>
                  <a:srgbClr val="400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stdio</a:t>
            </a:r>
            <a: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.</a:t>
            </a:r>
            <a:r>
              <a:rPr lang="pt-BR" altLang="zh-CN" sz="1800" dirty="0">
                <a:solidFill>
                  <a:srgbClr val="400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h</a:t>
            </a:r>
            <a: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&gt;</a:t>
            </a:r>
            <a:b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pt-BR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</a:t>
            </a:r>
            <a:r>
              <a:rPr lang="pt-BR" altLang="zh-CN" sz="1800" b="1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pt-BR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</a:t>
            </a:r>
            <a:r>
              <a:rPr lang="pt-BR" altLang="zh-CN" sz="1800" dirty="0">
                <a:solidFill>
                  <a:srgbClr val="00627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main</a:t>
            </a:r>
            <a: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(){</a:t>
            </a:r>
            <a:b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pt-BR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    </a:t>
            </a:r>
            <a:r>
              <a:rPr lang="pt-BR" altLang="zh-CN" sz="1800" b="1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pt-BR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</a:t>
            </a:r>
            <a:r>
              <a:rPr lang="pt-BR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num1</a:t>
            </a:r>
            <a: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=</a:t>
            </a:r>
            <a:r>
              <a:rPr lang="pt-BR" altLang="zh-CN" sz="1800" dirty="0">
                <a:solidFill>
                  <a:srgbClr val="1750EB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123</a:t>
            </a:r>
            <a: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  <a:b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pt-BR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    </a:t>
            </a:r>
            <a:r>
              <a:rPr lang="pt-BR" altLang="zh-CN" sz="1800" dirty="0">
                <a:solidFill>
                  <a:srgbClr val="00627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printf</a:t>
            </a:r>
            <a: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pt-BR" altLang="zh-CN" sz="1800" b="1" dirty="0">
                <a:solidFill>
                  <a:srgbClr val="00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"num1=%d,num1=%5d</a:t>
            </a:r>
            <a:r>
              <a:rPr lang="pt-BR" altLang="zh-CN" sz="18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\n</a:t>
            </a:r>
            <a:r>
              <a:rPr lang="pt-BR" altLang="zh-CN" sz="1800" b="1" dirty="0">
                <a:solidFill>
                  <a:srgbClr val="00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</a:t>
            </a:r>
            <a: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,</a:t>
            </a:r>
            <a:r>
              <a:rPr lang="pt-BR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num1</a:t>
            </a:r>
            <a: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,</a:t>
            </a:r>
            <a:r>
              <a:rPr lang="pt-BR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num1</a:t>
            </a:r>
            <a: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);</a:t>
            </a:r>
            <a:b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pt-BR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    </a:t>
            </a:r>
            <a:r>
              <a:rPr lang="pt-BR" altLang="zh-CN" sz="1800" dirty="0">
                <a:solidFill>
                  <a:srgbClr val="00627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printf</a:t>
            </a:r>
            <a: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pt-BR" altLang="zh-CN" sz="1800" b="1" dirty="0">
                <a:solidFill>
                  <a:srgbClr val="00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"%d,%o,%x,%u</a:t>
            </a:r>
            <a:r>
              <a:rPr lang="pt-BR" altLang="zh-CN" sz="18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\n</a:t>
            </a:r>
            <a:r>
              <a:rPr lang="pt-BR" altLang="zh-CN" sz="1800" b="1" dirty="0">
                <a:solidFill>
                  <a:srgbClr val="00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</a:t>
            </a:r>
            <a: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,-</a:t>
            </a:r>
            <a:r>
              <a:rPr lang="pt-BR" altLang="zh-CN" sz="1800" dirty="0">
                <a:solidFill>
                  <a:srgbClr val="1750EB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,-</a:t>
            </a:r>
            <a:r>
              <a:rPr lang="pt-BR" altLang="zh-CN" sz="1800" dirty="0">
                <a:solidFill>
                  <a:srgbClr val="1750EB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,-</a:t>
            </a:r>
            <a:r>
              <a:rPr lang="pt-BR" altLang="zh-CN" sz="1800" dirty="0">
                <a:solidFill>
                  <a:srgbClr val="1750EB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,-</a:t>
            </a:r>
            <a:r>
              <a:rPr lang="pt-BR" altLang="zh-CN" sz="1800" dirty="0">
                <a:solidFill>
                  <a:srgbClr val="1750EB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);</a:t>
            </a:r>
            <a:b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pt-BR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   </a:t>
            </a:r>
            <a:r>
              <a:rPr lang="pt-BR" altLang="zh-CN" sz="1800" b="1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return</a:t>
            </a:r>
            <a:r>
              <a:rPr lang="pt-BR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</a:t>
            </a:r>
            <a:r>
              <a:rPr lang="pt-BR" altLang="zh-CN" sz="1800" dirty="0">
                <a:solidFill>
                  <a:srgbClr val="1750EB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0</a:t>
            </a:r>
            <a: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  <a:b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pt-BR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</a:t>
            </a:r>
            <a:r>
              <a:rPr lang="pt-BR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  <a:r>
              <a:rPr lang="pt-BR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</a:t>
            </a:r>
            <a:endParaRPr lang="pt-BR" altLang="zh-CN" sz="1800" dirty="0">
              <a:solidFill>
                <a:srgbClr val="E7E7E7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pic>
        <p:nvPicPr>
          <p:cNvPr id="9223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63" y="4983163"/>
            <a:ext cx="723900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1187624" y="1108869"/>
            <a:ext cx="417671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3.3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输入</a:t>
            </a:r>
            <a:r>
              <a:rPr lang="zh-CN" altLang="en-US" sz="2400" b="1" kern="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与输出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105870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quarter" idx="4294967295"/>
          </p:nvPr>
        </p:nvSpPr>
        <p:spPr/>
        <p:txBody>
          <a:bodyPr/>
          <a:lstStyle/>
          <a:p>
            <a:pPr>
              <a:defRPr/>
            </a:pPr>
            <a:fld id="{E1450744-7EB5-4534-8DB2-5A91616B236F}" type="datetime1">
              <a:rPr lang="zh-CN" altLang="en-US" sz="1200" smtClean="0">
                <a:effectLst/>
                <a:latin typeface="+mj-lt"/>
                <a:ea typeface="宋体" panose="02010600030101010101" pitchFamily="2" charset="-122"/>
              </a:rPr>
              <a:t>2025/9/24</a:t>
            </a:fld>
            <a:endParaRPr lang="en-US" altLang="zh-CN" sz="1200">
              <a:effectLst/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10245" name="矩形 1"/>
          <p:cNvSpPr>
            <a:spLocks noChangeArrowheads="1"/>
          </p:cNvSpPr>
          <p:nvPr/>
        </p:nvSpPr>
        <p:spPr bwMode="auto">
          <a:xfrm>
            <a:off x="755650" y="1700213"/>
            <a:ext cx="79200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．类型转换字符</a:t>
            </a:r>
            <a:r>
              <a:rPr lang="en-US" altLang="zh-CN" sz="20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f(</a:t>
            </a:r>
            <a:r>
              <a:rPr lang="en-US" altLang="zh-CN" sz="2000" b="1" dirty="0" err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e,g</a:t>
            </a:r>
            <a:r>
              <a:rPr lang="en-US" altLang="zh-CN" sz="20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──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以小数形式、按系统默认的宽度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6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位小数），输出单精度</a:t>
            </a: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(7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位有效数字）和双精度实数。</a:t>
            </a:r>
          </a:p>
        </p:txBody>
      </p:sp>
      <p:sp>
        <p:nvSpPr>
          <p:cNvPr id="10246" name="矩形 4"/>
          <p:cNvSpPr>
            <a:spLocks noChangeArrowheads="1"/>
          </p:cNvSpPr>
          <p:nvPr/>
        </p:nvSpPr>
        <p:spPr bwMode="auto">
          <a:xfrm>
            <a:off x="900113" y="2346325"/>
            <a:ext cx="78486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[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3.9]  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类型转换字符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f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的使用。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1F542E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#include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stdio</a:t>
            </a:r>
            <a:r>
              <a:rPr lang="en-US" altLang="zh-CN" sz="1800" b="1" dirty="0" err="1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.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h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&gt;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800" b="1" dirty="0" err="1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</a:t>
            </a:r>
            <a:r>
              <a:rPr lang="en-US" altLang="zh-CN" sz="1800" dirty="0">
                <a:solidFill>
                  <a:srgbClr val="00627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main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){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  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float</a:t>
            </a: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=</a:t>
            </a:r>
            <a:r>
              <a:rPr lang="en-US" altLang="zh-CN" sz="1800" dirty="0">
                <a:solidFill>
                  <a:srgbClr val="800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123.456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  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double</a:t>
            </a: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d1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d2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  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d1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=</a:t>
            </a:r>
            <a:r>
              <a:rPr lang="en-US" altLang="zh-CN" sz="1800" dirty="0">
                <a:solidFill>
                  <a:srgbClr val="800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1111111111111.111111111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  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d2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=</a:t>
            </a:r>
            <a:r>
              <a:rPr lang="en-US" altLang="zh-CN" sz="1800" dirty="0">
                <a:solidFill>
                  <a:srgbClr val="800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2222222222222.222222222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  </a:t>
            </a:r>
            <a:r>
              <a:rPr lang="en-US" altLang="zh-CN" sz="1800" dirty="0" err="1">
                <a:solidFill>
                  <a:srgbClr val="00627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printf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1800" b="1" dirty="0">
                <a:solidFill>
                  <a:srgbClr val="00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"%f,%12f,%12.2f,%-12.2f,%.2f,%e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\n</a:t>
            </a:r>
            <a:r>
              <a:rPr lang="en-US" altLang="zh-CN" sz="1800" b="1" dirty="0">
                <a:solidFill>
                  <a:srgbClr val="00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,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</a:t>
            </a:r>
            <a:r>
              <a:rPr lang="en-US" altLang="zh-CN" sz="1800" b="1" dirty="0" err="1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,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</a:t>
            </a:r>
            <a:r>
              <a:rPr lang="en-US" altLang="zh-CN" sz="1800" b="1" dirty="0" err="1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,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</a:t>
            </a:r>
            <a:r>
              <a:rPr lang="en-US" altLang="zh-CN" sz="1800" b="1" dirty="0" err="1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,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</a:t>
            </a:r>
            <a:r>
              <a:rPr lang="en-US" altLang="zh-CN" sz="1800" b="1" dirty="0" err="1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,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f,f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);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  </a:t>
            </a:r>
            <a:r>
              <a:rPr lang="en-US" altLang="zh-CN" sz="1800" dirty="0" err="1">
                <a:solidFill>
                  <a:srgbClr val="00627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printf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1800" b="1" dirty="0">
                <a:solidFill>
                  <a:srgbClr val="00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"d1+d2=%f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\n</a:t>
            </a:r>
            <a:r>
              <a:rPr lang="en-US" altLang="zh-CN" sz="1800" b="1" dirty="0">
                <a:solidFill>
                  <a:srgbClr val="00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,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d1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+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d2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);</a:t>
            </a: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  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return</a:t>
            </a: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</a:t>
            </a:r>
            <a:r>
              <a:rPr lang="en-US" altLang="zh-CN" sz="1800" dirty="0">
                <a:solidFill>
                  <a:srgbClr val="1750EB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0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</a:t>
            </a:r>
            <a:b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  <a:endParaRPr lang="en-US" altLang="zh-CN" sz="1800" dirty="0">
              <a:solidFill>
                <a:srgbClr val="E7E7E7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pic>
        <p:nvPicPr>
          <p:cNvPr id="10248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263" y="4948238"/>
            <a:ext cx="72485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1355725" y="1150938"/>
            <a:ext cx="417671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3.3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输入</a:t>
            </a:r>
            <a:r>
              <a:rPr lang="zh-CN" altLang="en-US" sz="2400" b="1" kern="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与输出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542310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quarter" idx="4294967295"/>
          </p:nvPr>
        </p:nvSpPr>
        <p:spPr/>
        <p:txBody>
          <a:bodyPr/>
          <a:lstStyle/>
          <a:p>
            <a:pPr>
              <a:defRPr/>
            </a:pPr>
            <a:fld id="{9C8E6F9F-975A-403B-8FD9-936780C29782}" type="datetime1">
              <a:rPr lang="zh-CN" altLang="en-US" sz="1200" smtClean="0">
                <a:effectLst/>
                <a:latin typeface="+mj-lt"/>
                <a:ea typeface="宋体" panose="02010600030101010101" pitchFamily="2" charset="-122"/>
              </a:rPr>
              <a:t>2025/9/24</a:t>
            </a:fld>
            <a:endParaRPr lang="en-US" altLang="zh-CN" sz="1200">
              <a:effectLst/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11269" name="矩形 1"/>
          <p:cNvSpPr>
            <a:spLocks noChangeArrowheads="1"/>
          </p:cNvSpPr>
          <p:nvPr/>
        </p:nvSpPr>
        <p:spPr bwMode="auto">
          <a:xfrm>
            <a:off x="1114425" y="1628775"/>
            <a:ext cx="66976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 b="1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000" b="1">
                <a:latin typeface="仿宋" panose="02010609060101010101" pitchFamily="49" charset="-122"/>
                <a:ea typeface="仿宋" panose="02010609060101010101" pitchFamily="49" charset="-122"/>
              </a:rPr>
              <a:t>．类型转换字符</a:t>
            </a:r>
            <a:r>
              <a:rPr lang="en-US" altLang="zh-CN" sz="2000" b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</a:t>
            </a:r>
            <a:r>
              <a:rPr lang="en-US" altLang="zh-CN" sz="2000" b="1">
                <a:latin typeface="仿宋" panose="02010609060101010101" pitchFamily="49" charset="-122"/>
                <a:ea typeface="仿宋" panose="02010609060101010101" pitchFamily="49" charset="-122"/>
              </a:rPr>
              <a:t>──</a:t>
            </a:r>
            <a:r>
              <a:rPr lang="zh-CN" altLang="en-US" sz="2000" b="1">
                <a:latin typeface="仿宋" panose="02010609060101010101" pitchFamily="49" charset="-122"/>
                <a:ea typeface="仿宋" panose="02010609060101010101" pitchFamily="49" charset="-122"/>
              </a:rPr>
              <a:t>输出一个字符（只占一列宽度）。</a:t>
            </a:r>
          </a:p>
        </p:txBody>
      </p:sp>
      <p:sp>
        <p:nvSpPr>
          <p:cNvPr id="11270" name="矩形 1"/>
          <p:cNvSpPr>
            <a:spLocks noChangeArrowheads="1"/>
          </p:cNvSpPr>
          <p:nvPr/>
        </p:nvSpPr>
        <p:spPr bwMode="auto">
          <a:xfrm>
            <a:off x="1187450" y="1998663"/>
            <a:ext cx="6769100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latin typeface="仿宋" panose="02010609060101010101" pitchFamily="49" charset="-122"/>
                <a:ea typeface="仿宋" panose="02010609060101010101" pitchFamily="49" charset="-122"/>
              </a:rPr>
              <a:t>[</a:t>
            </a:r>
            <a:r>
              <a:rPr lang="zh-CN" altLang="en-US" sz="18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sz="18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3.10]  </a:t>
            </a:r>
            <a:r>
              <a:rPr lang="zh-CN" altLang="en-US" sz="1800" b="1" dirty="0">
                <a:latin typeface="仿宋" panose="02010609060101010101" pitchFamily="49" charset="-122"/>
                <a:ea typeface="仿宋" panose="02010609060101010101" pitchFamily="49" charset="-122"/>
              </a:rPr>
              <a:t>类型转换字符</a:t>
            </a:r>
            <a:r>
              <a:rPr lang="en-US" altLang="zh-CN" sz="1800" b="1" dirty="0">
                <a:latin typeface="仿宋" panose="02010609060101010101" pitchFamily="49" charset="-122"/>
                <a:ea typeface="仿宋" panose="02010609060101010101" pitchFamily="49" charset="-122"/>
              </a:rPr>
              <a:t>c</a:t>
            </a:r>
            <a:r>
              <a:rPr lang="zh-CN" altLang="en-US" sz="1800" b="1" dirty="0">
                <a:latin typeface="仿宋" panose="02010609060101010101" pitchFamily="49" charset="-122"/>
                <a:ea typeface="仿宋" panose="02010609060101010101" pitchFamily="49" charset="-122"/>
              </a:rPr>
              <a:t>的使用。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1F542E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#include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&lt;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stdio</a:t>
            </a:r>
            <a:r>
              <a:rPr lang="en-US" altLang="zh-CN" sz="1800" b="1" dirty="0" err="1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.</a:t>
            </a:r>
            <a:r>
              <a:rPr lang="en-US" altLang="zh-CN" sz="1800" dirty="0" err="1">
                <a:solidFill>
                  <a:srgbClr val="400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h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&gt;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800" b="1" dirty="0" err="1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</a:t>
            </a:r>
            <a:r>
              <a:rPr lang="en-US" altLang="zh-CN" sz="1800" dirty="0">
                <a:solidFill>
                  <a:srgbClr val="00627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main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(){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  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char</a:t>
            </a: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=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'A'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  </a:t>
            </a:r>
            <a:r>
              <a:rPr lang="en-US" altLang="zh-CN" sz="1800" b="1" dirty="0" err="1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=</a:t>
            </a:r>
            <a:r>
              <a:rPr lang="en-US" altLang="zh-CN" sz="1800" dirty="0">
                <a:solidFill>
                  <a:srgbClr val="1750EB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65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  </a:t>
            </a:r>
            <a:r>
              <a:rPr lang="en-US" altLang="zh-CN" sz="1800" dirty="0" err="1">
                <a:solidFill>
                  <a:srgbClr val="00627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printf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1800" b="1" dirty="0">
                <a:solidFill>
                  <a:srgbClr val="00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"c=%c,%5c,%d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\n</a:t>
            </a:r>
            <a:r>
              <a:rPr lang="en-US" altLang="zh-CN" sz="1800" b="1" dirty="0">
                <a:solidFill>
                  <a:srgbClr val="00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,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</a:t>
            </a:r>
            <a:r>
              <a:rPr lang="en-US" altLang="zh-CN" sz="1800" b="1" dirty="0" err="1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,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</a:t>
            </a:r>
            <a:r>
              <a:rPr lang="en-US" altLang="zh-CN" sz="1800" b="1" dirty="0" err="1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,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c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);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  </a:t>
            </a:r>
            <a:r>
              <a:rPr lang="en-US" altLang="zh-CN" sz="1800" dirty="0" err="1">
                <a:solidFill>
                  <a:srgbClr val="00627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printf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1800" b="1" dirty="0">
                <a:solidFill>
                  <a:srgbClr val="00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"</a:t>
            </a:r>
            <a:r>
              <a:rPr lang="en-US" altLang="zh-CN" sz="1800" b="1" dirty="0" err="1">
                <a:solidFill>
                  <a:srgbClr val="00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</a:t>
            </a:r>
            <a:r>
              <a:rPr lang="en-US" altLang="zh-CN" sz="1800" b="1" dirty="0">
                <a:solidFill>
                  <a:srgbClr val="00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=%d,%c"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,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</a:t>
            </a:r>
            <a:r>
              <a:rPr lang="en-US" altLang="zh-CN" sz="1800" b="1" dirty="0" err="1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,</a:t>
            </a:r>
            <a:r>
              <a:rPr lang="en-US" altLang="zh-CN" sz="1800" dirty="0" err="1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);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   </a:t>
            </a:r>
            <a:r>
              <a:rPr lang="en-US" altLang="zh-CN" sz="1800" b="1" dirty="0">
                <a:solidFill>
                  <a:srgbClr val="0033B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return</a:t>
            </a:r>
            <a:r>
              <a:rPr lang="en-US" altLang="zh-CN" sz="1800" dirty="0">
                <a:solidFill>
                  <a:srgbClr val="BABABA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 </a:t>
            </a:r>
            <a:r>
              <a:rPr lang="en-US" altLang="zh-CN" sz="1800" dirty="0">
                <a:solidFill>
                  <a:srgbClr val="1750EB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0</a:t>
            </a: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</a:t>
            </a:r>
            <a:b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800" b="1" dirty="0">
                <a:solidFill>
                  <a:srgbClr val="C1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</a:t>
            </a:r>
            <a:endParaRPr lang="en-US" altLang="zh-CN" sz="1800" dirty="0">
              <a:solidFill>
                <a:srgbClr val="E7E7E7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pic>
        <p:nvPicPr>
          <p:cNvPr id="11271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950" y="4716463"/>
            <a:ext cx="73914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1355725" y="1150938"/>
            <a:ext cx="417671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3.3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输入</a:t>
            </a:r>
            <a:r>
              <a:rPr lang="zh-CN" altLang="en-US" sz="2400" b="1" kern="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与输出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024297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/>
          </p:cNvSpPr>
          <p:nvPr>
            <p:ph idx="1"/>
          </p:nvPr>
        </p:nvSpPr>
        <p:spPr>
          <a:xfrm>
            <a:off x="539750" y="1773238"/>
            <a:ext cx="8207375" cy="4679950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kern="12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en-US" sz="2000" b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．类型转换字符</a:t>
            </a:r>
            <a:r>
              <a:rPr lang="en-US" altLang="zh-CN" sz="2000" b="1" kern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s</a:t>
            </a:r>
            <a:r>
              <a:rPr lang="en-US" altLang="zh-CN" sz="2000" b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──</a:t>
            </a:r>
            <a:r>
              <a:rPr lang="zh-CN" altLang="en-US" sz="2000" b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输出一个字符串。</a:t>
            </a:r>
          </a:p>
          <a:p>
            <a:pPr marL="0" indent="0"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100" dirty="0" smtClean="0"/>
          </a:p>
          <a:p>
            <a:pPr marL="0" indent="0"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 smtClean="0"/>
              <a:t>[</a:t>
            </a:r>
            <a:r>
              <a:rPr lang="zh-CN" altLang="en-US" sz="2100" b="1" dirty="0" smtClean="0"/>
              <a:t>例</a:t>
            </a:r>
            <a:r>
              <a:rPr lang="en-US" altLang="zh-CN" sz="2100" b="1" dirty="0" smtClean="0"/>
              <a:t>3.11</a:t>
            </a:r>
            <a:r>
              <a:rPr lang="en-US" altLang="zh-CN" sz="2100" dirty="0" smtClean="0"/>
              <a:t>]  </a:t>
            </a:r>
            <a:r>
              <a:rPr lang="zh-CN" altLang="en-US" sz="2100" dirty="0" smtClean="0"/>
              <a:t>类型转换字符</a:t>
            </a:r>
            <a:r>
              <a:rPr lang="en-US" altLang="zh-CN" sz="2100" dirty="0" smtClean="0"/>
              <a:t>s</a:t>
            </a:r>
            <a:r>
              <a:rPr lang="zh-CN" altLang="en-US" sz="2100" dirty="0" smtClean="0"/>
              <a:t>的使用。</a:t>
            </a:r>
          </a:p>
          <a:p>
            <a:pPr marL="0" indent="0"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 smtClean="0"/>
              <a:t>int main(){</a:t>
            </a:r>
          </a:p>
          <a:p>
            <a:pPr marL="0" indent="0"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 smtClean="0"/>
              <a:t>     printf("%s,%5s,%-10s","Internet","Internet","Internet");</a:t>
            </a:r>
          </a:p>
          <a:p>
            <a:pPr marL="0" indent="0"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 smtClean="0"/>
              <a:t>     printf("%10.5s,%-10.5s,%4.5s\</a:t>
            </a:r>
            <a:r>
              <a:rPr lang="en-US" altLang="zh-CN" sz="2100" dirty="0" err="1" smtClean="0"/>
              <a:t>n","Internet","Internet","Internet</a:t>
            </a:r>
            <a:r>
              <a:rPr lang="en-US" altLang="zh-CN" sz="2100" dirty="0" smtClean="0"/>
              <a:t>");</a:t>
            </a:r>
          </a:p>
          <a:p>
            <a:pPr marL="0" indent="0"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 smtClean="0"/>
              <a:t>     return 0;</a:t>
            </a:r>
          </a:p>
          <a:p>
            <a:pPr marL="0" indent="0"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dirty="0"/>
              <a:t> </a:t>
            </a:r>
            <a:r>
              <a:rPr lang="en-US" altLang="zh-CN" sz="2100" dirty="0" smtClean="0"/>
              <a:t>}						</a:t>
            </a:r>
          </a:p>
          <a:p>
            <a:pPr marL="0" indent="0" algn="just" eaLnBrk="1" hangingPunct="1">
              <a:lnSpc>
                <a:spcPct val="80000"/>
              </a:lnSpc>
              <a:buClr>
                <a:srgbClr val="CC99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100" dirty="0" smtClean="0">
                <a:solidFill>
                  <a:srgbClr val="000000"/>
                </a:solidFill>
              </a:rPr>
              <a:t>程序运行结果如下：</a:t>
            </a:r>
          </a:p>
          <a:p>
            <a:pPr marL="0" indent="0" algn="just" eaLnBrk="1" hangingPunct="1">
              <a:lnSpc>
                <a:spcPct val="80000"/>
              </a:lnSpc>
              <a:buClr>
                <a:srgbClr val="CC99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100" dirty="0" err="1" smtClean="0">
                <a:solidFill>
                  <a:srgbClr val="000000"/>
                </a:solidFill>
              </a:rPr>
              <a:t>Internet,Internet,Internet</a:t>
            </a:r>
            <a:r>
              <a:rPr lang="en-US" altLang="zh-CN" sz="2100" dirty="0" smtClean="0">
                <a:solidFill>
                  <a:srgbClr val="000000"/>
                </a:solidFill>
              </a:rPr>
              <a:t>□□,□□□□□</a:t>
            </a:r>
            <a:r>
              <a:rPr lang="en-US" altLang="zh-CN" sz="2100" dirty="0" err="1" smtClean="0">
                <a:solidFill>
                  <a:srgbClr val="000000"/>
                </a:solidFill>
              </a:rPr>
              <a:t>Inter,Inter</a:t>
            </a:r>
            <a:r>
              <a:rPr lang="en-US" altLang="zh-CN" sz="2100" dirty="0" smtClean="0">
                <a:solidFill>
                  <a:srgbClr val="000000"/>
                </a:solidFill>
              </a:rPr>
              <a:t>□□□□□,Inter</a:t>
            </a:r>
          </a:p>
          <a:p>
            <a:pPr marL="0" indent="0"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100" dirty="0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4294967295"/>
          </p:nvPr>
        </p:nvSpPr>
        <p:spPr/>
        <p:txBody>
          <a:bodyPr/>
          <a:lstStyle/>
          <a:p>
            <a:pPr>
              <a:defRPr/>
            </a:pPr>
            <a:fld id="{210BE434-EE20-4F42-98F1-7A82534E2DA9}" type="datetime1">
              <a:rPr lang="zh-CN" altLang="en-US" sz="1200" smtClean="0">
                <a:effectLst/>
                <a:latin typeface="+mj-lt"/>
                <a:ea typeface="宋体" panose="02010600030101010101" pitchFamily="2" charset="-122"/>
              </a:rPr>
              <a:t>2025/9/24</a:t>
            </a:fld>
            <a:endParaRPr lang="en-US" altLang="zh-CN" sz="1200">
              <a:effectLst/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55725" y="1150938"/>
            <a:ext cx="417671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3.3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输入</a:t>
            </a:r>
            <a:r>
              <a:rPr lang="zh-CN" altLang="en-US" sz="2400" b="1" kern="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与输出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58687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/>
          </p:cNvSpPr>
          <p:nvPr>
            <p:ph idx="1"/>
          </p:nvPr>
        </p:nvSpPr>
        <p:spPr>
          <a:xfrm>
            <a:off x="541338" y="1619250"/>
            <a:ext cx="8135118" cy="4640263"/>
          </a:xfrm>
        </p:spPr>
        <p:txBody>
          <a:bodyPr/>
          <a:lstStyle/>
          <a:p>
            <a:pPr marL="0" indent="577850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CN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3.3.2 </a:t>
            </a:r>
            <a:r>
              <a:rPr lang="en-US" altLang="zh-CN" sz="2000" b="1" kern="1200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scanf</a:t>
            </a:r>
            <a:r>
              <a:rPr lang="en-US" altLang="zh-CN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()</a:t>
            </a: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函数，通过</a:t>
            </a:r>
            <a:r>
              <a:rPr lang="zh-CN" altLang="en-US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键盘给计算机提供</a:t>
            </a: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多个、任意的数据。</a:t>
            </a:r>
          </a:p>
          <a:p>
            <a:pPr marL="0" indent="577850" algn="just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>
                <a:solidFill>
                  <a:srgbClr val="000000"/>
                </a:solidFill>
              </a:rPr>
              <a:t>1</a:t>
            </a:r>
            <a:r>
              <a:rPr lang="en-US" altLang="zh-CN" sz="2000" dirty="0">
                <a:solidFill>
                  <a:srgbClr val="000000"/>
                </a:solidFill>
              </a:rPr>
              <a:t>. </a:t>
            </a:r>
            <a:r>
              <a:rPr lang="en-US" altLang="zh-CN" sz="2000" dirty="0" err="1">
                <a:solidFill>
                  <a:srgbClr val="000000"/>
                </a:solidFill>
              </a:rPr>
              <a:t>scanf</a:t>
            </a:r>
            <a:r>
              <a:rPr lang="en-US" altLang="zh-CN" sz="2000" dirty="0">
                <a:solidFill>
                  <a:srgbClr val="000000"/>
                </a:solidFill>
              </a:rPr>
              <a:t>()</a:t>
            </a:r>
            <a:r>
              <a:rPr lang="zh-CN" altLang="en-US" sz="2000" dirty="0">
                <a:solidFill>
                  <a:srgbClr val="000000"/>
                </a:solidFill>
              </a:rPr>
              <a:t>函数的一般格式</a:t>
            </a:r>
          </a:p>
          <a:p>
            <a:pPr marL="0" indent="577850" algn="ctr" eaLnBrk="1" hangingPunct="1"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CN" sz="2000" b="1" dirty="0" err="1">
                <a:solidFill>
                  <a:srgbClr val="000000"/>
                </a:solidFill>
              </a:rPr>
              <a:t>scanf</a:t>
            </a:r>
            <a:r>
              <a:rPr lang="en-US" altLang="zh-CN" sz="2000" b="1" dirty="0">
                <a:solidFill>
                  <a:srgbClr val="000000"/>
                </a:solidFill>
              </a:rPr>
              <a:t>("</a:t>
            </a:r>
            <a:r>
              <a:rPr lang="zh-CN" altLang="en-US" sz="2000" b="1" dirty="0">
                <a:solidFill>
                  <a:srgbClr val="FF0000"/>
                </a:solidFill>
              </a:rPr>
              <a:t>格式字符串</a:t>
            </a:r>
            <a:r>
              <a:rPr lang="en-US" altLang="zh-CN" sz="2000" b="1" dirty="0">
                <a:solidFill>
                  <a:srgbClr val="000000"/>
                </a:solidFill>
              </a:rPr>
              <a:t>", </a:t>
            </a:r>
            <a:r>
              <a:rPr lang="zh-CN" altLang="en-US" sz="2000" b="1" dirty="0">
                <a:solidFill>
                  <a:srgbClr val="FF0000"/>
                </a:solidFill>
              </a:rPr>
              <a:t>输入项首地址表</a:t>
            </a:r>
            <a:r>
              <a:rPr lang="en-US" altLang="zh-CN" sz="2000" b="1" dirty="0">
                <a:solidFill>
                  <a:srgbClr val="000000"/>
                </a:solidFill>
              </a:rPr>
              <a:t>);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577850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b="1" kern="12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b="1" kern="12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zh-CN" altLang="en-US" sz="2000" b="1" kern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格式字符串</a:t>
            </a:r>
            <a:r>
              <a:rPr lang="zh-CN" altLang="en-US" sz="2000" b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。格式字符串可以包含</a:t>
            </a:r>
            <a:r>
              <a:rPr lang="en-US" altLang="zh-CN" sz="2000" b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000" b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种类型</a:t>
            </a:r>
            <a:r>
              <a:rPr lang="zh-CN" altLang="en-US" sz="2000" b="1" kern="12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的字符：</a:t>
            </a:r>
            <a:endParaRPr lang="en-US" altLang="zh-CN" sz="2000" b="1" kern="12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577850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类型转换</a:t>
            </a:r>
            <a:r>
              <a:rPr lang="zh-CN" altLang="en-US" sz="2000" b="1" dirty="0" smtClean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字符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的一般形式为</a:t>
            </a:r>
            <a:r>
              <a:rPr lang="zh-CN" altLang="en-US" sz="20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en-US" altLang="zh-CN" sz="2000" b="1" kern="12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% </a:t>
            </a:r>
            <a:r>
              <a:rPr lang="en-US" altLang="zh-CN" sz="2000" b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[*] [</a:t>
            </a:r>
            <a:r>
              <a:rPr lang="zh-CN" altLang="en-US" sz="2000" b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宽度</a:t>
            </a:r>
            <a:r>
              <a:rPr lang="en-US" altLang="zh-CN" sz="2000" b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] </a:t>
            </a:r>
            <a:r>
              <a:rPr lang="en-US" altLang="zh-CN" sz="2000" b="1" kern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[</a:t>
            </a:r>
            <a:r>
              <a:rPr lang="en-US" altLang="zh-CN" sz="2000" b="1" kern="1200" dirty="0" err="1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h|l</a:t>
            </a:r>
            <a:r>
              <a:rPr lang="en-US" altLang="zh-CN" sz="2000" b="1" kern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] </a:t>
            </a:r>
            <a:r>
              <a:rPr lang="zh-CN" altLang="en-US" sz="2000" b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类型</a:t>
            </a:r>
            <a:r>
              <a:rPr lang="zh-CN" altLang="en-US" sz="2000" b="1" kern="12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字符</a:t>
            </a:r>
            <a:endParaRPr lang="en-US" altLang="zh-CN" sz="2000" b="1" kern="12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577850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1800" b="1" kern="120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例如，</a:t>
            </a:r>
            <a:r>
              <a:rPr lang="en-US" altLang="zh-CN" sz="1800" b="1" kern="1200" dirty="0" err="1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scanf</a:t>
            </a:r>
            <a:r>
              <a:rPr lang="en-US" altLang="zh-CN" sz="1800" b="1" kern="1200" dirty="0">
                <a:solidFill>
                  <a:srgbClr val="00206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("%2d%*2d%3d",&amp;num1,&amp;num2);</a:t>
            </a:r>
          </a:p>
          <a:p>
            <a:pPr marL="0" indent="187325" algn="just" eaLnBrk="1" hangingPunct="1">
              <a:lnSpc>
                <a:spcPct val="9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zh-CN" altLang="en-US" sz="1800" b="1" i="1" kern="12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  <a:r>
              <a:rPr lang="zh-CN" altLang="en-US" sz="1800" b="1" i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假设</a:t>
            </a:r>
            <a:r>
              <a:rPr lang="zh-CN" altLang="en-US" sz="1800" b="1" i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输入“</a:t>
            </a:r>
            <a:r>
              <a:rPr lang="en-US" altLang="zh-CN" sz="1800" b="1" i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123456789”</a:t>
            </a:r>
            <a:r>
              <a:rPr lang="zh-CN" altLang="en-US" sz="1800" b="1" i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，将</a:t>
            </a:r>
            <a:r>
              <a:rPr lang="zh-CN" altLang="en-US" sz="1800" b="1" i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读取“</a:t>
            </a:r>
            <a:r>
              <a:rPr lang="en-US" altLang="zh-CN" sz="1800" b="1" i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en-US" altLang="zh-CN" sz="1800" b="1" i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sz="1800" b="1" i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给</a:t>
            </a:r>
            <a:r>
              <a:rPr lang="en-US" altLang="zh-CN" sz="1800" b="1" i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num1</a:t>
            </a:r>
            <a:r>
              <a:rPr lang="zh-CN" altLang="en-US" sz="1800" b="1" i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；读取</a:t>
            </a:r>
            <a:r>
              <a:rPr lang="zh-CN" altLang="en-US" sz="1800" b="1" i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en-US" altLang="zh-CN" sz="1800" b="1" i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34”</a:t>
            </a:r>
            <a:r>
              <a:rPr lang="zh-CN" altLang="en-US" sz="1800" b="1" i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endParaRPr lang="en-US" altLang="zh-CN" sz="1800" b="1" i="1" kern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187325" algn="just" eaLnBrk="1" hangingPunct="1">
              <a:lnSpc>
                <a:spcPct val="9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US" altLang="zh-CN" sz="1800" b="1" i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1800" b="1" i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1800" b="1" i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但</a:t>
            </a:r>
            <a:r>
              <a:rPr lang="zh-CN" altLang="en-US" sz="1800" b="1" i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舍弃掉（“*”的作用）；读取“</a:t>
            </a:r>
            <a:r>
              <a:rPr lang="en-US" altLang="zh-CN" sz="1800" b="1" i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567”</a:t>
            </a:r>
            <a:r>
              <a:rPr lang="zh-CN" altLang="en-US" sz="1800" b="1" i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并</a:t>
            </a:r>
            <a:r>
              <a:rPr lang="zh-CN" altLang="en-US" sz="1800" b="1" i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赋值给</a:t>
            </a:r>
            <a:r>
              <a:rPr lang="en-US" altLang="zh-CN" sz="1800" b="1" i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num2</a:t>
            </a:r>
            <a:r>
              <a:rPr lang="zh-CN" altLang="en-US" sz="1800" b="1" i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indent="577850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空白字符</a:t>
            </a:r>
            <a:r>
              <a:rPr lang="zh-CN" altLang="en-US" sz="1800" b="1" i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（空格、</a:t>
            </a:r>
            <a:r>
              <a:rPr lang="en-US" altLang="zh-CN" sz="1800" b="1" i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Tab</a:t>
            </a:r>
            <a:r>
              <a:rPr lang="zh-CN" altLang="en-US" sz="1800" b="1" i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键和</a:t>
            </a:r>
            <a:r>
              <a:rPr lang="zh-CN" altLang="en-US" sz="1800" b="1" i="1" kern="12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回车键）；</a:t>
            </a:r>
            <a:endParaRPr lang="en-US" altLang="zh-CN" sz="1800" b="1" i="1" kern="12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577850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非空白字符</a:t>
            </a:r>
            <a:r>
              <a:rPr lang="zh-CN" altLang="en-US" sz="2000" b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（又称普通</a:t>
            </a:r>
            <a:r>
              <a:rPr lang="zh-CN" altLang="en-US" sz="2000" b="1" kern="12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字符）：必须原样输入。</a:t>
            </a:r>
            <a:endParaRPr lang="zh-CN" altLang="en-US" sz="2000" b="1" kern="12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577850" algn="just" eaLnBrk="1" hangingPunct="1">
              <a:buClr>
                <a:srgbClr val="CC9900"/>
              </a:buClr>
              <a:buFont typeface="Wingdings" panose="05000000000000000000" pitchFamily="2" charset="2"/>
              <a:buNone/>
              <a:defRPr/>
            </a:pPr>
            <a:endParaRPr lang="en-US" altLang="zh-CN" sz="2000" b="1" kern="12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577850" algn="just" eaLnBrk="1" hangingPunct="1">
              <a:buClr>
                <a:srgbClr val="CC99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000" b="1" kern="12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000" b="1" kern="12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000" b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r>
              <a:rPr lang="zh-CN" altLang="en-US" sz="2000" b="1" kern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输入项首地址</a:t>
            </a:r>
            <a:r>
              <a:rPr lang="zh-CN" altLang="en-US" sz="2000" b="1" kern="120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表</a:t>
            </a:r>
            <a:r>
              <a:rPr lang="zh-CN" altLang="en-US" sz="2000" b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r>
              <a:rPr lang="zh-CN" altLang="en-US" sz="2000" b="1" kern="12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由</a:t>
            </a:r>
            <a:r>
              <a:rPr lang="zh-CN" altLang="en-US" sz="2000" b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若干个输入项首地址</a:t>
            </a:r>
            <a:r>
              <a:rPr lang="zh-CN" altLang="en-US" sz="2000" b="1" kern="12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组成。</a:t>
            </a:r>
            <a:endParaRPr lang="en-US" altLang="zh-CN" sz="2000" b="1" kern="12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577850" algn="just" eaLnBrk="1" hangingPunct="1">
              <a:buClr>
                <a:srgbClr val="CC99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000" b="1" kern="12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变量</a:t>
            </a:r>
            <a:r>
              <a:rPr lang="zh-CN" altLang="en-US" sz="2000" b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首</a:t>
            </a:r>
            <a:r>
              <a:rPr lang="zh-CN" altLang="en-US" sz="2000" b="1" kern="12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地址的</a:t>
            </a:r>
            <a:r>
              <a:rPr lang="zh-CN" altLang="en-US" sz="2000" b="1" kern="1200" dirty="0">
                <a:latin typeface="仿宋" panose="02010609060101010101" pitchFamily="49" charset="-122"/>
                <a:ea typeface="仿宋" panose="02010609060101010101" pitchFamily="49" charset="-122"/>
              </a:rPr>
              <a:t>表示方法：  </a:t>
            </a:r>
            <a:r>
              <a:rPr lang="en-US" altLang="zh-CN" sz="2000" b="1" kern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&amp;</a:t>
            </a:r>
            <a:r>
              <a:rPr lang="zh-CN" altLang="en-US" sz="2000" b="1" kern="12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变量名</a:t>
            </a:r>
          </a:p>
          <a:p>
            <a:pPr marL="0" indent="577850" algn="just" eaLnBrk="1" hangingPunct="1">
              <a:buClr>
                <a:srgbClr val="CC9900"/>
              </a:buClr>
              <a:buFont typeface="Wingdings" panose="05000000000000000000" pitchFamily="2" charset="2"/>
              <a:buNone/>
              <a:defRPr/>
            </a:pPr>
            <a:endParaRPr lang="zh-CN" altLang="en-US" sz="2000" b="1" kern="12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577850" algn="just" eaLnBrk="1" hangingPunct="1">
              <a:buFont typeface="Wingdings" panose="05000000000000000000" pitchFamily="2" charset="2"/>
              <a:buNone/>
              <a:defRPr/>
            </a:pPr>
            <a:endParaRPr lang="zh-CN" altLang="en-US" sz="2400" dirty="0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4294967295"/>
          </p:nvPr>
        </p:nvSpPr>
        <p:spPr/>
        <p:txBody>
          <a:bodyPr/>
          <a:lstStyle/>
          <a:p>
            <a:pPr>
              <a:defRPr/>
            </a:pPr>
            <a:fld id="{945745DF-B286-4E0D-B603-7DB171DBBA77}" type="datetime1">
              <a:rPr lang="zh-CN" altLang="en-US" sz="1200" smtClean="0">
                <a:effectLst/>
                <a:latin typeface="+mj-lt"/>
                <a:ea typeface="宋体" panose="02010600030101010101" pitchFamily="2" charset="-122"/>
              </a:rPr>
              <a:t>2025/9/24</a:t>
            </a:fld>
            <a:endParaRPr lang="en-US" altLang="zh-CN" sz="1200">
              <a:effectLst/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55725" y="1150938"/>
            <a:ext cx="417671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3.3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输入</a:t>
            </a:r>
            <a:r>
              <a:rPr lang="zh-CN" altLang="en-US" sz="2400" b="1" kern="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与输出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85593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quarter" idx="4294967295"/>
          </p:nvPr>
        </p:nvSpPr>
        <p:spPr/>
        <p:txBody>
          <a:bodyPr/>
          <a:lstStyle/>
          <a:p>
            <a:pPr>
              <a:defRPr/>
            </a:pPr>
            <a:fld id="{9FB7F396-5F74-4F11-B9EC-A95F77200586}" type="datetime1">
              <a:rPr lang="zh-CN" altLang="en-US" sz="1200" smtClean="0">
                <a:effectLst/>
                <a:latin typeface="+mj-lt"/>
                <a:ea typeface="宋体" panose="02010600030101010101" pitchFamily="2" charset="-122"/>
              </a:rPr>
              <a:t>2025/9/24</a:t>
            </a:fld>
            <a:endParaRPr lang="en-US" altLang="zh-CN" sz="1200" dirty="0">
              <a:effectLst/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4213" y="1700213"/>
            <a:ext cx="8280400" cy="34480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[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例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3.12]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已知圆柱体的底半径为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radius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，高为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high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，求其体积。</a:t>
            </a:r>
          </a:p>
          <a:p>
            <a:pPr>
              <a:defRPr/>
            </a:pP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功能：说明函数</a:t>
            </a:r>
            <a:r>
              <a:rPr lang="en-US" altLang="zh-CN" i="1" dirty="0" err="1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()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的格式及作用。*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</a:t>
            </a:r>
          </a:p>
          <a:p>
            <a:pPr>
              <a:defRPr/>
            </a:pP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float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radius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high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vol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pi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800080"/>
                </a:solidFill>
                <a:latin typeface="Consolas" panose="020B0609020204030204" pitchFamily="49" charset="0"/>
              </a:rPr>
              <a:t>3.1415926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"Please input radius &amp; high: 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"%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f%f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,&amp;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radius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,&amp;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high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从键盘输入两个实数赋给变量</a:t>
            </a:r>
            <a:r>
              <a:rPr lang="en-US" altLang="zh-CN" i="1" dirty="0" err="1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r,h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*/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/>
            </a:r>
            <a:b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vol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pi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radius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radius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*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high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"radius=%7.2f, high=%7.2f, 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vol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=%7.2f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radius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high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vol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E7E7E7"/>
              </a:solidFill>
              <a:latin typeface="Consolas" panose="020B0609020204030204" pitchFamily="49" charset="0"/>
            </a:endParaRPr>
          </a:p>
        </p:txBody>
      </p:sp>
      <p:pic>
        <p:nvPicPr>
          <p:cNvPr id="14342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4876800"/>
            <a:ext cx="7200900" cy="160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1355725" y="1150938"/>
            <a:ext cx="417671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3.3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输入</a:t>
            </a:r>
            <a:r>
              <a:rPr lang="zh-CN" altLang="en-US" sz="2400" b="1" kern="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与输出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68555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1700213"/>
            <a:ext cx="7772400" cy="4681537"/>
          </a:xfrm>
        </p:spPr>
        <p:txBody>
          <a:bodyPr/>
          <a:lstStyle/>
          <a:p>
            <a:pPr marL="0" indent="187325" algn="just" eaLnBrk="1" hangingPunct="1">
              <a:lnSpc>
                <a:spcPct val="9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zh-CN" altLang="en-US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使用</a:t>
            </a:r>
            <a:r>
              <a:rPr lang="en-US" altLang="zh-CN" sz="2000" b="1" kern="1200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scanf</a:t>
            </a:r>
            <a:r>
              <a:rPr lang="en-US" altLang="zh-CN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()</a:t>
            </a:r>
            <a:r>
              <a:rPr lang="zh-CN" altLang="en-US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函数应注意的问题。</a:t>
            </a:r>
          </a:p>
          <a:p>
            <a:pPr marL="0" indent="187325" algn="just" eaLnBrk="1" hangingPunct="1">
              <a:lnSpc>
                <a:spcPct val="9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zh-CN" altLang="en-US" sz="2000" b="1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b="1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．类型修饰符──</a:t>
            </a:r>
            <a:r>
              <a:rPr lang="en-US" altLang="zh-CN" sz="2000" b="1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2000" b="1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b="1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en-US" sz="2000" b="1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indent="187325" algn="just" eaLnBrk="1" hangingPunct="1">
              <a:lnSpc>
                <a:spcPct val="90000"/>
              </a:lnSpc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zh-CN" altLang="en-US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其含义与</a:t>
            </a:r>
            <a:r>
              <a:rPr lang="en-US" altLang="zh-CN" sz="2000" b="1" kern="1200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printf</a:t>
            </a:r>
            <a:r>
              <a:rPr lang="en-US" altLang="zh-CN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()</a:t>
            </a:r>
            <a:r>
              <a:rPr lang="zh-CN" altLang="en-US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中的一样，分别为短整型和长整型。</a:t>
            </a:r>
            <a:endParaRPr lang="en-US" altLang="zh-CN" sz="2000" b="1" kern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b="1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b="1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．数据的输入</a:t>
            </a:r>
            <a:endParaRPr lang="en-US" altLang="zh-CN" sz="2000" b="1" kern="1200" dirty="0" smtClean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相邻的</a:t>
            </a:r>
            <a:r>
              <a:rPr lang="en-US" altLang="zh-CN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个输入数据之间，至少用一个空格分开，或者用</a:t>
            </a:r>
            <a:endParaRPr lang="en-US" altLang="zh-CN" sz="2000" b="1" kern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Tab</a:t>
            </a:r>
            <a:r>
              <a:rPr lang="zh-CN" altLang="en-US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键分开，或者输入</a:t>
            </a:r>
            <a:r>
              <a:rPr lang="en-US" altLang="zh-CN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个数据后，按回车，然后再输入</a:t>
            </a:r>
            <a:endParaRPr lang="en-US" altLang="zh-CN" sz="2000" b="1" kern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下</a:t>
            </a:r>
            <a:r>
              <a:rPr lang="en-US" altLang="zh-CN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个数据。</a:t>
            </a:r>
          </a:p>
          <a:p>
            <a:pPr marL="0" indent="288925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 例如，</a:t>
            </a:r>
            <a:r>
              <a:rPr lang="en-US" altLang="zh-CN" sz="2000" b="1" kern="1200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scanf</a:t>
            </a:r>
            <a:r>
              <a:rPr lang="en-US" altLang="zh-CN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("%d%d",&amp;num1,&amp;num2);</a:t>
            </a:r>
          </a:p>
          <a:p>
            <a:pPr marL="0" indent="288925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 正确的输入操作为：</a:t>
            </a:r>
            <a:r>
              <a:rPr lang="en-US" altLang="zh-CN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12□36↙</a:t>
            </a:r>
          </a:p>
          <a:p>
            <a:pPr marL="0" indent="288925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zh-CN" altLang="en-US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或者：</a:t>
            </a:r>
            <a:r>
              <a:rPr lang="en-US" altLang="zh-CN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12↙</a:t>
            </a:r>
          </a:p>
          <a:p>
            <a:pPr marL="0" indent="288925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       36↙</a:t>
            </a:r>
          </a:p>
          <a:p>
            <a:pPr marL="0" indent="288925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注：使用“↙”符号表示按回车键操作，在输入数据操作中</a:t>
            </a:r>
            <a:endParaRPr lang="en-US" altLang="zh-CN" sz="2000" b="1" kern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     </a:t>
            </a:r>
            <a:r>
              <a:rPr lang="zh-CN" altLang="en-US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的作用是，通知系统输入操作结束。</a:t>
            </a:r>
            <a:endParaRPr lang="zh-CN" altLang="en-US" sz="2000" b="1" kern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4294967295"/>
          </p:nvPr>
        </p:nvSpPr>
        <p:spPr/>
        <p:txBody>
          <a:bodyPr/>
          <a:lstStyle/>
          <a:p>
            <a:pPr>
              <a:defRPr/>
            </a:pPr>
            <a:fld id="{F3289B1A-C180-40C7-AEC5-3585A070146C}" type="datetime1">
              <a:rPr lang="zh-CN" altLang="en-US" sz="1200" smtClean="0">
                <a:effectLst/>
                <a:latin typeface="+mj-lt"/>
                <a:ea typeface="宋体" panose="02010600030101010101" pitchFamily="2" charset="-122"/>
              </a:rPr>
              <a:t>2025/9/24</a:t>
            </a:fld>
            <a:endParaRPr lang="en-US" altLang="zh-CN" sz="1200" dirty="0">
              <a:effectLst/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55725" y="1150938"/>
            <a:ext cx="417671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3.3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输入</a:t>
            </a:r>
            <a:r>
              <a:rPr lang="zh-CN" altLang="en-US" sz="2400" b="1" kern="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与输出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327920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/>
          </p:cNvSpPr>
          <p:nvPr>
            <p:ph idx="1"/>
          </p:nvPr>
        </p:nvSpPr>
        <p:spPr>
          <a:xfrm>
            <a:off x="827088" y="1628775"/>
            <a:ext cx="7924800" cy="4103688"/>
          </a:xfrm>
        </p:spPr>
        <p:txBody>
          <a:bodyPr/>
          <a:lstStyle/>
          <a:p>
            <a:pPr marL="0" indent="288925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 smtClean="0"/>
              <a:t> </a:t>
            </a:r>
            <a:r>
              <a:rPr lang="en-US" altLang="zh-CN" sz="2000" b="1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b="1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．“格式字符串”中出现的普通字符（包括转义字符形式</a:t>
            </a:r>
            <a:endParaRPr lang="en-US" altLang="zh-CN" sz="2000" b="1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b="1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2000" b="1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的字符），务必原样输入。</a:t>
            </a:r>
          </a:p>
          <a:p>
            <a:pPr marL="0" indent="288925" algn="just" eaLnBrk="1" hangingPunct="1">
              <a:lnSpc>
                <a:spcPct val="90000"/>
              </a:lnSpc>
              <a:buClr>
                <a:srgbClr val="CC99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例如：</a:t>
            </a:r>
            <a:r>
              <a:rPr lang="en-US" altLang="zh-CN" sz="2000" b="1" kern="1200" dirty="0" err="1">
                <a:latin typeface="楷体" panose="02010609060101010101" pitchFamily="49" charset="-122"/>
                <a:ea typeface="楷体" panose="02010609060101010101" pitchFamily="49" charset="-122"/>
              </a:rPr>
              <a:t>scanf</a:t>
            </a:r>
            <a:r>
              <a:rPr lang="en-US" altLang="zh-CN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("num1=%d,num2=%d\n",&amp;num1,&amp;num2); </a:t>
            </a:r>
          </a:p>
          <a:p>
            <a:pPr marL="0" indent="288925" algn="just" eaLnBrk="1" hangingPunct="1">
              <a:lnSpc>
                <a:spcPct val="90000"/>
              </a:lnSpc>
              <a:buClr>
                <a:srgbClr val="CC99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假设给</a:t>
            </a:r>
            <a:r>
              <a:rPr lang="en-US" altLang="zh-CN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num1</a:t>
            </a: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输入</a:t>
            </a:r>
            <a:r>
              <a:rPr lang="en-US" altLang="zh-CN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，给</a:t>
            </a:r>
            <a:r>
              <a:rPr lang="en-US" altLang="zh-CN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num2</a:t>
            </a: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输入</a:t>
            </a:r>
            <a:r>
              <a:rPr lang="en-US" altLang="zh-CN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36</a:t>
            </a: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，正确的输入操作为：</a:t>
            </a:r>
          </a:p>
          <a:p>
            <a:pPr marL="0" indent="288925" algn="just" eaLnBrk="1" hangingPunct="1">
              <a:lnSpc>
                <a:spcPct val="90000"/>
              </a:lnSpc>
              <a:buClr>
                <a:srgbClr val="CC99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num1=12</a:t>
            </a: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num2=36\n</a:t>
            </a:r>
            <a:r>
              <a:rPr lang="en-US" altLang="zh-CN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↙</a:t>
            </a:r>
          </a:p>
          <a:p>
            <a:pPr marL="0" indent="288925" algn="just" eaLnBrk="1" hangingPunct="1">
              <a:lnSpc>
                <a:spcPct val="90000"/>
              </a:lnSpc>
              <a:buClr>
                <a:srgbClr val="CC9900"/>
              </a:buClr>
              <a:buFont typeface="Wingdings" panose="05000000000000000000" pitchFamily="2" charset="2"/>
              <a:buNone/>
              <a:defRPr/>
            </a:pPr>
            <a:endParaRPr lang="en-US" altLang="zh-CN" sz="2000" b="1" kern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b="1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b="1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．使用格式说明符“</a:t>
            </a:r>
            <a:r>
              <a:rPr lang="en-US" altLang="zh-CN" sz="2000" b="1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%c”</a:t>
            </a:r>
            <a:r>
              <a:rPr lang="zh-CN" altLang="en-US" sz="2000" b="1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输入单个字符时，空格和转义字符</a:t>
            </a:r>
            <a:endParaRPr lang="en-US" altLang="zh-CN" sz="2000" b="1" kern="1200" dirty="0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000" b="1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000" b="1" kern="1200" dirty="0" smtClean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均</a:t>
            </a:r>
            <a:r>
              <a:rPr lang="zh-CN" altLang="en-US" sz="2000" b="1" kern="1200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作为有效字符被输入。</a:t>
            </a:r>
          </a:p>
          <a:p>
            <a:pPr marL="0" indent="288925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b="1" kern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例如</a:t>
            </a: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b="1" kern="1200" dirty="0" err="1">
                <a:latin typeface="楷体" panose="02010609060101010101" pitchFamily="49" charset="-122"/>
                <a:ea typeface="楷体" panose="02010609060101010101" pitchFamily="49" charset="-122"/>
              </a:rPr>
              <a:t>scanf</a:t>
            </a:r>
            <a:r>
              <a:rPr lang="en-US" altLang="zh-CN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("%c%c%c",&amp;ch1,&amp;ch2,&amp;ch3);</a:t>
            </a:r>
          </a:p>
          <a:p>
            <a:pPr marL="0" indent="288925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       假设输入：</a:t>
            </a:r>
            <a:r>
              <a:rPr lang="en-US" altLang="zh-CN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A□B□C↙</a:t>
            </a: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，则系统将字母</a:t>
            </a:r>
            <a:r>
              <a:rPr lang="en-US" altLang="zh-CN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'A'</a:t>
            </a: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赋值给</a:t>
            </a:r>
            <a:r>
              <a:rPr lang="en-US" altLang="zh-CN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ch1</a:t>
            </a: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000" b="1" kern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       空格</a:t>
            </a:r>
            <a:r>
              <a:rPr lang="en-US" altLang="zh-CN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'□'</a:t>
            </a: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赋值给</a:t>
            </a:r>
            <a:r>
              <a:rPr lang="en-US" altLang="zh-CN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ch2</a:t>
            </a: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，字母</a:t>
            </a:r>
            <a:r>
              <a:rPr lang="en-US" altLang="zh-CN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'B'</a:t>
            </a: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赋值给</a:t>
            </a:r>
            <a:r>
              <a:rPr lang="en-US" altLang="zh-CN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ch3</a:t>
            </a:r>
            <a:r>
              <a:rPr lang="zh-CN" altLang="en-US" sz="2000" b="1" kern="12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0" indent="288925" algn="just" eaLnBrk="1" hangingPunct="1">
              <a:buFont typeface="Wingdings" panose="05000000000000000000" pitchFamily="2" charset="2"/>
              <a:buNone/>
              <a:defRPr/>
            </a:pPr>
            <a:endParaRPr lang="zh-CN" altLang="en-US" sz="2400" dirty="0"/>
          </a:p>
          <a:p>
            <a:pPr marL="0" indent="288925" algn="just" eaLnBrk="1" hangingPunct="1">
              <a:lnSpc>
                <a:spcPct val="90000"/>
              </a:lnSpc>
              <a:buClr>
                <a:srgbClr val="CC9900"/>
              </a:buClr>
              <a:buFont typeface="Wingdings" panose="05000000000000000000" pitchFamily="2" charset="2"/>
              <a:buNone/>
              <a:defRPr/>
            </a:pPr>
            <a:endParaRPr lang="en-US" altLang="zh-CN" sz="2000" b="1" kern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288925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000" b="1" kern="12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288925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000" b="1" kern="12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    </a:t>
            </a:r>
            <a:endParaRPr lang="zh-CN" altLang="en-US" sz="2000" b="1" kern="12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4294967295"/>
          </p:nvPr>
        </p:nvSpPr>
        <p:spPr/>
        <p:txBody>
          <a:bodyPr/>
          <a:lstStyle/>
          <a:p>
            <a:pPr>
              <a:defRPr/>
            </a:pPr>
            <a:fld id="{C1159A51-501C-4583-8E3A-11686A7BC2F9}" type="datetime1">
              <a:rPr lang="zh-CN" altLang="en-US" sz="1200" smtClean="0">
                <a:effectLst/>
                <a:latin typeface="+mj-lt"/>
                <a:ea typeface="宋体" panose="02010600030101010101" pitchFamily="2" charset="-122"/>
              </a:rPr>
              <a:t>2025/9/24</a:t>
            </a:fld>
            <a:endParaRPr lang="en-US" altLang="zh-CN" sz="1200">
              <a:effectLst/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16390" name="文本框 1"/>
          <p:cNvSpPr txBox="1">
            <a:spLocks noChangeArrowheads="1"/>
          </p:cNvSpPr>
          <p:nvPr/>
        </p:nvSpPr>
        <p:spPr bwMode="auto">
          <a:xfrm>
            <a:off x="1314192" y="5517232"/>
            <a:ext cx="6883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建议：编程时在每条输入数据的语句之后加一条输出语句，随时检查数据是否正确读入。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355725" y="1150938"/>
            <a:ext cx="417671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3.3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输入</a:t>
            </a:r>
            <a:r>
              <a:rPr lang="zh-CN" altLang="en-US" sz="2400" b="1" kern="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与输出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078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quarter" idx="4294967295"/>
          </p:nvPr>
        </p:nvSpPr>
        <p:spPr/>
        <p:txBody>
          <a:bodyPr/>
          <a:lstStyle/>
          <a:p>
            <a:pPr>
              <a:defRPr/>
            </a:pPr>
            <a:fld id="{47649B86-F2A9-4F05-945E-861E12068634}" type="datetime1">
              <a:rPr lang="zh-CN" altLang="en-US" sz="1200" smtClean="0">
                <a:effectLst/>
                <a:latin typeface="+mj-lt"/>
                <a:ea typeface="宋体" panose="02010600030101010101" pitchFamily="2" charset="-122"/>
              </a:rPr>
              <a:t>2025/9/24</a:t>
            </a:fld>
            <a:endParaRPr lang="en-US" altLang="zh-CN" sz="1200">
              <a:effectLst/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55650" y="1700213"/>
            <a:ext cx="7488238" cy="31400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en-US" altLang="zh-CN" b="1" dirty="0" smtClean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Arial" panose="020B0604020202020204" pitchFamily="34" charset="0"/>
              </a:rPr>
              <a:t>3.3.3  </a:t>
            </a:r>
            <a:r>
              <a:rPr lang="zh-CN" altLang="en-US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Arial" panose="020B0604020202020204" pitchFamily="34" charset="0"/>
              </a:rPr>
              <a:t>单个字符的输出──</a:t>
            </a:r>
            <a:r>
              <a:rPr lang="en-US" altLang="zh-CN" b="1" dirty="0" err="1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Arial" panose="020B0604020202020204" pitchFamily="34" charset="0"/>
              </a:rPr>
              <a:t>putchar</a:t>
            </a:r>
            <a:r>
              <a:rPr lang="en-US" altLang="zh-CN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Arial" panose="020B0604020202020204" pitchFamily="34" charset="0"/>
              </a:rPr>
              <a:t>()</a:t>
            </a:r>
            <a:r>
              <a:rPr lang="zh-CN" altLang="en-US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Arial" panose="020B0604020202020204" pitchFamily="34" charset="0"/>
              </a:rPr>
              <a:t>函数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[</a:t>
            </a:r>
            <a:r>
              <a:rPr lang="zh-CN" altLang="en-US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3.13] </a:t>
            </a:r>
            <a:r>
              <a:rPr lang="en-US" altLang="zh-CN" b="1" dirty="0" err="1">
                <a:latin typeface="仿宋" panose="02010609060101010101" pitchFamily="49" charset="-122"/>
                <a:ea typeface="仿宋" panose="02010609060101010101" pitchFamily="49" charset="-122"/>
              </a:rPr>
              <a:t>putchar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()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函数的格式和使用方法。</a:t>
            </a:r>
          </a:p>
          <a:p>
            <a:pPr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/*</a:t>
            </a:r>
            <a:r>
              <a:rPr lang="zh-CN" altLang="en-US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功能：说明</a:t>
            </a:r>
            <a:r>
              <a:rPr lang="en-US" altLang="zh-CN" b="1" dirty="0" err="1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putchar</a:t>
            </a:r>
            <a:r>
              <a:rPr lang="en-US" altLang="zh-CN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()</a:t>
            </a:r>
            <a:r>
              <a:rPr lang="zh-CN" altLang="en-US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函数的格式和使用方法。*</a:t>
            </a:r>
            <a:r>
              <a:rPr lang="en-US" altLang="zh-CN" b="1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</a:p>
          <a:p>
            <a:pPr>
              <a:defRPr/>
            </a:pP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b="1" dirty="0" err="1">
                <a:solidFill>
                  <a:srgbClr val="007D17"/>
                </a:solidFill>
                <a:latin typeface="Consolas" panose="020B0609020204030204" pitchFamily="49" charset="0"/>
              </a:rPr>
              <a:t>stdio.h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编译预处理命令：文件包含*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/>
            </a:r>
            <a:b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'N'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'E'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ch3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'W'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putchar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ch1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putchar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ch2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putchar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ch3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输出*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</a:t>
            </a:r>
            <a:b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putchar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'\n'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E7E7E7"/>
              </a:solidFill>
              <a:latin typeface="Consolas" panose="020B0609020204030204" pitchFamily="49" charset="0"/>
            </a:endParaRPr>
          </a:p>
        </p:txBody>
      </p:sp>
      <p:pic>
        <p:nvPicPr>
          <p:cNvPr id="17414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4999038"/>
            <a:ext cx="724852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1355725" y="1150938"/>
            <a:ext cx="417671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3.3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输入</a:t>
            </a:r>
            <a:r>
              <a:rPr lang="zh-CN" altLang="en-US" sz="2400" b="1" kern="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与输出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30135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quarter" idx="4294967295"/>
          </p:nvPr>
        </p:nvSpPr>
        <p:spPr/>
        <p:txBody>
          <a:bodyPr/>
          <a:lstStyle/>
          <a:p>
            <a:pPr>
              <a:defRPr/>
            </a:pPr>
            <a:fld id="{96B785B2-8FF4-4A76-A7DF-86EE37525333}" type="datetime1">
              <a:rPr lang="zh-CN" altLang="en-US" sz="1200" smtClean="0">
                <a:effectLst/>
                <a:latin typeface="+mj-lt"/>
                <a:ea typeface="宋体" panose="02010600030101010101" pitchFamily="2" charset="-122"/>
              </a:rPr>
              <a:t>2025/9/24</a:t>
            </a:fld>
            <a:endParaRPr lang="en-US" altLang="zh-CN" sz="1200">
              <a:effectLst/>
              <a:latin typeface="+mj-lt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39800" y="1635125"/>
            <a:ext cx="7416800" cy="31115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[</a:t>
            </a:r>
            <a:r>
              <a:rPr lang="zh-CN" altLang="en-US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3.14] 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说明</a:t>
            </a:r>
            <a:r>
              <a:rPr lang="en-US" altLang="zh-CN" b="1" dirty="0" err="1">
                <a:latin typeface="仿宋" panose="02010609060101010101" pitchFamily="49" charset="-122"/>
                <a:ea typeface="仿宋" panose="02010609060101010101" pitchFamily="49" charset="-122"/>
              </a:rPr>
              <a:t>getchar</a:t>
            </a: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()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函数的格式和作用。</a:t>
            </a:r>
          </a:p>
          <a:p>
            <a:pPr>
              <a:defRPr/>
            </a:pPr>
            <a:r>
              <a:rPr lang="en-US" altLang="zh-CN" dirty="0">
                <a:solidFill>
                  <a:srgbClr val="1F542E"/>
                </a:solidFill>
                <a:latin typeface="Consolas" panose="020B0609020204030204" pitchFamily="49" charset="0"/>
              </a:rPr>
              <a:t>#include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stdio</a:t>
            </a:r>
            <a:r>
              <a:rPr lang="en-US" altLang="zh-CN" b="1" dirty="0" err="1">
                <a:solidFill>
                  <a:srgbClr val="C1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400080"/>
                </a:solidFill>
                <a:latin typeface="Consolas" panose="020B0609020204030204" pitchFamily="49" charset="0"/>
              </a:rPr>
              <a:t>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&gt;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0627A"/>
                </a:solidFill>
                <a:latin typeface="Consolas" panose="020B0609020204030204" pitchFamily="49" charset="0"/>
              </a:rPr>
              <a:t>main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(){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007D17"/>
                </a:solidFill>
                <a:latin typeface="Consolas" panose="020B0609020204030204" pitchFamily="49" charset="0"/>
              </a:rPr>
              <a:t>"Please input two character: "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getchar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  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输入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个字符并赋给</a:t>
            </a:r>
            <a:r>
              <a:rPr lang="en-US" altLang="zh-CN" i="1" dirty="0" err="1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ch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 */</a:t>
            </a:r>
            <a:b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putchar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putchar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'\n'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putchar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getchar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());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/*</a:t>
            </a:r>
            <a:r>
              <a:rPr lang="zh-CN" altLang="en-US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输入一个字符并输出*</a:t>
            </a:r>
            <a:r>
              <a:rPr lang="en-US" altLang="zh-CN" i="1" dirty="0">
                <a:solidFill>
                  <a:schemeClr val="accent5">
                    <a:lumMod val="25000"/>
                  </a:schemeClr>
                </a:solidFill>
                <a:latin typeface="Consolas" panose="020B0609020204030204" pitchFamily="49" charset="0"/>
              </a:rPr>
              <a:t>/</a:t>
            </a:r>
            <a: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  <a:t/>
            </a:r>
            <a:br>
              <a:rPr lang="en-US" altLang="zh-CN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zh-CN" altLang="en-US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 err="1">
                <a:solidFill>
                  <a:srgbClr val="00627A"/>
                </a:solidFill>
                <a:latin typeface="Consolas" panose="020B0609020204030204" pitchFamily="49" charset="0"/>
              </a:rPr>
              <a:t>putchar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'\n'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b="1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BABABA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1750EB"/>
                </a:solidFill>
                <a:latin typeface="Consolas" panose="020B0609020204030204" pitchFamily="49" charset="0"/>
              </a:rPr>
              <a:t>0</a:t>
            </a: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C1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E7E7E7"/>
              </a:solidFill>
              <a:latin typeface="Consolas" panose="020B0609020204030204" pitchFamily="49" charset="0"/>
            </a:endParaRPr>
          </a:p>
        </p:txBody>
      </p:sp>
      <p:pic>
        <p:nvPicPr>
          <p:cNvPr id="18439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5" y="4437063"/>
            <a:ext cx="7096125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1355725" y="1150938"/>
            <a:ext cx="417671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3.3 </a:t>
            </a:r>
            <a:r>
              <a:rPr lang="zh-CN" altLang="en-US" sz="2400" b="1" kern="0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输入</a:t>
            </a:r>
            <a:r>
              <a:rPr lang="zh-CN" altLang="en-US" sz="2400" b="1" kern="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与输出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章 结构化程序设计</a:t>
            </a: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—</a:t>
            </a: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方正姚体" panose="02010601030101010101" pitchFamily="2" charset="-122"/>
                <a:cs typeface="+mn-cs"/>
              </a:rPr>
              <a:t>数据与运算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方正姚体" panose="02010601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913580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b1f1d29-bd53-46a1-881d-9e0a6b1d8e1c"/>
  <p:tag name="COMMONDATA" val="eyJoZGlkIjoiZmUyMGIyN2ZjYTYxMTM5YjdhMDk5OWRkNWI4ZTVjYW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340,&quot;width&quot;:7712.500787401575}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华文新魏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00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6280</Words>
  <Application>Microsoft Office PowerPoint</Application>
  <PresentationFormat>全屏显示(4:3)</PresentationFormat>
  <Paragraphs>832</Paragraphs>
  <Slides>72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87" baseType="lpstr">
      <vt:lpstr>方正姚体</vt:lpstr>
      <vt:lpstr>仿宋</vt:lpstr>
      <vt:lpstr>华文隶书</vt:lpstr>
      <vt:lpstr>华文新魏</vt:lpstr>
      <vt:lpstr>华文行楷</vt:lpstr>
      <vt:lpstr>楷体</vt:lpstr>
      <vt:lpstr>楷体_GB2312</vt:lpstr>
      <vt:lpstr>宋体</vt:lpstr>
      <vt:lpstr>Arial</vt:lpstr>
      <vt:lpstr>Cambria Math</vt:lpstr>
      <vt:lpstr>Consolas</vt:lpstr>
      <vt:lpstr>Tahoma</vt:lpstr>
      <vt:lpstr>Times New Roman</vt:lpstr>
      <vt:lpstr>Wingdings</vt:lpstr>
      <vt:lpstr>Blends</vt:lpstr>
      <vt:lpstr>PowerPoint 演示文稿</vt:lpstr>
      <vt:lpstr>3.1 C语言的数据类型</vt:lpstr>
      <vt:lpstr>3.1.1   常量和变量</vt:lpstr>
      <vt:lpstr>3.1.1   常量和变量</vt:lpstr>
      <vt:lpstr>3.1.1   常量和变量</vt:lpstr>
      <vt:lpstr>3.1.1   常量和变量</vt:lpstr>
      <vt:lpstr>3.1.1   常量和变量</vt:lpstr>
      <vt:lpstr>3.1.1   常量和变量</vt:lpstr>
      <vt:lpstr>3.1.2   整型数据</vt:lpstr>
      <vt:lpstr>PowerPoint 演示文稿</vt:lpstr>
      <vt:lpstr>PowerPoint 演示文稿</vt:lpstr>
      <vt:lpstr>PowerPoint 演示文稿</vt:lpstr>
      <vt:lpstr>3.1.3  实型数据</vt:lpstr>
      <vt:lpstr>3.1.3  实型数据</vt:lpstr>
      <vt:lpstr>3.1.3  实型数据</vt:lpstr>
      <vt:lpstr>3.1.3  实型数据</vt:lpstr>
      <vt:lpstr>3.1.3  实型数据</vt:lpstr>
      <vt:lpstr>3.1.4  字符型数据</vt:lpstr>
      <vt:lpstr>3.1.4  字符型数据</vt:lpstr>
      <vt:lpstr>3.1.4  字符型数据</vt:lpstr>
      <vt:lpstr>PowerPoint 演示文稿</vt:lpstr>
      <vt:lpstr>3.1.4  字符型数据</vt:lpstr>
      <vt:lpstr>PowerPoint 演示文稿</vt:lpstr>
      <vt:lpstr>PowerPoint 演示文稿</vt:lpstr>
      <vt:lpstr>PowerPoint 演示文稿</vt:lpstr>
      <vt:lpstr>PowerPoint 演示文稿</vt:lpstr>
      <vt:lpstr>3.2   运算与表达式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3.2.5  赋值运算与赋值表达式</vt:lpstr>
      <vt:lpstr>3.2.5  赋值运算与赋值表达式</vt:lpstr>
      <vt:lpstr>3.2.5  赋值运算与赋值表达式</vt:lpstr>
      <vt:lpstr>3.2.5  赋值运算与赋值表达式</vt:lpstr>
      <vt:lpstr>3.2.6  C语言特有的运算和运算符</vt:lpstr>
      <vt:lpstr>3.2.6  C语言特有的运算和运算符</vt:lpstr>
      <vt:lpstr>3.2.6  C语言特有的运算和运算符</vt:lpstr>
      <vt:lpstr>3.2.6  C语言特有的运算和运算符</vt:lpstr>
      <vt:lpstr>PowerPoint 演示文稿</vt:lpstr>
      <vt:lpstr>PowerPoint 演示文稿</vt:lpstr>
      <vt:lpstr>3.2.8  关系运算及其表达式</vt:lpstr>
      <vt:lpstr>3.2.8  关系运算及其表达式</vt:lpstr>
      <vt:lpstr>3.2.8  关系运算及其表达式</vt:lpstr>
      <vt:lpstr>3.2.8  关系运算及其表达式</vt:lpstr>
      <vt:lpstr>3.2.9   逻辑运算及其表达式</vt:lpstr>
      <vt:lpstr>3.2.9   逻辑运算及其表达式</vt:lpstr>
      <vt:lpstr>3.2.9   逻辑运算及其表达式</vt:lpstr>
      <vt:lpstr>3.2.9   逻辑运算及其表达式</vt:lpstr>
      <vt:lpstr>3.2.9   逻辑运算及其表达式</vt:lpstr>
      <vt:lpstr>3.2.10   条件运算</vt:lpstr>
      <vt:lpstr>3.2.10   条件运算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zhengzhong</dc:creator>
  <cp:lastModifiedBy>zheng</cp:lastModifiedBy>
  <cp:revision>1075</cp:revision>
  <dcterms:created xsi:type="dcterms:W3CDTF">2003-08-26T10:11:00Z</dcterms:created>
  <dcterms:modified xsi:type="dcterms:W3CDTF">2025-09-24T03:22:42Z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BE899B13960B49CC82212918F8E7A596_12</vt:lpwstr>
  </property>
  <property fmtid="{D5CDD505-2E9C-101B-9397-08002B2CF9AE}" pid="3" name="KSOProductBuildVer">
    <vt:lpwstr>2052-11.1.0.14309</vt:lpwstr>
  </property>
</Properties>
</file>