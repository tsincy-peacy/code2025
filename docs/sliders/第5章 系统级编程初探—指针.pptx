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84"/>
  </p:notesMasterIdLst>
  <p:handoutMasterIdLst>
    <p:handoutMasterId r:id="rId85"/>
  </p:handoutMasterIdLst>
  <p:sldIdLst>
    <p:sldId id="450" r:id="rId2"/>
    <p:sldId id="451" r:id="rId3"/>
    <p:sldId id="452" r:id="rId4"/>
    <p:sldId id="454" r:id="rId5"/>
    <p:sldId id="455" r:id="rId6"/>
    <p:sldId id="456" r:id="rId7"/>
    <p:sldId id="459" r:id="rId8"/>
    <p:sldId id="460" r:id="rId9"/>
    <p:sldId id="461" r:id="rId10"/>
    <p:sldId id="462" r:id="rId11"/>
    <p:sldId id="463" r:id="rId12"/>
    <p:sldId id="464" r:id="rId13"/>
    <p:sldId id="465" r:id="rId14"/>
    <p:sldId id="466" r:id="rId15"/>
    <p:sldId id="467" r:id="rId16"/>
    <p:sldId id="468" r:id="rId17"/>
    <p:sldId id="469" r:id="rId18"/>
    <p:sldId id="470" r:id="rId19"/>
    <p:sldId id="471" r:id="rId20"/>
    <p:sldId id="472" r:id="rId21"/>
    <p:sldId id="473" r:id="rId22"/>
    <p:sldId id="474" r:id="rId23"/>
    <p:sldId id="476" r:id="rId24"/>
    <p:sldId id="477" r:id="rId25"/>
    <p:sldId id="478" r:id="rId26"/>
    <p:sldId id="479" r:id="rId27"/>
    <p:sldId id="480" r:id="rId28"/>
    <p:sldId id="481" r:id="rId29"/>
    <p:sldId id="482" r:id="rId30"/>
    <p:sldId id="483" r:id="rId31"/>
    <p:sldId id="484" r:id="rId32"/>
    <p:sldId id="487" r:id="rId33"/>
    <p:sldId id="488" r:id="rId34"/>
    <p:sldId id="489" r:id="rId35"/>
    <p:sldId id="490" r:id="rId36"/>
    <p:sldId id="491" r:id="rId37"/>
    <p:sldId id="549" r:id="rId38"/>
    <p:sldId id="493" r:id="rId39"/>
    <p:sldId id="494" r:id="rId40"/>
    <p:sldId id="495" r:id="rId41"/>
    <p:sldId id="496" r:id="rId42"/>
    <p:sldId id="497" r:id="rId43"/>
    <p:sldId id="498" r:id="rId44"/>
    <p:sldId id="499" r:id="rId45"/>
    <p:sldId id="500" r:id="rId46"/>
    <p:sldId id="501" r:id="rId47"/>
    <p:sldId id="502" r:id="rId48"/>
    <p:sldId id="503" r:id="rId49"/>
    <p:sldId id="504" r:id="rId50"/>
    <p:sldId id="505" r:id="rId51"/>
    <p:sldId id="507" r:id="rId52"/>
    <p:sldId id="508" r:id="rId53"/>
    <p:sldId id="509" r:id="rId54"/>
    <p:sldId id="510" r:id="rId55"/>
    <p:sldId id="511" r:id="rId56"/>
    <p:sldId id="512" r:id="rId57"/>
    <p:sldId id="513" r:id="rId58"/>
    <p:sldId id="514" r:id="rId59"/>
    <p:sldId id="515" r:id="rId60"/>
    <p:sldId id="516" r:id="rId61"/>
    <p:sldId id="517" r:id="rId62"/>
    <p:sldId id="527" r:id="rId63"/>
    <p:sldId id="528" r:id="rId64"/>
    <p:sldId id="529" r:id="rId65"/>
    <p:sldId id="530" r:id="rId66"/>
    <p:sldId id="531" r:id="rId67"/>
    <p:sldId id="532" r:id="rId68"/>
    <p:sldId id="533" r:id="rId69"/>
    <p:sldId id="534" r:id="rId70"/>
    <p:sldId id="535" r:id="rId71"/>
    <p:sldId id="536" r:id="rId72"/>
    <p:sldId id="548" r:id="rId73"/>
    <p:sldId id="537" r:id="rId74"/>
    <p:sldId id="538" r:id="rId75"/>
    <p:sldId id="539" r:id="rId76"/>
    <p:sldId id="540" r:id="rId77"/>
    <p:sldId id="541" r:id="rId78"/>
    <p:sldId id="542" r:id="rId79"/>
    <p:sldId id="543" r:id="rId80"/>
    <p:sldId id="544" r:id="rId81"/>
    <p:sldId id="545" r:id="rId82"/>
    <p:sldId id="546" r:id="rId83"/>
  </p:sldIdLst>
  <p:sldSz cx="9144000" cy="6858000" type="screen4x3"/>
  <p:notesSz cx="6858000" cy="9144000"/>
  <p:custDataLst>
    <p:tags r:id="rId86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" initials="A" lastIdx="0" clrIdx="0">
    <p:extLst>
      <p:ext uri="{19B8F6BF-5375-455C-9EA6-DF929625EA0E}">
        <p15:presenceInfo xmlns:p15="http://schemas.microsoft.com/office/powerpoint/2012/main" userId="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  <a:srgbClr val="5F5F5F"/>
    <a:srgbClr val="808080"/>
    <a:srgbClr val="336600"/>
    <a:srgbClr val="993366"/>
    <a:srgbClr val="6600CC"/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0"/>
    <p:restoredTop sz="97121"/>
  </p:normalViewPr>
  <p:slideViewPr>
    <p:cSldViewPr showGuides="1">
      <p:cViewPr varScale="1">
        <p:scale>
          <a:sx n="159" d="100"/>
          <a:sy n="159" d="100"/>
        </p:scale>
        <p:origin x="1842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commentAuthors" Target="commentAuthor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617061F-96D6-42D6-9118-BBCB78E1127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2025/11/4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FA0224-4C96-4750-9007-2A9F769BD3B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EB62048-02B8-4293-8B8F-550E60BBA87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0115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90116" name="页眉占位符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>
              <a:buNone/>
            </a:pPr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90117" name="日期占位符 4"/>
          <p:cNvSpPr txBox="1">
            <a:spLocks noGrp="1"/>
          </p:cNvSpPr>
          <p:nvPr>
            <p:ph type="dt" sz="half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>
              <a:buNone/>
            </a:pPr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90118" name="页脚占位符 5"/>
          <p:cNvSpPr txBox="1">
            <a:spLocks noGrp="1"/>
          </p:cNvSpPr>
          <p:nvPr>
            <p:ph type="ftr" sz="quarte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>
              <a:buNone/>
            </a:pPr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90119" name="灯片编号占位符 6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64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1814513"/>
            <a:ext cx="9009063" cy="1052512"/>
            <a:chOff x="0" y="1536"/>
            <a:chExt cx="5675" cy="663"/>
          </a:xfrm>
        </p:grpSpPr>
        <p:grpSp>
          <p:nvGrpSpPr>
            <p:cNvPr id="2055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3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056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1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8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2051" name="Picture 17" descr="ustc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73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Text Box 1"/>
          <p:cNvSpPr txBox="1">
            <a:spLocks noChangeArrowheads="1"/>
          </p:cNvSpPr>
          <p:nvPr/>
        </p:nvSpPr>
        <p:spPr bwMode="auto">
          <a:xfrm>
            <a:off x="0" y="4076700"/>
            <a:ext cx="9144000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郑重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ahoma" panose="020B0604030504040204" pitchFamily="34" charset="0"/>
                <a:ea typeface="华文行楷" panose="02010800040101010101" pitchFamily="2" charset="-122"/>
                <a:cs typeface="+mn-cs"/>
              </a:rPr>
              <a:t>中国科学技术大学微电子学院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ahoma" panose="020B0604030504040204" pitchFamily="34" charset="0"/>
              <a:ea typeface="华文行楷" panose="0201080004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School of Microelectronics, USTC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Fall, 2022</a:t>
            </a: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0" y="1052513"/>
            <a:ext cx="9144000" cy="1462087"/>
          </a:xfrm>
        </p:spPr>
        <p:txBody>
          <a:bodyPr/>
          <a:lstStyle>
            <a:lvl1pPr algn="ctr">
              <a:defRPr sz="5000" b="1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0" y="3141663"/>
            <a:ext cx="9144000" cy="863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隶书" panose="02010800040101010101" pitchFamily="2" charset="-122"/>
              </a:defRPr>
            </a:lvl1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79388" y="6237288"/>
            <a:ext cx="1152525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371671-0985-4FAF-98F8-2AFCAD39254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76375" y="6243638"/>
            <a:ext cx="619125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计算机程序设计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-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第一章 计算机及程序设计基础知识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812088" y="6237288"/>
            <a:ext cx="1152525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15283C-7D90-47C0-A986-CF07A662094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1216F0-DF9E-433E-B0FA-D9ABFB0EBAA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计算机程序设计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-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第一章 计算机及程序设计基础知识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8DA8C9-C4B7-492E-9B8B-E7E15B14EFB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16013" y="1844675"/>
            <a:ext cx="3843337" cy="4392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11750" y="1844675"/>
            <a:ext cx="3843338" cy="4392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7E9B500-5910-4D19-B0D0-311E488B0AB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计算机程序设计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-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第一章 计算机及程序设计基础知识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8DA8C9-C4B7-492E-9B8B-E7E15B14EFB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C7A69D-30EA-489A-AE48-73FD4BF94F9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计算机程序设计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-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第一章 计算机及程序设计基础知识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8DA8C9-C4B7-492E-9B8B-E7E15B14EFB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54273F-BCCE-4CDD-88B1-D7C4AC3B842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计算机程序设计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-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第一章 计算机及程序设计基础知识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8DA8C9-C4B7-492E-9B8B-E7E15B14EFB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6386EB-5447-4F09-ADF3-E3B2420E01DB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计算机程序设计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-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第一章 计算机及程序设计基础知识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8DA8C9-C4B7-492E-9B8B-E7E15B14EFB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D8D4758-317E-4BB7-AA11-6071E357D57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计算机程序设计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-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第一章 计算机及程序设计基础知识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8DA8C9-C4B7-492E-9B8B-E7E15B14EFB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71B1CD-F645-470A-AF44-73BD6D14F3E5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计算机程序设计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-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第一章 计算机及程序设计基础知识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8DA8C9-C4B7-492E-9B8B-E7E15B14EFB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A91D6FB-9740-46D5-A0F5-4A5B84550DAB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计算机程序设计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-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第一章 计算机及程序设计基础知识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8DA8C9-C4B7-492E-9B8B-E7E15B14EFB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96113" y="620713"/>
            <a:ext cx="1958975" cy="56165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16013" y="620713"/>
            <a:ext cx="5727700" cy="56165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4D2595B-3AFF-45DF-8B4E-1A97BBBC3DCF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计算机程序设计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-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第一章 计算机及程序设计基础知识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8DA8C9-C4B7-492E-9B8B-E7E15B14EFB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6013" y="620713"/>
            <a:ext cx="7827962" cy="9366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16013" y="1844675"/>
            <a:ext cx="3843337" cy="4392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11750" y="1844675"/>
            <a:ext cx="3843338" cy="4392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0379C4-C425-4407-A3B5-63E102998E1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计算机程序设计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-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第一章 计算机及程序设计基础知识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8DA8C9-C4B7-492E-9B8B-E7E15B14EFB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900113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900113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322388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322388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2493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792163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58273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16013" y="620713"/>
            <a:ext cx="7827963" cy="936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/>
          <p:cNvSpPr>
            <a:spLocks noGrp="1"/>
          </p:cNvSpPr>
          <p:nvPr>
            <p:ph type="body" idx="1"/>
          </p:nvPr>
        </p:nvSpPr>
        <p:spPr>
          <a:xfrm>
            <a:off x="1116013" y="1844675"/>
            <a:ext cx="7839075" cy="43926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10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79388" y="6237288"/>
            <a:ext cx="115252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4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方正姚体" panose="02010601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D67A6B3-7CB1-4A6C-8E0F-E92220EEFB6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410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76375" y="6243638"/>
            <a:ext cx="61912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40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方正姚体" panose="02010601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计算机程序设计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-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第一章 计算机及程序设计基础知识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812088" y="6237288"/>
            <a:ext cx="115252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4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方正姚体" panose="02010601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8DA8C9-C4B7-492E-9B8B-E7E15B14EFB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  <p:pic>
        <p:nvPicPr>
          <p:cNvPr id="1038" name="Picture 18" descr="ustc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0"/>
            <a:ext cx="9144000" cy="6731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800">
          <a:solidFill>
            <a:srgbClr val="3366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800">
          <a:solidFill>
            <a:srgbClr val="3366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华文新魏" panose="0201080004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800">
          <a:solidFill>
            <a:srgbClr val="3366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华文新魏" panose="0201080004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800">
          <a:solidFill>
            <a:srgbClr val="3366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华文新魏" panose="0201080004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800">
          <a:solidFill>
            <a:srgbClr val="3366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华文新魏" panose="020108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800">
          <a:solidFill>
            <a:srgbClr val="3366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华文新魏" panose="0201080004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800">
          <a:solidFill>
            <a:srgbClr val="3366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华文新魏" panose="0201080004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800">
          <a:solidFill>
            <a:srgbClr val="3366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华文新魏" panose="0201080004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800">
          <a:solidFill>
            <a:srgbClr val="3366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华文新魏" panose="020108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92213" y="857250"/>
            <a:ext cx="5972075" cy="685800"/>
          </a:xfrm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第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5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章    </a:t>
            </a:r>
            <a:r>
              <a:rPr lang="zh-CN" altLang="en-US" sz="2800" b="1" dirty="0">
                <a:solidFill>
                  <a:schemeClr val="tx2">
                    <a:lumMod val="7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系统级编程初探</a:t>
            </a:r>
            <a:r>
              <a:rPr lang="en-US" altLang="zh-CN" sz="2800" b="1" dirty="0">
                <a:solidFill>
                  <a:schemeClr val="tx2">
                    <a:lumMod val="7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-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指   针</a:t>
            </a:r>
          </a:p>
        </p:txBody>
      </p:sp>
      <p:sp>
        <p:nvSpPr>
          <p:cNvPr id="4099" name="Rectangle 3"/>
          <p:cNvSpPr>
            <a:spLocks noGrp="1"/>
          </p:cNvSpPr>
          <p:nvPr>
            <p:ph type="body"/>
          </p:nvPr>
        </p:nvSpPr>
        <p:spPr>
          <a:xfrm>
            <a:off x="395288" y="1773238"/>
            <a:ext cx="7848600" cy="4470400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574675" eaLnBrk="1" hangingPunct="1">
              <a:buNone/>
            </a:pP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指针是Ｃ语言中的重要概念，也是Ｃ语言的重要特色。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574675" eaLnBrk="1" hangingPunct="1">
              <a:buNone/>
            </a:pP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使用指针，可以使程序更加简洁、紧凑、高效。</a:t>
            </a:r>
          </a:p>
          <a:p>
            <a:pPr marL="0" indent="574675" eaLnBrk="1" hangingPunct="1">
              <a:buNone/>
            </a:pPr>
            <a:endParaRPr lang="zh-CN" altLang="en-US" sz="2400" dirty="0"/>
          </a:p>
        </p:txBody>
      </p:sp>
      <p:sp>
        <p:nvSpPr>
          <p:cNvPr id="6" name="日期占位符 5"/>
          <p:cNvSpPr txBox="1">
            <a:spLocks noGrp="1"/>
          </p:cNvSpPr>
          <p:nvPr>
            <p:ph type="dt" sz="half" idx="10"/>
          </p:nvPr>
        </p:nvSpPr>
        <p:spPr bwMode="auto">
          <a:ln/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6EC7F1A-6A66-4641-A1F4-AA89BEE296A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8197" name="灯片编号占位符 6"/>
          <p:cNvSpPr txBox="1">
            <a:spLocks noGrp="1"/>
          </p:cNvSpPr>
          <p:nvPr>
            <p:ph type="sldNum" sz="quarter" idx="12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039F24-1EC6-4ACB-BFA3-3DA8BBE4D0DB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charRg st="48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099">
                                            <p:txEl>
                                              <p:charRg st="48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099">
                                            <p:txEl>
                                              <p:charRg st="48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charRg st="48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99">
                                            <p:txEl>
                                              <p:charRg st="48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99">
                                            <p:txEl>
                                              <p:charRg st="48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charRg st="48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099">
                                            <p:txEl>
                                              <p:charRg st="48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099">
                                            <p:txEl>
                                              <p:charRg st="48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charRg st="48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099">
                                            <p:txEl>
                                              <p:charRg st="48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099">
                                            <p:txEl>
                                              <p:charRg st="48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charRg st="48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99">
                                            <p:txEl>
                                              <p:charRg st="48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99">
                                            <p:txEl>
                                              <p:charRg st="48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908050"/>
            <a:ext cx="5113338" cy="68262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5.1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指针变量的概念</a:t>
            </a:r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xfrm>
            <a:off x="755650" y="1690688"/>
            <a:ext cx="8066088" cy="4552950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-323850" eaLnBrk="1" hangingPunct="1">
              <a:buNone/>
            </a:pPr>
            <a:r>
              <a:rPr lang="en-US" altLang="zh-CN" sz="26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1.</a:t>
            </a:r>
            <a:r>
              <a:rPr lang="zh-CN" altLang="en-US" sz="26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内存地址──内存中存储单元的编号</a:t>
            </a:r>
          </a:p>
          <a:p>
            <a:pPr marL="0" indent="-323850" eaLnBrk="1" hangingPunct="1">
              <a:buNone/>
            </a:pPr>
            <a:r>
              <a:rPr lang="zh-CN" altLang="en-US" sz="26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    计算机</a:t>
            </a:r>
            <a:r>
              <a:rPr lang="zh-CN" altLang="en-US" sz="2600" b="1" dirty="0">
                <a:latin typeface="仿宋" panose="02010609060101010101" pitchFamily="49" charset="-122"/>
                <a:ea typeface="仿宋" panose="02010609060101010101" pitchFamily="49" charset="-122"/>
              </a:rPr>
              <a:t>硬件系统的内存储器中，拥有大量的存储</a:t>
            </a:r>
            <a:endParaRPr lang="en-US" altLang="zh-CN" sz="26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-323850" eaLnBrk="1" hangingPunct="1">
              <a:buNone/>
            </a:pPr>
            <a:r>
              <a:rPr lang="zh-CN" altLang="en-US" sz="2600" b="1" dirty="0">
                <a:latin typeface="仿宋" panose="02010609060101010101" pitchFamily="49" charset="-122"/>
                <a:ea typeface="仿宋" panose="02010609060101010101" pitchFamily="49" charset="-122"/>
              </a:rPr>
              <a:t>单元（容量为１字节）。为了方便管理</a:t>
            </a:r>
            <a:r>
              <a:rPr lang="zh-CN" altLang="en-US" sz="26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，每一个存储</a:t>
            </a:r>
            <a:endParaRPr lang="en-US" altLang="zh-CN" sz="2600" b="1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-323850" eaLnBrk="1" hangingPunct="1">
              <a:buNone/>
            </a:pPr>
            <a:r>
              <a:rPr lang="zh-CN" altLang="en-US" sz="26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单元</a:t>
            </a:r>
            <a:r>
              <a:rPr lang="zh-CN" altLang="en-US" sz="2600" b="1" dirty="0">
                <a:latin typeface="仿宋" panose="02010609060101010101" pitchFamily="49" charset="-122"/>
                <a:ea typeface="仿宋" panose="02010609060101010101" pitchFamily="49" charset="-122"/>
              </a:rPr>
              <a:t>都有一个惟一的编号</a:t>
            </a:r>
            <a:r>
              <a:rPr lang="zh-CN" altLang="en-US" sz="26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，这个编号就是存储单元的</a:t>
            </a:r>
            <a:endParaRPr lang="en-US" altLang="zh-CN" sz="2600" b="1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-323850" eaLnBrk="1" hangingPunct="1">
              <a:buNone/>
            </a:pPr>
            <a:r>
              <a:rPr lang="zh-CN" altLang="en-US" sz="26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“地址”。</a:t>
            </a:r>
            <a:endParaRPr lang="en-US" altLang="zh-CN" sz="2600" b="1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-323850" eaLnBrk="1" hangingPunct="1">
              <a:buNone/>
            </a:pPr>
            <a:endParaRPr lang="en-US" altLang="zh-CN" sz="26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" name="日期占位符 5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2AE8326-862C-4CEB-B377-5D6595EFCFE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9221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808B55-C911-4DF8-ACF4-D9021A1F9095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idx="1"/>
          </p:nvPr>
        </p:nvSpPr>
        <p:spPr>
          <a:xfrm>
            <a:off x="775624" y="2348880"/>
            <a:ext cx="8077200" cy="2657524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-3238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假设有这样一个程序：</a:t>
            </a:r>
          </a:p>
          <a:p>
            <a:pPr marL="0" marR="0" lvl="0" indent="-32385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main()</a:t>
            </a:r>
          </a:p>
          <a:p>
            <a:pPr marL="0" marR="0" lvl="0" indent="-32385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{ 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num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</a:p>
          <a:p>
            <a:pPr marL="0" marR="0" lvl="0" indent="-32385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("%d",&amp;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num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);</a:t>
            </a:r>
          </a:p>
          <a:p>
            <a:pPr marL="0" marR="0" lvl="0" indent="-32385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("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num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=%d\n", 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num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);</a:t>
            </a:r>
          </a:p>
          <a:p>
            <a:pPr marL="0" marR="0" lvl="0" indent="-32385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  <a:p>
            <a:pPr marL="0" marR="0" lvl="0" indent="-32385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lang="en-US" altLang="zh-CN" sz="2600" dirty="0"/>
          </a:p>
          <a:p>
            <a:pPr marL="0" lvl="0" indent="-323850" algn="just" eaLnBrk="1" hangingPunct="1">
              <a:lnSpc>
                <a:spcPct val="80000"/>
              </a:lnSpc>
              <a:buNone/>
              <a:defRPr/>
            </a:pPr>
            <a:r>
              <a:rPr lang="zh-CN" altLang="en-US" sz="2600" dirty="0" smtClean="0"/>
              <a:t>其中</a:t>
            </a:r>
            <a:r>
              <a:rPr lang="en-US" altLang="zh-CN" sz="2600" dirty="0" smtClean="0"/>
              <a:t>“,&amp;</a:t>
            </a:r>
            <a:r>
              <a:rPr lang="en-US" altLang="zh-CN" sz="2600" dirty="0" err="1" smtClean="0"/>
              <a:t>num</a:t>
            </a:r>
            <a:r>
              <a:rPr lang="zh-CN" altLang="en-US" sz="2600" dirty="0" smtClean="0"/>
              <a:t>是变量</a:t>
            </a:r>
            <a:r>
              <a:rPr lang="en-US" altLang="zh-CN" sz="2600" dirty="0" err="1" smtClean="0"/>
              <a:t>num</a:t>
            </a:r>
            <a:r>
              <a:rPr lang="zh-CN" altLang="en-US" sz="2600" dirty="0" smtClean="0"/>
              <a:t>的地址</a:t>
            </a: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-32385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-32385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-3238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zh-CN" altLang="en-US" sz="2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zh-CN" altLang="en-US" sz="2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2D003DA-6D43-4D17-8537-3065C356394F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0244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59A795-F157-4E40-94C1-00D2376E1C9F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8" name="矩形 1"/>
          <p:cNvSpPr/>
          <p:nvPr/>
        </p:nvSpPr>
        <p:spPr>
          <a:xfrm>
            <a:off x="738947" y="1844824"/>
            <a:ext cx="76454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-323850" algn="just" eaLnBrk="1" hangingPunct="1">
              <a:buClr>
                <a:srgbClr val="CC9900"/>
              </a:buClr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2.</a:t>
            </a:r>
            <a:r>
              <a:rPr lang="zh-CN" altLang="en-US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变量地址──系统分配给变量的内存单元的起始地址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908050"/>
            <a:ext cx="5113338" cy="68262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5.1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指针变量的概念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idx="1"/>
          </p:nvPr>
        </p:nvSpPr>
        <p:spPr>
          <a:xfrm>
            <a:off x="683568" y="2132856"/>
            <a:ext cx="8089900" cy="46085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(1)</a:t>
            </a:r>
            <a:r>
              <a:rPr kumimoji="0" lang="zh-CN" altLang="en-US" sz="2600" b="1" i="1" u="sng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直接访问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──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直接利用变量的地址进行存取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1)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上例中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scanf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(“%d”,&amp;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num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的执行过程是这样的：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找到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变量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num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的起始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地址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3000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；然后将键盘输入的值（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假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设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为３）送到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内存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单元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3000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3001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中（假设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num16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位，分配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的内存单元是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3000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3001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-17970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-17970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printf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("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num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=%d\n",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num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的执行过程，与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scanf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()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很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-17970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相似：首先找到变量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num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的起始地址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3000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，然后从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3000</a:t>
            </a:r>
          </a:p>
          <a:p>
            <a:pPr marL="0" marR="0" lvl="0" indent="-17970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3001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中取出其值，最后将它输出。</a:t>
            </a:r>
          </a:p>
          <a:p>
            <a:pPr marL="0" marR="0" lvl="0" indent="-17970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E5C428-701A-4A47-A271-64FB587F4DC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2292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E3EEF56-6C57-4CFF-8507-ECEBC95D2A36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6" name="矩形 1"/>
          <p:cNvSpPr/>
          <p:nvPr/>
        </p:nvSpPr>
        <p:spPr>
          <a:xfrm>
            <a:off x="899592" y="1668420"/>
            <a:ext cx="7056438" cy="4238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90000"/>
              </a:lnSpc>
              <a:buClr>
                <a:srgbClr val="CC9900"/>
              </a:buClr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3.</a:t>
            </a:r>
            <a:r>
              <a:rPr lang="zh-CN" altLang="en-US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变量值的存取──通过变量在内存中的地址进行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908050"/>
            <a:ext cx="5113338" cy="68262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5.1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指针变量的概念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2276872"/>
            <a:ext cx="8229600" cy="41052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-17970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Ｃ语言规定：在程序中可以定义一种特殊的变量（称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-17970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为指针变量），用来存放其它变量的地址。</a:t>
            </a:r>
          </a:p>
          <a:p>
            <a:pPr marL="0" marR="0" lvl="0" indent="-17970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-17970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例如，假设定义了这样一个指针变量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num_pointer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它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-17970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被分配到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4000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4001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单元，其值可通过赋值语句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-17970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num_pointer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=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＆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num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；”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得到。此时，指针变量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-17970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num_pointer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的值就是变量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num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在内存中的起始地址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-17970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3000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60D07E5-B793-49D7-9B0A-35224384795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3317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5C43E9-C413-47CE-B4A1-C52022E21EB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11188" y="1718468"/>
            <a:ext cx="7200900" cy="4921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-17970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Tx/>
              <a:buNone/>
              <a:defRPr/>
            </a:pP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（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2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）</a:t>
            </a:r>
            <a:r>
              <a:rPr kumimoji="0" lang="zh-CN" altLang="en-US" sz="2600" b="1" i="1" u="sng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间接访问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──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通过另一变量访问该变量的值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908050"/>
            <a:ext cx="5113338" cy="68262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5.1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指针变量的概念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ChangeArrowheads="1"/>
          </p:cNvSpPr>
          <p:nvPr>
            <p:ph idx="1"/>
          </p:nvPr>
        </p:nvSpPr>
        <p:spPr>
          <a:xfrm>
            <a:off x="528638" y="1762125"/>
            <a:ext cx="8229600" cy="5492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3238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通过指针变量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num_pointer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存取变量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num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值的过程如下：</a:t>
            </a:r>
          </a:p>
        </p:txBody>
      </p:sp>
      <p:sp>
        <p:nvSpPr>
          <p:cNvPr id="9219" name="Text Box 5"/>
          <p:cNvSpPr txBox="1"/>
          <p:nvPr/>
        </p:nvSpPr>
        <p:spPr>
          <a:xfrm>
            <a:off x="1042988" y="2276475"/>
            <a:ext cx="3024187" cy="3822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90000"/>
              </a:lnSpc>
              <a:buSz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首先找到指针变量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0" algn="just" eaLnBrk="1" hangingPunct="1">
              <a:lnSpc>
                <a:spcPct val="90000"/>
              </a:lnSpc>
              <a:buSz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num_pointer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的地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0" algn="just" eaLnBrk="1" hangingPunct="1">
              <a:lnSpc>
                <a:spcPct val="90000"/>
              </a:lnSpc>
              <a:buSz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址（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4000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），取出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0" algn="just" eaLnBrk="1" hangingPunct="1">
              <a:lnSpc>
                <a:spcPct val="90000"/>
              </a:lnSpc>
              <a:buSz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其值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3000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（正好是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0" algn="just" eaLnBrk="1" hangingPunct="1">
              <a:lnSpc>
                <a:spcPct val="90000"/>
              </a:lnSpc>
              <a:buSz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变量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num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的起始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0" algn="just" eaLnBrk="1" hangingPunct="1">
              <a:lnSpc>
                <a:spcPct val="90000"/>
              </a:lnSpc>
              <a:buSz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地址）；然后从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0" algn="just" eaLnBrk="1" hangingPunct="1">
              <a:lnSpc>
                <a:spcPct val="90000"/>
              </a:lnSpc>
              <a:buSz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3000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3001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中取出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0" algn="just" eaLnBrk="1" hangingPunct="1">
              <a:lnSpc>
                <a:spcPct val="90000"/>
              </a:lnSpc>
              <a:buSz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变量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num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的值（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）。 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9220" name="Line 7"/>
          <p:cNvSpPr/>
          <p:nvPr/>
        </p:nvSpPr>
        <p:spPr>
          <a:xfrm>
            <a:off x="5938838" y="2528888"/>
            <a:ext cx="0" cy="36718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21" name="Line 8"/>
          <p:cNvSpPr/>
          <p:nvPr/>
        </p:nvSpPr>
        <p:spPr>
          <a:xfrm>
            <a:off x="7019925" y="2528888"/>
            <a:ext cx="0" cy="36718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22" name="Line 9"/>
          <p:cNvSpPr/>
          <p:nvPr/>
        </p:nvSpPr>
        <p:spPr>
          <a:xfrm>
            <a:off x="5938838" y="2671763"/>
            <a:ext cx="108108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23" name="Line 10"/>
          <p:cNvSpPr/>
          <p:nvPr/>
        </p:nvSpPr>
        <p:spPr>
          <a:xfrm>
            <a:off x="5938838" y="3032125"/>
            <a:ext cx="108108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24" name="Line 11"/>
          <p:cNvSpPr/>
          <p:nvPr/>
        </p:nvSpPr>
        <p:spPr>
          <a:xfrm>
            <a:off x="5938838" y="3398838"/>
            <a:ext cx="108108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25" name="Text Box 12"/>
          <p:cNvSpPr txBox="1"/>
          <p:nvPr/>
        </p:nvSpPr>
        <p:spPr>
          <a:xfrm>
            <a:off x="4643438" y="2671763"/>
            <a:ext cx="863600" cy="779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3000H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3001H</a:t>
            </a:r>
          </a:p>
        </p:txBody>
      </p:sp>
      <p:sp>
        <p:nvSpPr>
          <p:cNvPr id="9226" name="Text Box 14"/>
          <p:cNvSpPr txBox="1"/>
          <p:nvPr/>
        </p:nvSpPr>
        <p:spPr>
          <a:xfrm>
            <a:off x="6227763" y="2671763"/>
            <a:ext cx="720725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9227" name="Text Box 15"/>
          <p:cNvSpPr txBox="1"/>
          <p:nvPr/>
        </p:nvSpPr>
        <p:spPr>
          <a:xfrm>
            <a:off x="6227763" y="3032125"/>
            <a:ext cx="649287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9228" name="Line 16"/>
          <p:cNvSpPr/>
          <p:nvPr/>
        </p:nvSpPr>
        <p:spPr>
          <a:xfrm>
            <a:off x="5938838" y="4687888"/>
            <a:ext cx="108108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29" name="Text Box 18"/>
          <p:cNvSpPr txBox="1"/>
          <p:nvPr/>
        </p:nvSpPr>
        <p:spPr>
          <a:xfrm>
            <a:off x="6154738" y="3679825"/>
            <a:ext cx="576262" cy="779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…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…</a:t>
            </a:r>
          </a:p>
        </p:txBody>
      </p:sp>
      <p:sp>
        <p:nvSpPr>
          <p:cNvPr id="9230" name="Line 19"/>
          <p:cNvSpPr/>
          <p:nvPr/>
        </p:nvSpPr>
        <p:spPr>
          <a:xfrm>
            <a:off x="5938838" y="5048250"/>
            <a:ext cx="108108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31" name="Line 20"/>
          <p:cNvSpPr/>
          <p:nvPr/>
        </p:nvSpPr>
        <p:spPr>
          <a:xfrm>
            <a:off x="5938838" y="5408613"/>
            <a:ext cx="108108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32" name="Text Box 21"/>
          <p:cNvSpPr txBox="1"/>
          <p:nvPr/>
        </p:nvSpPr>
        <p:spPr>
          <a:xfrm>
            <a:off x="7235825" y="2671763"/>
            <a:ext cx="1368425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int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变量</a:t>
            </a: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num</a:t>
            </a:r>
          </a:p>
        </p:txBody>
      </p:sp>
      <p:sp>
        <p:nvSpPr>
          <p:cNvPr id="9233" name="Text Box 22"/>
          <p:cNvSpPr txBox="1"/>
          <p:nvPr/>
        </p:nvSpPr>
        <p:spPr>
          <a:xfrm>
            <a:off x="4643438" y="4616450"/>
            <a:ext cx="863600" cy="779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4000H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4001H</a:t>
            </a:r>
          </a:p>
        </p:txBody>
      </p:sp>
      <p:sp>
        <p:nvSpPr>
          <p:cNvPr id="9234" name="Text Box 24"/>
          <p:cNvSpPr txBox="1"/>
          <p:nvPr/>
        </p:nvSpPr>
        <p:spPr>
          <a:xfrm>
            <a:off x="6083300" y="4687888"/>
            <a:ext cx="6477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00H</a:t>
            </a:r>
          </a:p>
        </p:txBody>
      </p:sp>
      <p:sp>
        <p:nvSpPr>
          <p:cNvPr id="9235" name="Text Box 25"/>
          <p:cNvSpPr txBox="1"/>
          <p:nvPr/>
        </p:nvSpPr>
        <p:spPr>
          <a:xfrm>
            <a:off x="6083300" y="5121275"/>
            <a:ext cx="649288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30H</a:t>
            </a:r>
          </a:p>
        </p:txBody>
      </p:sp>
      <p:sp>
        <p:nvSpPr>
          <p:cNvPr id="9236" name="Text Box 26"/>
          <p:cNvSpPr txBox="1"/>
          <p:nvPr/>
        </p:nvSpPr>
        <p:spPr>
          <a:xfrm>
            <a:off x="7162800" y="4760913"/>
            <a:ext cx="1692275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指针变量</a:t>
            </a: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num_pointer</a:t>
            </a:r>
          </a:p>
        </p:txBody>
      </p:sp>
      <p:sp>
        <p:nvSpPr>
          <p:cNvPr id="23" name="日期占位符 22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6984E67-FAD7-4B44-9CA4-704ED5A98AB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4358" name="灯片编号占位符 23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71C37E-8B5D-471E-826D-3FE29CDBA152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908050"/>
            <a:ext cx="5113338" cy="68262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5.1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指针变量的概念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9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5" grpId="0"/>
      <p:bldP spid="9226" grpId="0"/>
      <p:bldP spid="9227" grpId="0"/>
      <p:bldP spid="9229" grpId="0"/>
      <p:bldP spid="9232" grpId="0"/>
      <p:bldP spid="9233" grpId="0"/>
      <p:bldP spid="9234" grpId="0"/>
      <p:bldP spid="9235" grpId="0"/>
      <p:bldP spid="9236" grpId="0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>
            <a:spLocks noGrp="1"/>
          </p:cNvSpPr>
          <p:nvPr>
            <p:ph idx="1"/>
          </p:nvPr>
        </p:nvSpPr>
        <p:spPr>
          <a:xfrm>
            <a:off x="592138" y="1844675"/>
            <a:ext cx="8372475" cy="4248150"/>
          </a:xfrm>
          <a:ln/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指针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变量</a:t>
            </a:r>
            <a:r>
              <a:rPr lang="en-US" altLang="zh-CN" sz="2600" dirty="0">
                <a:latin typeface="楷体" panose="02010609060101010101" pitchFamily="49" charset="-122"/>
                <a:ea typeface="楷体" panose="02010609060101010101" pitchFamily="49" charset="-122"/>
              </a:rPr>
              <a:t>num_pointer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与它所指向的变量</a:t>
            </a:r>
            <a:r>
              <a:rPr lang="en-US" altLang="zh-CN" sz="2600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num</a:t>
            </a: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关系</a:t>
            </a: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endParaRPr lang="en-US" altLang="zh-CN" sz="2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表示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为：</a:t>
            </a: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600" dirty="0"/>
              <a:t>  </a:t>
            </a:r>
            <a:r>
              <a:rPr lang="zh-CN" altLang="en-US" sz="2600" dirty="0" smtClean="0"/>
              <a:t>     </a:t>
            </a:r>
            <a:r>
              <a:rPr lang="zh-CN" altLang="en-US" sz="2600" b="1" dirty="0" smtClean="0">
                <a:solidFill>
                  <a:srgbClr val="FF0000"/>
                </a:solidFill>
              </a:rPr>
              <a:t>*</a:t>
            </a:r>
            <a:r>
              <a:rPr lang="en-US" altLang="zh-CN" sz="2600" b="1" dirty="0">
                <a:solidFill>
                  <a:srgbClr val="FF0000"/>
                </a:solidFill>
              </a:rPr>
              <a:t>num_pointer</a:t>
            </a:r>
            <a:r>
              <a:rPr lang="zh-CN" altLang="en-US" sz="26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等价于变量</a:t>
            </a:r>
            <a:r>
              <a:rPr lang="en-US" altLang="zh-CN" sz="2600" b="1" dirty="0" err="1" smtClean="0">
                <a:solidFill>
                  <a:srgbClr val="FF0000"/>
                </a:solidFill>
              </a:rPr>
              <a:t>num</a:t>
            </a:r>
            <a:r>
              <a:rPr lang="zh-CN" altLang="en-US" sz="2600" b="1" dirty="0" smtClean="0">
                <a:solidFill>
                  <a:srgbClr val="FF0000"/>
                </a:solidFill>
              </a:rPr>
              <a:t>，其中</a:t>
            </a:r>
            <a:r>
              <a:rPr lang="en-US" altLang="zh-CN" sz="2600" b="1" dirty="0" smtClean="0">
                <a:solidFill>
                  <a:srgbClr val="FF0000"/>
                </a:solidFill>
              </a:rPr>
              <a:t>*</a:t>
            </a:r>
            <a:r>
              <a:rPr lang="zh-CN" altLang="en-US" sz="2600" b="1" dirty="0" smtClean="0">
                <a:solidFill>
                  <a:srgbClr val="FF0000"/>
                </a:solidFill>
              </a:rPr>
              <a:t>是指针运算符</a:t>
            </a:r>
            <a:endParaRPr lang="zh-CN" altLang="en-US" sz="2600" dirty="0"/>
          </a:p>
          <a:p>
            <a:pPr algn="just" eaLnBrk="1" hangingPunct="1">
              <a:lnSpc>
                <a:spcPct val="90000"/>
              </a:lnSpc>
              <a:buNone/>
            </a:pPr>
            <a:endParaRPr lang="zh-CN" altLang="en-US" sz="2600" dirty="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因此，下面两个语句的作用相同：</a:t>
            </a: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600" dirty="0"/>
              <a:t>num=3;		         </a:t>
            </a:r>
            <a:r>
              <a:rPr lang="en-US" altLang="zh-CN" sz="2600" b="1" i="1" dirty="0">
                <a:solidFill>
                  <a:srgbClr val="0070C0"/>
                </a:solidFill>
              </a:rPr>
              <a:t>/*</a:t>
            </a:r>
            <a:r>
              <a:rPr lang="zh-CN" altLang="en-US" sz="2600" b="1" i="1" dirty="0">
                <a:solidFill>
                  <a:srgbClr val="0070C0"/>
                </a:solidFill>
              </a:rPr>
              <a:t>将</a:t>
            </a:r>
            <a:r>
              <a:rPr lang="en-US" altLang="zh-CN" sz="2600" b="1" i="1" dirty="0">
                <a:solidFill>
                  <a:srgbClr val="0070C0"/>
                </a:solidFill>
              </a:rPr>
              <a:t>3</a:t>
            </a:r>
            <a:r>
              <a:rPr lang="zh-CN" altLang="en-US" sz="2600" b="1" i="1" dirty="0">
                <a:solidFill>
                  <a:srgbClr val="0070C0"/>
                </a:solidFill>
              </a:rPr>
              <a:t>直接赋给变量</a:t>
            </a:r>
            <a:r>
              <a:rPr lang="en-US" altLang="zh-CN" sz="2600" b="1" i="1" dirty="0">
                <a:solidFill>
                  <a:srgbClr val="0070C0"/>
                </a:solidFill>
              </a:rPr>
              <a:t>num*/</a:t>
            </a: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600" dirty="0"/>
              <a:t>num_pointer=&amp;num;      </a:t>
            </a:r>
            <a:r>
              <a:rPr lang="en-US" altLang="zh-CN" sz="2600" b="1" i="1" dirty="0">
                <a:solidFill>
                  <a:srgbClr val="0070C0"/>
                </a:solidFill>
              </a:rPr>
              <a:t>/*</a:t>
            </a:r>
            <a:r>
              <a:rPr lang="zh-CN" altLang="en-US" sz="2600" b="1" i="1" dirty="0">
                <a:solidFill>
                  <a:srgbClr val="0070C0"/>
                </a:solidFill>
              </a:rPr>
              <a:t>使</a:t>
            </a:r>
            <a:r>
              <a:rPr lang="en-US" altLang="zh-CN" sz="2600" b="1" i="1" dirty="0">
                <a:solidFill>
                  <a:srgbClr val="0070C0"/>
                </a:solidFill>
              </a:rPr>
              <a:t>num_pointer</a:t>
            </a:r>
            <a:r>
              <a:rPr lang="zh-CN" altLang="en-US" sz="2600" b="1" i="1" dirty="0">
                <a:solidFill>
                  <a:srgbClr val="0070C0"/>
                </a:solidFill>
              </a:rPr>
              <a:t>指向</a:t>
            </a:r>
            <a:r>
              <a:rPr lang="en-US" altLang="zh-CN" sz="2600" b="1" i="1" dirty="0">
                <a:solidFill>
                  <a:srgbClr val="0070C0"/>
                </a:solidFill>
              </a:rPr>
              <a:t>num */</a:t>
            </a: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600" dirty="0"/>
              <a:t>*num_pointer=3;	         </a:t>
            </a:r>
            <a:r>
              <a:rPr lang="en-US" altLang="zh-CN" sz="2600" b="1" i="1" dirty="0">
                <a:solidFill>
                  <a:srgbClr val="0070C0"/>
                </a:solidFill>
              </a:rPr>
              <a:t>/*</a:t>
            </a:r>
            <a:r>
              <a:rPr lang="zh-CN" altLang="en-US" sz="2600" b="1" i="1" dirty="0">
                <a:solidFill>
                  <a:srgbClr val="0070C0"/>
                </a:solidFill>
              </a:rPr>
              <a:t>将</a:t>
            </a:r>
            <a:r>
              <a:rPr lang="en-US" altLang="zh-CN" sz="2600" b="1" i="1" dirty="0">
                <a:solidFill>
                  <a:srgbClr val="0070C0"/>
                </a:solidFill>
              </a:rPr>
              <a:t>3</a:t>
            </a:r>
            <a:r>
              <a:rPr lang="zh-CN" altLang="en-US" sz="2600" b="1" i="1" dirty="0">
                <a:solidFill>
                  <a:srgbClr val="0070C0"/>
                </a:solidFill>
              </a:rPr>
              <a:t>赋给指针变量</a:t>
            </a:r>
            <a:r>
              <a:rPr lang="en-US" altLang="zh-CN" sz="2600" b="1" i="1" dirty="0">
                <a:solidFill>
                  <a:srgbClr val="0070C0"/>
                </a:solidFill>
              </a:rPr>
              <a:t>num_pointer</a:t>
            </a: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600" b="1" i="1" dirty="0">
                <a:solidFill>
                  <a:srgbClr val="0070C0"/>
                </a:solidFill>
              </a:rPr>
              <a:t>                                         </a:t>
            </a:r>
            <a:r>
              <a:rPr lang="zh-CN" altLang="en-US" sz="2600" b="1" i="1" dirty="0">
                <a:solidFill>
                  <a:srgbClr val="0070C0"/>
                </a:solidFill>
              </a:rPr>
              <a:t>所指向的变量*</a:t>
            </a:r>
            <a:r>
              <a:rPr lang="en-US" altLang="zh-CN" sz="2600" b="1" i="1" dirty="0">
                <a:solidFill>
                  <a:srgbClr val="0070C0"/>
                </a:solidFill>
              </a:rPr>
              <a:t>/</a:t>
            </a:r>
          </a:p>
          <a:p>
            <a:pPr eaLnBrk="1" hangingPunct="1">
              <a:lnSpc>
                <a:spcPct val="90000"/>
              </a:lnSpc>
            </a:pPr>
            <a:endParaRPr lang="en-US" altLang="zh-CN" sz="2600" dirty="0"/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714BD85-0E30-45A2-8F97-4BD22810F8E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7412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5202500-FEB8-4B2D-9C93-01E23C5508D2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908050"/>
            <a:ext cx="5113338" cy="68262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5.1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指针变量的概念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2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22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22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22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69988" y="1125538"/>
            <a:ext cx="7489825" cy="5318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5.2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指针变量的定义与应用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768560"/>
            <a:ext cx="8496300" cy="4953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9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5.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2.1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指针变量的定义与相关运算</a:t>
            </a:r>
            <a:b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</a:b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5.1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指针变量的定义与相关运算示例。</a:t>
            </a: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main(){</a:t>
            </a: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num_int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=12, *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p_int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  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/*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定义一个指向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型数据的指针</a:t>
            </a: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          变量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p_int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*/</a:t>
            </a:r>
            <a:b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float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num_f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=3.14, *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p_f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        /*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定义一个指向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float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型数据的</a:t>
            </a: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          指针变量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p_f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*/</a:t>
            </a:r>
            <a:b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char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num_ch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=’p’, *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p_ch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 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/*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定义一个指向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char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型数据的</a:t>
            </a: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           指针变量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p_ch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*/</a:t>
            </a:r>
            <a:b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p_int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=&amp;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num_int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/*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取变量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num_int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的地址，赋值给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p_int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*/</a:t>
            </a:r>
            <a:b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p_f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=&amp;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num_f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 	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/*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取变量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num_f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的地址，赋值给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p_f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*/</a:t>
            </a:r>
            <a:b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p_ch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=&amp;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num_ch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/*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取变量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num_ch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的地址，赋值给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p_ch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*/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日期占位符 5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649121-D279-4A30-8D98-A5DB483B4325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8437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6F7F48C-834F-48C3-9793-E6594A36500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Grp="1"/>
          </p:cNvSpPr>
          <p:nvPr>
            <p:ph idx="1"/>
          </p:nvPr>
        </p:nvSpPr>
        <p:spPr>
          <a:xfrm>
            <a:off x="423863" y="1700213"/>
            <a:ext cx="8540750" cy="4608512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en-US" altLang="zh-CN" sz="2100" dirty="0"/>
              <a:t>     </a:t>
            </a:r>
            <a:r>
              <a:rPr lang="en-US" altLang="zh-CN" sz="2400" dirty="0"/>
              <a:t>printf(“num_int=%d, *p_int=%d\n”, num_int, *p_int);</a:t>
            </a:r>
            <a:br>
              <a:rPr lang="en-US" altLang="zh-CN" sz="2400" dirty="0"/>
            </a:br>
            <a:r>
              <a:rPr lang="en-US" altLang="zh-CN" sz="2400" dirty="0"/>
              <a:t>printf(“num_f=%4.2f, *p_f=%4.2f\n”, num_f, *p_f);</a:t>
            </a:r>
          </a:p>
          <a:p>
            <a:pPr eaLnBrk="1" hangingPunct="1">
              <a:buNone/>
            </a:pPr>
            <a:r>
              <a:rPr lang="en-US" altLang="zh-CN" sz="2400" dirty="0"/>
              <a:t>    printf(“num_ch=%c, *p_ch=%c\n”, num_ch, *p_ch);</a:t>
            </a:r>
            <a:br>
              <a:rPr lang="en-US" altLang="zh-CN" sz="2400" dirty="0"/>
            </a:br>
            <a:r>
              <a:rPr lang="en-US" altLang="zh-CN" sz="2400" dirty="0"/>
              <a:t>return 0; </a:t>
            </a:r>
          </a:p>
          <a:p>
            <a:pPr eaLnBrk="1" hangingPunct="1">
              <a:buNone/>
            </a:pPr>
            <a:r>
              <a:rPr lang="en-US" altLang="zh-CN" sz="2400" dirty="0"/>
              <a:t>}</a:t>
            </a:r>
          </a:p>
          <a:p>
            <a:pPr eaLnBrk="1" hangingPunct="1">
              <a:buNone/>
            </a:pPr>
            <a:r>
              <a:rPr lang="en-US" altLang="zh-CN" sz="2100" dirty="0"/>
              <a:t>	</a:t>
            </a:r>
            <a:r>
              <a:rPr lang="en-US" altLang="zh-CN" dirty="0"/>
              <a:t>					</a:t>
            </a:r>
            <a:endParaRPr lang="en-US" altLang="zh-CN" b="1" dirty="0"/>
          </a:p>
          <a:p>
            <a:pPr algn="just" eaLnBrk="1" hangingPunct="1">
              <a:buNone/>
            </a:pPr>
            <a:r>
              <a:rPr lang="zh-CN" altLang="en-US" sz="2600" dirty="0"/>
              <a:t>   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程序运行结果：</a:t>
            </a:r>
          </a:p>
          <a:p>
            <a:pPr algn="just" eaLnBrk="1" hangingPunct="1">
              <a:buNone/>
            </a:pPr>
            <a:r>
              <a:rPr lang="en-US" altLang="zh-CN" sz="2600" dirty="0"/>
              <a:t>    num_int=12, *p_int=12</a:t>
            </a:r>
          </a:p>
          <a:p>
            <a:pPr algn="just" eaLnBrk="1" hangingPunct="1">
              <a:buNone/>
            </a:pPr>
            <a:r>
              <a:rPr lang="en-US" altLang="zh-CN" sz="2600" dirty="0"/>
              <a:t>    num_f=3.14, *p_f=3.14</a:t>
            </a:r>
          </a:p>
          <a:p>
            <a:pPr algn="just" eaLnBrk="1" hangingPunct="1">
              <a:buNone/>
            </a:pPr>
            <a:r>
              <a:rPr lang="en-US" altLang="zh-CN" sz="2600" dirty="0"/>
              <a:t>    num_ch=p, *p_ch=p</a:t>
            </a:r>
          </a:p>
          <a:p>
            <a:pPr algn="just" eaLnBrk="1" hangingPunct="1">
              <a:buNone/>
            </a:pPr>
            <a:endParaRPr lang="en-US" altLang="zh-CN" sz="2600" b="1" dirty="0"/>
          </a:p>
          <a:p>
            <a:pPr eaLnBrk="1" hangingPunct="1"/>
            <a:endParaRPr lang="en-US" altLang="zh-CN" dirty="0"/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5B52860-ABE2-4B07-AA31-DB3E9DDB2EBF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9460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CBB28F-1980-4C7A-8EBE-5D3D7B28B575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69988" y="1125538"/>
            <a:ext cx="7489825" cy="5318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5.2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指针变量的定义与应用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4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4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43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/>
          </p:cNvSpPr>
          <p:nvPr>
            <p:ph idx="1"/>
          </p:nvPr>
        </p:nvSpPr>
        <p:spPr>
          <a:xfrm>
            <a:off x="733425" y="1773238"/>
            <a:ext cx="8229600" cy="4470400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-179705" algn="just" eaLnBrk="1" hangingPunct="1">
              <a:buNone/>
            </a:pP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）头三行的变量定义语句──指针变量的定义与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-179705" algn="just" eaLnBrk="1" hangingPunct="1">
              <a:buNone/>
            </a:pP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一般变量的定义相比，除变量名前多了一个星号“*”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-179705" algn="just" eaLnBrk="1" hangingPunct="1">
              <a:buNone/>
            </a:pP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（指针变量的定义标识符）外，其余一样：</a:t>
            </a:r>
          </a:p>
          <a:p>
            <a:pPr marL="0" indent="-179705" algn="just" eaLnBrk="1" hangingPunct="1">
              <a:buNone/>
            </a:pPr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-179705" algn="ctr" eaLnBrk="1" hangingPunct="1">
              <a:buNone/>
            </a:pPr>
            <a:r>
              <a:rPr lang="zh-CN" altLang="en-US" sz="2400" b="1" i="1" dirty="0">
                <a:latin typeface="仿宋" panose="02010609060101010101" pitchFamily="49" charset="-122"/>
                <a:ea typeface="仿宋" panose="02010609060101010101" pitchFamily="49" charset="-122"/>
              </a:rPr>
              <a:t>数据类型   *指针变量</a:t>
            </a:r>
            <a:r>
              <a:rPr lang="en-US" altLang="zh-CN" sz="2400" b="1" i="1" dirty="0">
                <a:latin typeface="仿宋" panose="02010609060101010101" pitchFamily="49" charset="-122"/>
                <a:ea typeface="仿宋" panose="02010609060101010101" pitchFamily="49" charset="-122"/>
              </a:rPr>
              <a:t>[,  *</a:t>
            </a:r>
            <a:r>
              <a:rPr lang="zh-CN" altLang="en-US" sz="2400" b="1" i="1" dirty="0">
                <a:latin typeface="仿宋" panose="02010609060101010101" pitchFamily="49" charset="-122"/>
                <a:ea typeface="仿宋" panose="02010609060101010101" pitchFamily="49" charset="-122"/>
              </a:rPr>
              <a:t>指针变量</a:t>
            </a:r>
            <a:r>
              <a:rPr lang="en-US" altLang="zh-CN" sz="2400" b="1" i="1" dirty="0">
                <a:latin typeface="仿宋" panose="02010609060101010101" pitchFamily="49" charset="-122"/>
                <a:ea typeface="仿宋" panose="02010609060101010101" pitchFamily="49" charset="-122"/>
              </a:rPr>
              <a:t>2……];</a:t>
            </a:r>
          </a:p>
          <a:p>
            <a:pPr marL="0" indent="-179705" algn="just" eaLnBrk="1" hangingPunct="1">
              <a:buNone/>
            </a:pP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-179705" algn="just" eaLnBrk="1" hangingPunct="1">
              <a:buNone/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    </a:t>
            </a:r>
            <a:r>
              <a:rPr lang="zh-CN" altLang="en-US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注意：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此时的指针变量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p_int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p_f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p_ch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，并未指向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-179705" algn="just" eaLnBrk="1" hangingPunct="1">
              <a:buNone/>
            </a:pP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某个具体的变量（</a:t>
            </a:r>
            <a:r>
              <a:rPr lang="zh-CN" altLang="en-US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称指针是悬空的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）。使用悬空指针很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-179705" algn="just" eaLnBrk="1" hangingPunct="1">
              <a:buNone/>
            </a:pP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容易破坏系统，导致系统瘫痪。故应该注意指针变量的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-179705" algn="just" eaLnBrk="1" hangingPunct="1">
              <a:buNone/>
            </a:pP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初始化。</a:t>
            </a: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5C71ABD-041B-479D-AF46-CD3506FA206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0484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7B60D6-A2C0-4D8C-984C-1733E139633A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10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16013" y="1125538"/>
            <a:ext cx="173037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-17970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程序说明：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5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5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53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53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>
          <a:xfrm>
            <a:off x="927100" y="1700213"/>
            <a:ext cx="7389813" cy="43926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-17970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(2)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中间三行的赋值语句──取地址运算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＆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取地址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17970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运算的格式： 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＆变量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17970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例如，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&amp;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num_int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&amp;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num_f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&amp;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num_ch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的结果，分别为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17970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变量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num_int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num_f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num_ch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的地址。</a:t>
            </a:r>
          </a:p>
          <a:p>
            <a:pPr marL="0" marR="0" lvl="0" indent="-17970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-17970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注意：指针变量只能存放地址，且只能是相同类型变</a:t>
            </a:r>
          </a:p>
          <a:p>
            <a:pPr marL="0" marR="0" lvl="0" indent="-17970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量的地址。</a:t>
            </a:r>
          </a:p>
          <a:p>
            <a:pPr marL="0" marR="0" lvl="0" indent="-17970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例如，指针变量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p_int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p_f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p_ch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，只能分别接收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17970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int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型、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float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型、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char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型变量的地址，否则出错。</a:t>
            </a: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83A7B38-10F2-4B4E-B866-8E3FE84F753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1508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6CDA242-967E-4155-823A-5723F8F6A1F6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11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69988" y="1125538"/>
            <a:ext cx="7489825" cy="5318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5.2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指针变量的定义与应用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6386">
                                            <p:txEl>
                                              <p:char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134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386">
                                            <p:txEl>
                                              <p:charRg st="134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386">
                                            <p:txEl>
                                              <p:charRg st="134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163" end="1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386">
                                            <p:txEl>
                                              <p:charRg st="163" end="18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386">
                                            <p:txEl>
                                              <p:charRg st="163" end="18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>
          <a:xfrm>
            <a:off x="574675" y="1773238"/>
            <a:ext cx="8389938" cy="40322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215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）后三行的输出语句──指针运算（*）使用直接访问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342900" marR="0" lvl="0" indent="-215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和间接访问两种方式，分别输出变量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num_int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num_f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、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342900" marR="0" lvl="0" indent="-215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num_ch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的值。</a:t>
            </a:r>
          </a:p>
          <a:p>
            <a:pPr marL="342900" marR="0" lvl="0" indent="-215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215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注意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这三行出现在指针变量前的星号“*”是指</a:t>
            </a:r>
          </a:p>
          <a:p>
            <a:pPr marL="342900" marR="0" lvl="0" indent="-215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针运算符，访问指针变量所指向的变量的值。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951560A-4053-481B-9E55-71D52D7D910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2532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B86F1B8-AD9B-4F89-BB45-93D26FA5598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12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69988" y="1125538"/>
            <a:ext cx="7489825" cy="5318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5.2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指针变量的定义与应用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2780928"/>
            <a:ext cx="8305800" cy="359997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-17970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main(){</a:t>
            </a:r>
          </a:p>
          <a:p>
            <a:pPr marL="0" marR="0" lvl="0" indent="-215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num1,num2;</a:t>
            </a:r>
          </a:p>
          <a:p>
            <a:pPr marL="0" marR="0" lvl="0" indent="-215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*num1_p=&amp;num1, *num2_p=&amp;num2, *pointer;  </a:t>
            </a:r>
          </a:p>
          <a:p>
            <a:pPr marL="0" marR="0" lvl="0" indent="-215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(“Input the first number: ”); </a:t>
            </a:r>
          </a:p>
          <a:p>
            <a:pPr marL="0" marR="0" lvl="0" indent="-215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(“%d”,num1_p);</a:t>
            </a:r>
          </a:p>
          <a:p>
            <a:pPr marL="0" marR="0" lvl="0" indent="-215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(“Input the second number: ”);</a:t>
            </a:r>
          </a:p>
          <a:p>
            <a:pPr marL="0" marR="0" lvl="0" indent="-215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(“%d”,num2_p);</a:t>
            </a:r>
          </a:p>
          <a:p>
            <a:pPr marL="0" marR="0" lvl="0" indent="-215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(“num1=%d, num2=%d\n”, num1, num2); </a:t>
            </a:r>
          </a:p>
          <a:p>
            <a:pPr marL="0" marR="0" lvl="0" indent="-215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				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F5AB1-F776-4486-8C71-B1C0E07AF7C5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3556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6FEB7BA-1DEC-458B-8C8A-7241CA0E64B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13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93510" y="1772816"/>
            <a:ext cx="7678889" cy="954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-17970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[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例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5.2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]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使用指针变量求解：输入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2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个整数，按升序（从小到大排序）输出。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971600" y="1052736"/>
            <a:ext cx="7489825" cy="5318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5.2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指针变量的定义与应用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/>
          </p:cNvSpPr>
          <p:nvPr>
            <p:ph idx="1"/>
          </p:nvPr>
        </p:nvSpPr>
        <p:spPr>
          <a:xfrm>
            <a:off x="638175" y="1989138"/>
            <a:ext cx="8540750" cy="4032250"/>
          </a:xfrm>
          <a:ln/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buNone/>
            </a:pPr>
            <a:r>
              <a:rPr lang="en-US" altLang="zh-CN" sz="2400" dirty="0"/>
              <a:t>if( *num1_p &gt; *num2_p ) </a:t>
            </a:r>
            <a:r>
              <a:rPr lang="en-US" altLang="zh-CN" sz="2400" b="1" i="1" dirty="0">
                <a:solidFill>
                  <a:srgbClr val="0070C0"/>
                </a:solidFill>
              </a:rPr>
              <a:t>/*</a:t>
            </a:r>
            <a:r>
              <a:rPr lang="zh-CN" altLang="en-US" sz="2400" b="1" i="1" dirty="0">
                <a:solidFill>
                  <a:srgbClr val="0070C0"/>
                </a:solidFill>
              </a:rPr>
              <a:t>如果</a:t>
            </a:r>
            <a:r>
              <a:rPr lang="en-US" altLang="zh-CN" sz="2400" b="1" i="1" dirty="0">
                <a:solidFill>
                  <a:srgbClr val="0070C0"/>
                </a:solidFill>
              </a:rPr>
              <a:t>num1&gt;num2</a:t>
            </a:r>
            <a:r>
              <a:rPr lang="zh-CN" altLang="en-US" sz="2400" b="1" i="1" dirty="0">
                <a:solidFill>
                  <a:srgbClr val="0070C0"/>
                </a:solidFill>
              </a:rPr>
              <a:t>，则交换指针*</a:t>
            </a:r>
            <a:r>
              <a:rPr lang="en-US" altLang="zh-CN" sz="2400" b="1" i="1" dirty="0">
                <a:solidFill>
                  <a:srgbClr val="0070C0"/>
                </a:solidFill>
              </a:rPr>
              <a:t>/</a:t>
            </a:r>
          </a:p>
          <a:p>
            <a:pPr algn="just" eaLnBrk="1" hangingPunct="1">
              <a:buNone/>
            </a:pPr>
            <a:r>
              <a:rPr lang="en-US" altLang="zh-CN" sz="2400" dirty="0"/>
              <a:t>      pointer= num1_p,  num1_p= num2_p,  num2_p=pointer;</a:t>
            </a:r>
          </a:p>
          <a:p>
            <a:pPr algn="just" eaLnBrk="1" hangingPunct="1">
              <a:buNone/>
            </a:pPr>
            <a:r>
              <a:rPr lang="en-US" altLang="zh-CN" sz="2400" dirty="0"/>
              <a:t>      printf(“min=%d, max=%d\n”, *num1_p, *num2_p);</a:t>
            </a:r>
          </a:p>
          <a:p>
            <a:pPr algn="just" eaLnBrk="1" hangingPunct="1">
              <a:buNone/>
            </a:pPr>
            <a:r>
              <a:rPr lang="en-US" altLang="zh-CN" sz="2400" dirty="0"/>
              <a:t>      return 0;</a:t>
            </a:r>
          </a:p>
          <a:p>
            <a:pPr algn="just" eaLnBrk="1" hangingPunct="1">
              <a:buNone/>
            </a:pPr>
            <a:r>
              <a:rPr lang="en-US" altLang="zh-CN" sz="2400" dirty="0"/>
              <a:t>}	</a:t>
            </a:r>
          </a:p>
          <a:p>
            <a:pPr eaLnBrk="1" hangingPunct="1"/>
            <a:endParaRPr lang="en-US" altLang="zh-CN" sz="2400" dirty="0"/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740D40-D01D-406B-A0A2-48F5F76F367B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4580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15C7450-C281-4A76-AE9D-53F12785594A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14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624" y="980728"/>
            <a:ext cx="5562252" cy="5318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5.2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指针变量的定义与应用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Grp="1" noChangeArrowheads="1"/>
          </p:cNvSpPr>
          <p:nvPr>
            <p:ph idx="1"/>
          </p:nvPr>
        </p:nvSpPr>
        <p:spPr>
          <a:xfrm>
            <a:off x="781050" y="1628775"/>
            <a:ext cx="8362950" cy="47529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-17970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程序运行情况：</a:t>
            </a:r>
          </a:p>
          <a:p>
            <a:pPr marL="0" marR="0" lvl="0" indent="-17970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Input the first number:9←┘</a:t>
            </a:r>
          </a:p>
          <a:p>
            <a:pPr marL="0" marR="0" lvl="0" indent="-17970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Input the second number:6←┘</a:t>
            </a:r>
          </a:p>
          <a:p>
            <a:pPr marL="0" marR="0" lvl="0" indent="-17970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num1=9, num2=6</a:t>
            </a:r>
          </a:p>
          <a:p>
            <a:pPr marL="0" marR="0" lvl="0" indent="-17970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min=6, max=9</a:t>
            </a:r>
          </a:p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1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-17970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程序说明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：</a:t>
            </a:r>
          </a:p>
          <a:p>
            <a:pPr marL="0" marR="0" lvl="0" indent="-17970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（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）第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5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行的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if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语句</a:t>
            </a:r>
          </a:p>
          <a:p>
            <a:pPr marL="0" marR="0" lvl="0" indent="-17970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如果*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num1_p&gt;*num2_p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（即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num1&gt;num2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），则交换指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17970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针，使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num1_p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指向变量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num2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（较小值），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num2_p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指向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17970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变量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num1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（较大值）。</a:t>
            </a:r>
          </a:p>
          <a:p>
            <a:pPr marL="0" marR="0" lvl="0" indent="-17970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F10613-701C-47D8-8CC3-A40E5D5FE7F3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5604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16361E8-5039-4145-9F0F-925FBE8AAD2B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15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980728"/>
            <a:ext cx="7489825" cy="5318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5.2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指针变量的定义与应用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4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4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4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4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4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4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4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4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idx="1"/>
          </p:nvPr>
        </p:nvSpPr>
        <p:spPr>
          <a:xfrm>
            <a:off x="620713" y="1460500"/>
            <a:ext cx="7848600" cy="47767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-17970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-17970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（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2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printf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(“min=%d, max=%d\n”, *num1_p, </a:t>
            </a:r>
          </a:p>
          <a:p>
            <a:pPr marL="0" marR="0" lvl="0" indent="-17970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*num2_p);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语句：通过指针变量，间接访问变量的值。</a:t>
            </a:r>
          </a:p>
          <a:p>
            <a:pPr marL="0" marR="0" lvl="0" indent="6635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6635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3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-17970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本例的</a:t>
            </a:r>
            <a:r>
              <a:rPr kumimoji="0" lang="zh-CN" alt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处理思路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是：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交换指针变量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num1_p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num2_p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的值，而不是变量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num1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num2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的值（变量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num1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num2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并未交换，仍保持原值），最后通过指针变量输出处理结果。</a:t>
            </a:r>
          </a:p>
          <a:p>
            <a:pPr marL="0" marR="0" lvl="0" indent="-17970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67A23A-9457-41A5-B61F-A10C85D4965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6628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D20601-0AB0-4E30-AC3C-2B639DC4FE3F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7" y="1003300"/>
            <a:ext cx="5472608" cy="5318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5.2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指针变量的定义与应用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idx="1"/>
          </p:nvPr>
        </p:nvSpPr>
        <p:spPr>
          <a:xfrm>
            <a:off x="423863" y="1449388"/>
            <a:ext cx="8540750" cy="47879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1.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指针变量，既可作为函数的形参，也可作函数的实参。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2.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指针变量作实参时，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与变量的地址做实参一样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，也是“值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传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递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”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，即将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指针变量的值（一个地址）传递给被调用函数的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形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参（必须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是一个指针变量）。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注意：被调用函数不能改变实参指针变量的值，但可以改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变实参指针变量所指向的变量的值。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5.3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使用函数调用方式改写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5.2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，要求实参为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指针变量。</a:t>
            </a: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57A5AF-97EF-442F-9A4F-8CF9D00D31E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7652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72119A-AED0-4E97-989C-5CE5B1E24CF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17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87450" y="1082675"/>
            <a:ext cx="6121400" cy="4794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lang="en-US" altLang="zh-CN" sz="28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5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.2.2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指针变量作函数参数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2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2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2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5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5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5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5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/>
          </p:cNvSpPr>
          <p:nvPr>
            <p:ph idx="1"/>
          </p:nvPr>
        </p:nvSpPr>
        <p:spPr>
          <a:xfrm>
            <a:off x="1020763" y="1700213"/>
            <a:ext cx="8153400" cy="4681537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2000" b="1" i="1" dirty="0">
                <a:solidFill>
                  <a:srgbClr val="0070C0"/>
                </a:solidFill>
              </a:rPr>
              <a:t>/******************************************************/</a:t>
            </a:r>
            <a:br>
              <a:rPr lang="en-US" altLang="zh-CN" sz="2000" b="1" i="1" dirty="0">
                <a:solidFill>
                  <a:srgbClr val="0070C0"/>
                </a:solidFill>
              </a:rPr>
            </a:br>
            <a:r>
              <a:rPr lang="en-US" altLang="zh-CN" sz="2000" b="1" i="1" dirty="0">
                <a:solidFill>
                  <a:srgbClr val="0070C0"/>
                </a:solidFill>
              </a:rPr>
              <a:t>/*exchange()</a:t>
            </a:r>
            <a:r>
              <a:rPr lang="zh-CN" altLang="en-US" sz="2000" b="1" i="1" dirty="0">
                <a:solidFill>
                  <a:srgbClr val="0070C0"/>
                </a:solidFill>
              </a:rPr>
              <a:t>功能：交换</a:t>
            </a:r>
            <a:r>
              <a:rPr lang="en-US" altLang="zh-CN" sz="2000" b="1" i="1" dirty="0">
                <a:solidFill>
                  <a:srgbClr val="0070C0"/>
                </a:solidFill>
              </a:rPr>
              <a:t>2</a:t>
            </a:r>
            <a:r>
              <a:rPr lang="zh-CN" altLang="en-US" sz="2000" b="1" i="1" dirty="0">
                <a:solidFill>
                  <a:srgbClr val="0070C0"/>
                </a:solidFill>
              </a:rPr>
              <a:t>个形参指针变量所指向的变量的值  *</a:t>
            </a:r>
            <a:r>
              <a:rPr lang="en-US" altLang="zh-CN" sz="2000" b="1" i="1" dirty="0">
                <a:solidFill>
                  <a:srgbClr val="0070C0"/>
                </a:solidFill>
              </a:rPr>
              <a:t>/</a:t>
            </a:r>
            <a:br>
              <a:rPr lang="en-US" altLang="zh-CN" sz="2000" b="1" i="1" dirty="0">
                <a:solidFill>
                  <a:srgbClr val="0070C0"/>
                </a:solidFill>
              </a:rPr>
            </a:br>
            <a:r>
              <a:rPr lang="en-US" altLang="zh-CN" sz="2000" b="1" i="1" dirty="0">
                <a:solidFill>
                  <a:srgbClr val="0070C0"/>
                </a:solidFill>
              </a:rPr>
              <a:t>/*</a:t>
            </a:r>
            <a:r>
              <a:rPr lang="zh-CN" altLang="en-US" sz="2000" b="1" i="1" dirty="0">
                <a:solidFill>
                  <a:srgbClr val="0070C0"/>
                </a:solidFill>
              </a:rPr>
              <a:t>形参：</a:t>
            </a:r>
            <a:r>
              <a:rPr lang="en-US" altLang="zh-CN" sz="2000" b="1" i="1" dirty="0">
                <a:solidFill>
                  <a:srgbClr val="0070C0"/>
                </a:solidFill>
              </a:rPr>
              <a:t>2</a:t>
            </a:r>
            <a:r>
              <a:rPr lang="zh-CN" altLang="en-US" sz="2000" b="1" i="1" dirty="0">
                <a:solidFill>
                  <a:srgbClr val="0070C0"/>
                </a:solidFill>
              </a:rPr>
              <a:t>个，均为指向整型数据的指针变量 *</a:t>
            </a:r>
            <a:r>
              <a:rPr lang="en-US" altLang="zh-CN" sz="2000" b="1" i="1" dirty="0">
                <a:solidFill>
                  <a:srgbClr val="0070C0"/>
                </a:solidFill>
              </a:rPr>
              <a:t>/</a:t>
            </a:r>
            <a:br>
              <a:rPr lang="en-US" altLang="zh-CN" sz="2000" b="1" i="1" dirty="0">
                <a:solidFill>
                  <a:srgbClr val="0070C0"/>
                </a:solidFill>
              </a:rPr>
            </a:br>
            <a:r>
              <a:rPr lang="en-US" altLang="zh-CN" sz="2000" b="1" i="1" dirty="0">
                <a:solidFill>
                  <a:srgbClr val="0070C0"/>
                </a:solidFill>
              </a:rPr>
              <a:t>/*</a:t>
            </a:r>
            <a:r>
              <a:rPr lang="zh-CN" altLang="en-US" sz="2000" b="1" i="1" dirty="0">
                <a:solidFill>
                  <a:srgbClr val="0070C0"/>
                </a:solidFill>
              </a:rPr>
              <a:t>返回值：无                                                 *</a:t>
            </a:r>
            <a:r>
              <a:rPr lang="en-US" altLang="zh-CN" sz="2000" b="1" i="1" dirty="0">
                <a:solidFill>
                  <a:srgbClr val="0070C0"/>
                </a:solidFill>
              </a:rPr>
              <a:t>/</a:t>
            </a:r>
            <a:br>
              <a:rPr lang="en-US" altLang="zh-CN" sz="2000" b="1" i="1" dirty="0">
                <a:solidFill>
                  <a:srgbClr val="0070C0"/>
                </a:solidFill>
              </a:rPr>
            </a:br>
            <a:r>
              <a:rPr lang="en-US" altLang="zh-CN" sz="2000" b="1" i="1" dirty="0">
                <a:solidFill>
                  <a:srgbClr val="0070C0"/>
                </a:solidFill>
              </a:rPr>
              <a:t>/******************************************************/</a:t>
            </a:r>
            <a:br>
              <a:rPr lang="en-US" altLang="zh-CN" sz="2000" b="1" i="1" dirty="0">
                <a:solidFill>
                  <a:srgbClr val="0070C0"/>
                </a:solidFill>
              </a:rPr>
            </a:br>
            <a:r>
              <a:rPr lang="en-US" altLang="zh-CN" sz="2400" dirty="0"/>
              <a:t>void exchange(int *pointer1, int *pointer2)</a:t>
            </a:r>
            <a:br>
              <a:rPr lang="en-US" altLang="zh-CN" sz="2400" dirty="0"/>
            </a:br>
            <a:r>
              <a:rPr lang="en-US" altLang="zh-CN" sz="2400" dirty="0"/>
              <a:t>     { int temp;</a:t>
            </a:r>
            <a:br>
              <a:rPr lang="en-US" altLang="zh-CN" sz="2400" dirty="0"/>
            </a:br>
            <a:r>
              <a:rPr lang="en-US" altLang="zh-CN" sz="2400" dirty="0"/>
              <a:t>        temp=*pointer1, *pointer1=*pointer2, *pointer2=temp;</a:t>
            </a:r>
            <a:br>
              <a:rPr lang="en-US" altLang="zh-CN" sz="2400" dirty="0"/>
            </a:br>
            <a:r>
              <a:rPr lang="en-US" altLang="zh-CN" sz="2400" dirty="0"/>
              <a:t>      }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zh-CN" sz="2000" b="1" i="1" dirty="0">
                <a:solidFill>
                  <a:srgbClr val="0070C0"/>
                </a:solidFill>
              </a:rPr>
              <a:t>/*</a:t>
            </a:r>
            <a:r>
              <a:rPr lang="zh-CN" altLang="en-US" sz="2000" b="1" i="1" dirty="0">
                <a:solidFill>
                  <a:srgbClr val="0070C0"/>
                </a:solidFill>
              </a:rPr>
              <a:t>主函数</a:t>
            </a:r>
            <a:r>
              <a:rPr lang="en-US" altLang="zh-CN" sz="2000" b="1" i="1" dirty="0">
                <a:solidFill>
                  <a:srgbClr val="0070C0"/>
                </a:solidFill>
              </a:rPr>
              <a:t>main()*/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zh-CN" sz="2400" dirty="0"/>
              <a:t>int main(){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   int num1,num2;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zh-CN" sz="2000" dirty="0"/>
              <a:t>       </a:t>
            </a:r>
            <a:r>
              <a:rPr lang="en-US" altLang="zh-CN" sz="2000" i="1" dirty="0">
                <a:solidFill>
                  <a:srgbClr val="0070C0"/>
                </a:solidFill>
              </a:rPr>
              <a:t>/*</a:t>
            </a:r>
            <a:r>
              <a:rPr lang="zh-CN" altLang="en-US" sz="2000" i="1" dirty="0">
                <a:solidFill>
                  <a:srgbClr val="0070C0"/>
                </a:solidFill>
              </a:rPr>
              <a:t>定义并初始化指针变量</a:t>
            </a:r>
            <a:r>
              <a:rPr lang="en-US" altLang="zh-CN" sz="2000" i="1" dirty="0">
                <a:solidFill>
                  <a:srgbClr val="0070C0"/>
                </a:solidFill>
              </a:rPr>
              <a:t>num1_p</a:t>
            </a:r>
            <a:r>
              <a:rPr lang="zh-CN" altLang="en-US" sz="2000" i="1" dirty="0">
                <a:solidFill>
                  <a:srgbClr val="0070C0"/>
                </a:solidFill>
              </a:rPr>
              <a:t>和 </a:t>
            </a:r>
            <a:r>
              <a:rPr lang="en-US" altLang="zh-CN" sz="2000" i="1" dirty="0">
                <a:solidFill>
                  <a:srgbClr val="0070C0"/>
                </a:solidFill>
              </a:rPr>
              <a:t>num2_p */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   int *num1_p=&amp;num1, *num2_p=&amp;num2</a:t>
            </a:r>
            <a:r>
              <a:rPr lang="en-US" altLang="zh-CN" sz="2400" b="1" dirty="0"/>
              <a:t>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CN" sz="1900" dirty="0"/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4D8419-C6DF-4DAC-B1DB-6B4E64F4AD2F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8676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707BF0C-6966-4799-898D-FC39DA1F934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18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87450" y="1082675"/>
            <a:ext cx="6121400" cy="4794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lang="en-US" altLang="zh-CN" sz="28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5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.2.2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指针变量作函数参数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/>
          </p:cNvSpPr>
          <p:nvPr>
            <p:ph idx="1"/>
          </p:nvPr>
        </p:nvSpPr>
        <p:spPr>
          <a:xfrm>
            <a:off x="611188" y="1544638"/>
            <a:ext cx="8583612" cy="4979987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476250" algn="just" eaLnBrk="1" hangingPunct="1">
              <a:lnSpc>
                <a:spcPct val="90000"/>
              </a:lnSpc>
              <a:buNone/>
            </a:pPr>
            <a:r>
              <a:rPr lang="en-US" altLang="zh-CN" sz="2600" dirty="0"/>
              <a:t>printf(“Input the first number: ”); </a:t>
            </a:r>
          </a:p>
          <a:p>
            <a:pPr marL="0" indent="476250" algn="just" eaLnBrk="1" hangingPunct="1">
              <a:lnSpc>
                <a:spcPct val="90000"/>
              </a:lnSpc>
              <a:buNone/>
            </a:pPr>
            <a:r>
              <a:rPr lang="en-US" altLang="zh-CN" sz="2600" dirty="0"/>
              <a:t>scanf(“%d”, num1_p);</a:t>
            </a:r>
          </a:p>
          <a:p>
            <a:pPr marL="0" indent="476250" algn="just" eaLnBrk="1" hangingPunct="1">
              <a:lnSpc>
                <a:spcPct val="90000"/>
              </a:lnSpc>
              <a:buNone/>
            </a:pPr>
            <a:r>
              <a:rPr lang="en-US" altLang="zh-CN" sz="2600" dirty="0"/>
              <a:t>printf(“Input the second number: ”);</a:t>
            </a:r>
          </a:p>
          <a:p>
            <a:pPr marL="0" indent="476250" algn="just" eaLnBrk="1" hangingPunct="1">
              <a:lnSpc>
                <a:spcPct val="90000"/>
              </a:lnSpc>
              <a:buNone/>
            </a:pPr>
            <a:r>
              <a:rPr lang="en-US" altLang="zh-CN" sz="2600" dirty="0"/>
              <a:t>scanf(“%d”, num2_p);</a:t>
            </a:r>
          </a:p>
          <a:p>
            <a:pPr marL="0" indent="476250" algn="just" eaLnBrk="1" hangingPunct="1">
              <a:lnSpc>
                <a:spcPct val="90000"/>
              </a:lnSpc>
              <a:buNone/>
            </a:pPr>
            <a:r>
              <a:rPr lang="en-US" altLang="zh-CN" sz="2600" dirty="0"/>
              <a:t>printf(“num1=%d, num2=%d\n”, num1, num2);</a:t>
            </a:r>
          </a:p>
          <a:p>
            <a:pPr marL="0" indent="476250" algn="just" eaLnBrk="1" hangingPunct="1">
              <a:lnSpc>
                <a:spcPct val="90000"/>
              </a:lnSpc>
              <a:buNone/>
            </a:pPr>
            <a:r>
              <a:rPr lang="en-US" altLang="zh-CN" sz="2600" dirty="0"/>
              <a:t>if( *num1_p &gt; *num2_p )  	</a:t>
            </a:r>
            <a:r>
              <a:rPr lang="en-US" altLang="zh-CN" sz="2000" b="1" i="1" dirty="0">
                <a:solidFill>
                  <a:srgbClr val="0070C0"/>
                </a:solidFill>
              </a:rPr>
              <a:t>/* </a:t>
            </a:r>
            <a:r>
              <a:rPr lang="zh-CN" altLang="en-US" sz="2000" b="1" i="1" dirty="0">
                <a:solidFill>
                  <a:srgbClr val="0070C0"/>
                </a:solidFill>
              </a:rPr>
              <a:t>即</a:t>
            </a:r>
            <a:r>
              <a:rPr lang="en-US" altLang="zh-CN" sz="2000" b="1" i="1" dirty="0">
                <a:solidFill>
                  <a:srgbClr val="0070C0"/>
                </a:solidFill>
              </a:rPr>
              <a:t>num1&gt;num2)*/</a:t>
            </a:r>
          </a:p>
          <a:p>
            <a:pPr marL="0" indent="476250" algn="just" eaLnBrk="1" hangingPunct="1">
              <a:lnSpc>
                <a:spcPct val="90000"/>
              </a:lnSpc>
              <a:buNone/>
            </a:pPr>
            <a:r>
              <a:rPr lang="en-US" altLang="zh-CN" sz="2600" dirty="0"/>
              <a:t>exchange(num1_p, num2_p);  </a:t>
            </a:r>
            <a:r>
              <a:rPr lang="en-US" altLang="zh-CN" sz="2000" b="1" i="1" dirty="0">
                <a:solidFill>
                  <a:srgbClr val="0070C0"/>
                </a:solidFill>
              </a:rPr>
              <a:t>/*</a:t>
            </a:r>
            <a:r>
              <a:rPr lang="zh-CN" altLang="en-US" sz="2000" b="1" i="1" dirty="0">
                <a:solidFill>
                  <a:srgbClr val="0070C0"/>
                </a:solidFill>
              </a:rPr>
              <a:t>指针变量作实参*</a:t>
            </a:r>
            <a:r>
              <a:rPr lang="en-US" altLang="zh-CN" sz="2000" b="1" i="1" dirty="0">
                <a:solidFill>
                  <a:srgbClr val="0070C0"/>
                </a:solidFill>
              </a:rPr>
              <a:t>/</a:t>
            </a:r>
          </a:p>
          <a:p>
            <a:pPr marL="0" indent="476250" algn="just" eaLnBrk="1" hangingPunct="1">
              <a:lnSpc>
                <a:spcPct val="90000"/>
              </a:lnSpc>
              <a:buNone/>
            </a:pPr>
            <a:r>
              <a:rPr lang="en-US" altLang="zh-CN" sz="2600" dirty="0"/>
              <a:t>	</a:t>
            </a:r>
            <a:r>
              <a:rPr lang="en-US" altLang="zh-CN" sz="2600" b="1" i="1" dirty="0">
                <a:solidFill>
                  <a:srgbClr val="0070C0"/>
                </a:solidFill>
              </a:rPr>
              <a:t> </a:t>
            </a:r>
            <a:r>
              <a:rPr lang="en-US" altLang="zh-CN" sz="2000" b="1" i="1" dirty="0">
                <a:solidFill>
                  <a:srgbClr val="0070C0"/>
                </a:solidFill>
              </a:rPr>
              <a:t>/*</a:t>
            </a:r>
            <a:r>
              <a:rPr lang="zh-CN" altLang="en-US" sz="2000" b="1" i="1" dirty="0">
                <a:solidFill>
                  <a:srgbClr val="0070C0"/>
                </a:solidFill>
              </a:rPr>
              <a:t>输出排序后的</a:t>
            </a:r>
            <a:r>
              <a:rPr lang="en-US" altLang="zh-CN" sz="2000" b="1" i="1" dirty="0">
                <a:solidFill>
                  <a:srgbClr val="0070C0"/>
                </a:solidFill>
              </a:rPr>
              <a:t>num1</a:t>
            </a:r>
            <a:r>
              <a:rPr lang="zh-CN" altLang="en-US" sz="2000" b="1" i="1" dirty="0">
                <a:solidFill>
                  <a:srgbClr val="0070C0"/>
                </a:solidFill>
              </a:rPr>
              <a:t>和</a:t>
            </a:r>
            <a:r>
              <a:rPr lang="en-US" altLang="zh-CN" sz="2000" b="1" i="1" dirty="0">
                <a:solidFill>
                  <a:srgbClr val="0070C0"/>
                </a:solidFill>
              </a:rPr>
              <a:t>num2</a:t>
            </a:r>
            <a:r>
              <a:rPr lang="zh-CN" altLang="en-US" sz="2000" b="1" i="1" dirty="0">
                <a:solidFill>
                  <a:srgbClr val="0070C0"/>
                </a:solidFill>
              </a:rPr>
              <a:t>的值*</a:t>
            </a:r>
            <a:r>
              <a:rPr lang="en-US" altLang="zh-CN" sz="2000" b="1" i="1" dirty="0">
                <a:solidFill>
                  <a:srgbClr val="0070C0"/>
                </a:solidFill>
              </a:rPr>
              <a:t>/</a:t>
            </a:r>
          </a:p>
          <a:p>
            <a:pPr marL="0" indent="476250" algn="just" eaLnBrk="1" hangingPunct="1">
              <a:lnSpc>
                <a:spcPct val="90000"/>
              </a:lnSpc>
              <a:buNone/>
            </a:pPr>
            <a:r>
              <a:rPr lang="en-US" altLang="zh-CN" sz="2600" dirty="0"/>
              <a:t>printf(“min=%d, max=%d\n”, num1, num2); </a:t>
            </a:r>
          </a:p>
          <a:p>
            <a:pPr marL="0" indent="476250" algn="just" eaLnBrk="1" hangingPunct="1">
              <a:lnSpc>
                <a:spcPct val="90000"/>
              </a:lnSpc>
              <a:buNone/>
            </a:pPr>
            <a:r>
              <a:rPr lang="en-US" altLang="zh-CN" sz="2600" dirty="0"/>
              <a:t>return 0;</a:t>
            </a:r>
          </a:p>
          <a:p>
            <a:pPr marL="0" indent="476250" algn="just" eaLnBrk="1" hangingPunct="1">
              <a:lnSpc>
                <a:spcPct val="90000"/>
              </a:lnSpc>
              <a:buNone/>
            </a:pPr>
            <a:r>
              <a:rPr lang="en-US" altLang="zh-CN" sz="2600" dirty="0"/>
              <a:t>}			</a:t>
            </a:r>
            <a:r>
              <a:rPr lang="en-US" altLang="zh-CN" dirty="0"/>
              <a:t>				</a:t>
            </a: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F03F1DF-B52D-43D5-AA7A-761A95ED568D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9700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A4CAB27-7F33-4695-8221-44BB8E3B5B5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19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87450" y="1082675"/>
            <a:ext cx="6121400" cy="4794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lang="en-US" altLang="zh-CN" sz="28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5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.2.2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指针变量作函数参数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Grp="1"/>
          </p:cNvSpPr>
          <p:nvPr>
            <p:ph idx="1"/>
          </p:nvPr>
        </p:nvSpPr>
        <p:spPr>
          <a:xfrm>
            <a:off x="455613" y="1989138"/>
            <a:ext cx="8540750" cy="3240087"/>
          </a:xfrm>
          <a:ln/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buNone/>
            </a:pPr>
            <a:r>
              <a:rPr lang="zh-CN" altLang="en-US" sz="2800" dirty="0"/>
              <a:t>程序运行情况：</a:t>
            </a:r>
          </a:p>
          <a:p>
            <a:pPr algn="just" eaLnBrk="1" hangingPunct="1">
              <a:buNone/>
            </a:pPr>
            <a:r>
              <a:rPr lang="en-US" altLang="zh-CN" sz="2800" dirty="0"/>
              <a:t>Input the first number:9←┘</a:t>
            </a:r>
          </a:p>
          <a:p>
            <a:pPr algn="just" eaLnBrk="1" hangingPunct="1">
              <a:buNone/>
            </a:pPr>
            <a:r>
              <a:rPr lang="en-US" altLang="zh-CN" sz="2800" dirty="0"/>
              <a:t>Input the second number:6←┘</a:t>
            </a:r>
          </a:p>
          <a:p>
            <a:pPr algn="just" eaLnBrk="1" hangingPunct="1">
              <a:buNone/>
            </a:pPr>
            <a:r>
              <a:rPr lang="en-US" altLang="zh-CN" sz="2800" dirty="0"/>
              <a:t>num1=9, num2=6</a:t>
            </a:r>
          </a:p>
          <a:p>
            <a:pPr algn="just" eaLnBrk="1" hangingPunct="1">
              <a:buNone/>
            </a:pPr>
            <a:r>
              <a:rPr lang="en-US" altLang="zh-CN" sz="2800" dirty="0"/>
              <a:t>min=6, max=9</a:t>
            </a:r>
          </a:p>
          <a:p>
            <a:pPr eaLnBrk="1" hangingPunct="1"/>
            <a:endParaRPr lang="en-US" altLang="zh-CN" dirty="0"/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A82AED-6219-403D-80F1-2BDAF3BC083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0724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C3C42F-5165-4004-A127-AFA0A96C473B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20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87450" y="1082675"/>
            <a:ext cx="6121400" cy="4794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lang="en-US" altLang="zh-CN" sz="28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5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.2.2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指针变量作函数参数</a:t>
            </a: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/>
          <p:cNvSpPr>
            <a:spLocks noGrp="1"/>
          </p:cNvSpPr>
          <p:nvPr>
            <p:ph idx="1"/>
          </p:nvPr>
        </p:nvSpPr>
        <p:spPr>
          <a:xfrm>
            <a:off x="446088" y="1770063"/>
            <a:ext cx="8540750" cy="4930775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en-US" altLang="zh-CN" dirty="0"/>
              <a:t>1.main</a:t>
            </a:r>
            <a:r>
              <a:rPr lang="zh-CN" altLang="en-US" dirty="0"/>
              <a:t>函数中</a:t>
            </a:r>
          </a:p>
          <a:p>
            <a:pPr eaLnBrk="1" hangingPunct="1">
              <a:buNone/>
            </a:pPr>
            <a:endParaRPr lang="zh-CN" altLang="en-US" dirty="0">
              <a:solidFill>
                <a:srgbClr val="7030A0"/>
              </a:solidFill>
            </a:endParaRPr>
          </a:p>
          <a:p>
            <a:pPr eaLnBrk="1" hangingPunct="1">
              <a:buNone/>
            </a:pPr>
            <a:endParaRPr lang="zh-CN" altLang="en-US" dirty="0">
              <a:solidFill>
                <a:srgbClr val="7030A0"/>
              </a:solidFill>
            </a:endParaRPr>
          </a:p>
          <a:p>
            <a:pPr eaLnBrk="1" hangingPunct="1">
              <a:buNone/>
            </a:pPr>
            <a:endParaRPr lang="zh-CN" altLang="en-US" dirty="0">
              <a:solidFill>
                <a:srgbClr val="7030A0"/>
              </a:solidFill>
            </a:endParaRPr>
          </a:p>
          <a:p>
            <a:pPr eaLnBrk="1" hangingPunct="1">
              <a:buNone/>
            </a:pPr>
            <a:endParaRPr lang="zh-CN" altLang="en-US" dirty="0">
              <a:solidFill>
                <a:srgbClr val="7030A0"/>
              </a:solidFill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rgbClr val="7030A0"/>
                </a:solidFill>
              </a:rPr>
              <a:t>2.</a:t>
            </a:r>
            <a:r>
              <a:rPr lang="zh-CN" altLang="en-US" dirty="0">
                <a:solidFill>
                  <a:srgbClr val="7030A0"/>
                </a:solidFill>
              </a:rPr>
              <a:t>函数调用</a:t>
            </a:r>
          </a:p>
        </p:txBody>
      </p:sp>
      <p:sp>
        <p:nvSpPr>
          <p:cNvPr id="29699" name="Text Box 16"/>
          <p:cNvSpPr txBox="1"/>
          <p:nvPr/>
        </p:nvSpPr>
        <p:spPr>
          <a:xfrm>
            <a:off x="5148263" y="4065588"/>
            <a:ext cx="100965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num1_p</a:t>
            </a:r>
          </a:p>
        </p:txBody>
      </p:sp>
      <p:sp>
        <p:nvSpPr>
          <p:cNvPr id="29700" name="Rectangle 19"/>
          <p:cNvSpPr/>
          <p:nvPr/>
        </p:nvSpPr>
        <p:spPr>
          <a:xfrm>
            <a:off x="5291138" y="1833563"/>
            <a:ext cx="792162" cy="79375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1" name="Rectangle 20"/>
          <p:cNvSpPr/>
          <p:nvPr/>
        </p:nvSpPr>
        <p:spPr>
          <a:xfrm>
            <a:off x="7523163" y="1833563"/>
            <a:ext cx="792162" cy="79375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2" name="Text Box 21"/>
          <p:cNvSpPr txBox="1"/>
          <p:nvPr/>
        </p:nvSpPr>
        <p:spPr>
          <a:xfrm>
            <a:off x="5291138" y="1544638"/>
            <a:ext cx="792162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num1</a:t>
            </a:r>
          </a:p>
        </p:txBody>
      </p:sp>
      <p:sp>
        <p:nvSpPr>
          <p:cNvPr id="29703" name="Text Box 22"/>
          <p:cNvSpPr txBox="1"/>
          <p:nvPr/>
        </p:nvSpPr>
        <p:spPr>
          <a:xfrm>
            <a:off x="7523163" y="1544638"/>
            <a:ext cx="792162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num2</a:t>
            </a:r>
          </a:p>
        </p:txBody>
      </p:sp>
      <p:sp>
        <p:nvSpPr>
          <p:cNvPr id="29704" name="Text Box 23"/>
          <p:cNvSpPr txBox="1"/>
          <p:nvPr/>
        </p:nvSpPr>
        <p:spPr>
          <a:xfrm>
            <a:off x="5362575" y="2049463"/>
            <a:ext cx="6477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   9</a:t>
            </a:r>
          </a:p>
        </p:txBody>
      </p:sp>
      <p:sp>
        <p:nvSpPr>
          <p:cNvPr id="29705" name="Text Box 24"/>
          <p:cNvSpPr txBox="1"/>
          <p:nvPr/>
        </p:nvSpPr>
        <p:spPr>
          <a:xfrm>
            <a:off x="7594600" y="2049463"/>
            <a:ext cx="6477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   6</a:t>
            </a:r>
          </a:p>
        </p:txBody>
      </p:sp>
      <p:sp>
        <p:nvSpPr>
          <p:cNvPr id="29706" name="Rectangle 25"/>
          <p:cNvSpPr/>
          <p:nvPr/>
        </p:nvSpPr>
        <p:spPr>
          <a:xfrm>
            <a:off x="5291138" y="3128963"/>
            <a:ext cx="792162" cy="79375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7" name="Rectangle 26"/>
          <p:cNvSpPr/>
          <p:nvPr/>
        </p:nvSpPr>
        <p:spPr>
          <a:xfrm>
            <a:off x="7523163" y="3059113"/>
            <a:ext cx="792162" cy="79057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8" name="Line 27"/>
          <p:cNvSpPr/>
          <p:nvPr/>
        </p:nvSpPr>
        <p:spPr>
          <a:xfrm flipV="1">
            <a:off x="5651500" y="2627313"/>
            <a:ext cx="0" cy="5016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709" name="Text Box 28"/>
          <p:cNvSpPr txBox="1"/>
          <p:nvPr/>
        </p:nvSpPr>
        <p:spPr>
          <a:xfrm>
            <a:off x="7450138" y="3995738"/>
            <a:ext cx="100965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num2_p</a:t>
            </a:r>
          </a:p>
        </p:txBody>
      </p:sp>
      <p:sp>
        <p:nvSpPr>
          <p:cNvPr id="29710" name="Line 29"/>
          <p:cNvSpPr/>
          <p:nvPr/>
        </p:nvSpPr>
        <p:spPr>
          <a:xfrm flipV="1">
            <a:off x="7883525" y="2627313"/>
            <a:ext cx="0" cy="431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711" name="Rectangle 30"/>
          <p:cNvSpPr/>
          <p:nvPr/>
        </p:nvSpPr>
        <p:spPr>
          <a:xfrm>
            <a:off x="5291138" y="5002213"/>
            <a:ext cx="792162" cy="790575"/>
          </a:xfrm>
          <a:prstGeom prst="rect">
            <a:avLst/>
          </a:prstGeom>
          <a:noFill/>
          <a:ln w="9525" cap="flat" cmpd="sng">
            <a:solidFill>
              <a:srgbClr val="7030A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12" name="Rectangle 31"/>
          <p:cNvSpPr/>
          <p:nvPr/>
        </p:nvSpPr>
        <p:spPr>
          <a:xfrm>
            <a:off x="7523163" y="4929188"/>
            <a:ext cx="792162" cy="793750"/>
          </a:xfrm>
          <a:prstGeom prst="rect">
            <a:avLst/>
          </a:prstGeom>
          <a:noFill/>
          <a:ln w="9525" cap="flat" cmpd="sng">
            <a:solidFill>
              <a:srgbClr val="7030A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13" name="Text Box 33"/>
          <p:cNvSpPr txBox="1"/>
          <p:nvPr/>
        </p:nvSpPr>
        <p:spPr>
          <a:xfrm>
            <a:off x="5181600" y="6088063"/>
            <a:ext cx="100965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pointer1</a:t>
            </a:r>
          </a:p>
        </p:txBody>
      </p:sp>
      <p:sp>
        <p:nvSpPr>
          <p:cNvPr id="29714" name="Text Box 34"/>
          <p:cNvSpPr txBox="1"/>
          <p:nvPr/>
        </p:nvSpPr>
        <p:spPr>
          <a:xfrm>
            <a:off x="7451725" y="6008688"/>
            <a:ext cx="100965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pointer2</a:t>
            </a:r>
          </a:p>
        </p:txBody>
      </p:sp>
      <p:sp>
        <p:nvSpPr>
          <p:cNvPr id="29715" name="Line 39"/>
          <p:cNvSpPr/>
          <p:nvPr/>
        </p:nvSpPr>
        <p:spPr>
          <a:xfrm flipV="1">
            <a:off x="5651500" y="4640263"/>
            <a:ext cx="0" cy="361950"/>
          </a:xfrm>
          <a:prstGeom prst="line">
            <a:avLst/>
          </a:prstGeom>
          <a:ln w="9525" cap="flat" cmpd="sng">
            <a:solidFill>
              <a:srgbClr val="7030A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16" name="Line 41"/>
          <p:cNvSpPr/>
          <p:nvPr/>
        </p:nvSpPr>
        <p:spPr>
          <a:xfrm flipH="1">
            <a:off x="4930775" y="4640263"/>
            <a:ext cx="720725" cy="0"/>
          </a:xfrm>
          <a:prstGeom prst="line">
            <a:avLst/>
          </a:prstGeom>
          <a:ln w="9525" cap="flat" cmpd="sng">
            <a:solidFill>
              <a:srgbClr val="7030A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17" name="Line 42"/>
          <p:cNvSpPr/>
          <p:nvPr/>
        </p:nvSpPr>
        <p:spPr>
          <a:xfrm flipV="1">
            <a:off x="4930775" y="2192338"/>
            <a:ext cx="0" cy="2447925"/>
          </a:xfrm>
          <a:prstGeom prst="line">
            <a:avLst/>
          </a:prstGeom>
          <a:ln w="9525" cap="flat" cmpd="sng">
            <a:solidFill>
              <a:srgbClr val="7030A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18" name="Line 43"/>
          <p:cNvSpPr/>
          <p:nvPr/>
        </p:nvSpPr>
        <p:spPr>
          <a:xfrm>
            <a:off x="4930775" y="2192338"/>
            <a:ext cx="360363" cy="0"/>
          </a:xfrm>
          <a:prstGeom prst="line">
            <a:avLst/>
          </a:prstGeom>
          <a:ln w="9525" cap="flat" cmpd="sng">
            <a:solidFill>
              <a:srgbClr val="7030A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719" name="Line 44"/>
          <p:cNvSpPr/>
          <p:nvPr/>
        </p:nvSpPr>
        <p:spPr>
          <a:xfrm flipV="1">
            <a:off x="7883525" y="4497388"/>
            <a:ext cx="0" cy="431800"/>
          </a:xfrm>
          <a:prstGeom prst="line">
            <a:avLst/>
          </a:prstGeom>
          <a:ln w="9525" cap="flat" cmpd="sng">
            <a:solidFill>
              <a:srgbClr val="7030A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20" name="Line 45"/>
          <p:cNvSpPr/>
          <p:nvPr/>
        </p:nvSpPr>
        <p:spPr>
          <a:xfrm>
            <a:off x="7883525" y="4497388"/>
            <a:ext cx="720725" cy="0"/>
          </a:xfrm>
          <a:prstGeom prst="line">
            <a:avLst/>
          </a:prstGeom>
          <a:ln w="9525" cap="flat" cmpd="sng">
            <a:solidFill>
              <a:srgbClr val="7030A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21" name="Line 46"/>
          <p:cNvSpPr/>
          <p:nvPr/>
        </p:nvSpPr>
        <p:spPr>
          <a:xfrm flipV="1">
            <a:off x="8604250" y="2192338"/>
            <a:ext cx="0" cy="2305050"/>
          </a:xfrm>
          <a:prstGeom prst="line">
            <a:avLst/>
          </a:prstGeom>
          <a:ln w="9525" cap="flat" cmpd="sng">
            <a:solidFill>
              <a:srgbClr val="7030A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22" name="Line 47"/>
          <p:cNvSpPr/>
          <p:nvPr/>
        </p:nvSpPr>
        <p:spPr>
          <a:xfrm flipH="1">
            <a:off x="8315325" y="2192338"/>
            <a:ext cx="288925" cy="0"/>
          </a:xfrm>
          <a:prstGeom prst="line">
            <a:avLst/>
          </a:prstGeom>
          <a:ln w="9525" cap="flat" cmpd="sng">
            <a:solidFill>
              <a:srgbClr val="7030A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" name="日期占位符 28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2A6CA7C-C324-4D33-A69B-7AE011855B15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1772" name="灯片编号占位符 29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F40D0A-E629-4191-A154-A0C687789D2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21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187450" y="1082675"/>
            <a:ext cx="6121400" cy="4794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lang="en-US" altLang="zh-CN" sz="28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5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.2.2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指针变量作函数参数</a:t>
            </a:r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/>
          </p:cNvSpPr>
          <p:nvPr>
            <p:ph idx="1"/>
          </p:nvPr>
        </p:nvSpPr>
        <p:spPr>
          <a:xfrm>
            <a:off x="301625" y="1773238"/>
            <a:ext cx="8540750" cy="4824412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en-US" altLang="zh-CN" sz="2800" dirty="0">
                <a:solidFill>
                  <a:srgbClr val="7030A0"/>
                </a:solidFill>
              </a:rPr>
              <a:t>3 exchange</a:t>
            </a:r>
            <a:r>
              <a:rPr lang="zh-CN" altLang="en-US" sz="2800" dirty="0">
                <a:solidFill>
                  <a:srgbClr val="7030A0"/>
                </a:solidFill>
              </a:rPr>
              <a:t>函数中</a:t>
            </a:r>
          </a:p>
          <a:p>
            <a:pPr eaLnBrk="1" hangingPunct="1">
              <a:buNone/>
            </a:pPr>
            <a:endParaRPr lang="en-US" altLang="zh-CN" sz="3400" dirty="0"/>
          </a:p>
        </p:txBody>
      </p:sp>
      <p:sp>
        <p:nvSpPr>
          <p:cNvPr id="30723" name="Text Box 4"/>
          <p:cNvSpPr txBox="1"/>
          <p:nvPr/>
        </p:nvSpPr>
        <p:spPr>
          <a:xfrm>
            <a:off x="5137150" y="4070350"/>
            <a:ext cx="100965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num1_p</a:t>
            </a:r>
          </a:p>
        </p:txBody>
      </p:sp>
      <p:sp>
        <p:nvSpPr>
          <p:cNvPr id="30724" name="Rectangle 5"/>
          <p:cNvSpPr/>
          <p:nvPr/>
        </p:nvSpPr>
        <p:spPr>
          <a:xfrm>
            <a:off x="5280025" y="1839913"/>
            <a:ext cx="792163" cy="792162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25" name="Rectangle 6"/>
          <p:cNvSpPr/>
          <p:nvPr/>
        </p:nvSpPr>
        <p:spPr>
          <a:xfrm>
            <a:off x="7512050" y="1839913"/>
            <a:ext cx="792163" cy="792162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26" name="Text Box 7"/>
          <p:cNvSpPr txBox="1"/>
          <p:nvPr/>
        </p:nvSpPr>
        <p:spPr>
          <a:xfrm>
            <a:off x="5280025" y="1550988"/>
            <a:ext cx="792163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num1</a:t>
            </a:r>
          </a:p>
        </p:txBody>
      </p:sp>
      <p:sp>
        <p:nvSpPr>
          <p:cNvPr id="30727" name="Text Box 8"/>
          <p:cNvSpPr txBox="1"/>
          <p:nvPr/>
        </p:nvSpPr>
        <p:spPr>
          <a:xfrm>
            <a:off x="7512050" y="1550988"/>
            <a:ext cx="792163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num2</a:t>
            </a:r>
          </a:p>
        </p:txBody>
      </p:sp>
      <p:sp>
        <p:nvSpPr>
          <p:cNvPr id="30728" name="Text Box 9"/>
          <p:cNvSpPr txBox="1"/>
          <p:nvPr/>
        </p:nvSpPr>
        <p:spPr>
          <a:xfrm>
            <a:off x="5351463" y="2055813"/>
            <a:ext cx="6477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   6</a:t>
            </a:r>
          </a:p>
        </p:txBody>
      </p:sp>
      <p:sp>
        <p:nvSpPr>
          <p:cNvPr id="30729" name="Text Box 10"/>
          <p:cNvSpPr txBox="1"/>
          <p:nvPr/>
        </p:nvSpPr>
        <p:spPr>
          <a:xfrm>
            <a:off x="7583488" y="2055813"/>
            <a:ext cx="6477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  9</a:t>
            </a:r>
          </a:p>
        </p:txBody>
      </p:sp>
      <p:sp>
        <p:nvSpPr>
          <p:cNvPr id="30730" name="Rectangle 11"/>
          <p:cNvSpPr/>
          <p:nvPr/>
        </p:nvSpPr>
        <p:spPr>
          <a:xfrm>
            <a:off x="5280025" y="3135313"/>
            <a:ext cx="792163" cy="792162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31" name="Rectangle 12"/>
          <p:cNvSpPr/>
          <p:nvPr/>
        </p:nvSpPr>
        <p:spPr>
          <a:xfrm>
            <a:off x="7512050" y="3063875"/>
            <a:ext cx="792163" cy="792163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32" name="Line 13"/>
          <p:cNvSpPr/>
          <p:nvPr/>
        </p:nvSpPr>
        <p:spPr>
          <a:xfrm flipV="1">
            <a:off x="5640388" y="2632075"/>
            <a:ext cx="0" cy="5032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733" name="Text Box 14"/>
          <p:cNvSpPr txBox="1"/>
          <p:nvPr/>
        </p:nvSpPr>
        <p:spPr>
          <a:xfrm>
            <a:off x="7439025" y="4000500"/>
            <a:ext cx="100965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num2_p</a:t>
            </a:r>
          </a:p>
        </p:txBody>
      </p:sp>
      <p:sp>
        <p:nvSpPr>
          <p:cNvPr id="30734" name="Line 15"/>
          <p:cNvSpPr/>
          <p:nvPr/>
        </p:nvSpPr>
        <p:spPr>
          <a:xfrm flipV="1">
            <a:off x="7872413" y="2632075"/>
            <a:ext cx="0" cy="431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735" name="Rectangle 16"/>
          <p:cNvSpPr/>
          <p:nvPr/>
        </p:nvSpPr>
        <p:spPr>
          <a:xfrm>
            <a:off x="5280025" y="5006975"/>
            <a:ext cx="792163" cy="792163"/>
          </a:xfrm>
          <a:prstGeom prst="rect">
            <a:avLst/>
          </a:prstGeom>
          <a:noFill/>
          <a:ln w="9525" cap="flat" cmpd="sng">
            <a:solidFill>
              <a:srgbClr val="7030A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36" name="Rectangle 17"/>
          <p:cNvSpPr/>
          <p:nvPr/>
        </p:nvSpPr>
        <p:spPr>
          <a:xfrm>
            <a:off x="7512050" y="4935538"/>
            <a:ext cx="792163" cy="792162"/>
          </a:xfrm>
          <a:prstGeom prst="rect">
            <a:avLst/>
          </a:prstGeom>
          <a:noFill/>
          <a:ln w="9525" cap="flat" cmpd="sng">
            <a:solidFill>
              <a:srgbClr val="7030A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37" name="Text Box 18"/>
          <p:cNvSpPr txBox="1"/>
          <p:nvPr/>
        </p:nvSpPr>
        <p:spPr>
          <a:xfrm>
            <a:off x="5137150" y="6086475"/>
            <a:ext cx="100965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pointer1</a:t>
            </a:r>
          </a:p>
        </p:txBody>
      </p:sp>
      <p:sp>
        <p:nvSpPr>
          <p:cNvPr id="30738" name="Text Box 19"/>
          <p:cNvSpPr txBox="1"/>
          <p:nvPr/>
        </p:nvSpPr>
        <p:spPr>
          <a:xfrm>
            <a:off x="7402513" y="6042025"/>
            <a:ext cx="100965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pointer2</a:t>
            </a:r>
          </a:p>
        </p:txBody>
      </p:sp>
      <p:sp>
        <p:nvSpPr>
          <p:cNvPr id="30739" name="Line 20"/>
          <p:cNvSpPr/>
          <p:nvPr/>
        </p:nvSpPr>
        <p:spPr>
          <a:xfrm flipV="1">
            <a:off x="5640388" y="4646613"/>
            <a:ext cx="0" cy="360362"/>
          </a:xfrm>
          <a:prstGeom prst="line">
            <a:avLst/>
          </a:prstGeom>
          <a:ln w="9525" cap="flat" cmpd="sng">
            <a:solidFill>
              <a:srgbClr val="7030A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40" name="Line 21"/>
          <p:cNvSpPr/>
          <p:nvPr/>
        </p:nvSpPr>
        <p:spPr>
          <a:xfrm flipH="1">
            <a:off x="4919663" y="4646613"/>
            <a:ext cx="720725" cy="0"/>
          </a:xfrm>
          <a:prstGeom prst="line">
            <a:avLst/>
          </a:prstGeom>
          <a:ln w="9525" cap="flat" cmpd="sng">
            <a:solidFill>
              <a:srgbClr val="7030A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41" name="Line 22"/>
          <p:cNvSpPr/>
          <p:nvPr/>
        </p:nvSpPr>
        <p:spPr>
          <a:xfrm flipV="1">
            <a:off x="4919663" y="2198688"/>
            <a:ext cx="0" cy="2447925"/>
          </a:xfrm>
          <a:prstGeom prst="line">
            <a:avLst/>
          </a:prstGeom>
          <a:ln w="9525" cap="flat" cmpd="sng">
            <a:solidFill>
              <a:srgbClr val="7030A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42" name="Line 23"/>
          <p:cNvSpPr/>
          <p:nvPr/>
        </p:nvSpPr>
        <p:spPr>
          <a:xfrm>
            <a:off x="4919663" y="2198688"/>
            <a:ext cx="360362" cy="0"/>
          </a:xfrm>
          <a:prstGeom prst="line">
            <a:avLst/>
          </a:prstGeom>
          <a:ln w="9525" cap="flat" cmpd="sng">
            <a:solidFill>
              <a:srgbClr val="7030A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743" name="Line 24"/>
          <p:cNvSpPr/>
          <p:nvPr/>
        </p:nvSpPr>
        <p:spPr>
          <a:xfrm flipV="1">
            <a:off x="7872413" y="4503738"/>
            <a:ext cx="0" cy="431800"/>
          </a:xfrm>
          <a:prstGeom prst="line">
            <a:avLst/>
          </a:prstGeom>
          <a:ln w="9525" cap="flat" cmpd="sng">
            <a:solidFill>
              <a:srgbClr val="7030A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44" name="Line 25"/>
          <p:cNvSpPr/>
          <p:nvPr/>
        </p:nvSpPr>
        <p:spPr>
          <a:xfrm>
            <a:off x="7872413" y="4503738"/>
            <a:ext cx="720725" cy="0"/>
          </a:xfrm>
          <a:prstGeom prst="line">
            <a:avLst/>
          </a:prstGeom>
          <a:ln w="9525" cap="flat" cmpd="sng">
            <a:solidFill>
              <a:srgbClr val="7030A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45" name="Line 26"/>
          <p:cNvSpPr/>
          <p:nvPr/>
        </p:nvSpPr>
        <p:spPr>
          <a:xfrm flipV="1">
            <a:off x="8593138" y="2198688"/>
            <a:ext cx="0" cy="2305050"/>
          </a:xfrm>
          <a:prstGeom prst="line">
            <a:avLst/>
          </a:prstGeom>
          <a:ln w="9525" cap="flat" cmpd="sng">
            <a:solidFill>
              <a:srgbClr val="7030A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46" name="Line 27"/>
          <p:cNvSpPr/>
          <p:nvPr/>
        </p:nvSpPr>
        <p:spPr>
          <a:xfrm flipH="1">
            <a:off x="8304213" y="2198688"/>
            <a:ext cx="288925" cy="0"/>
          </a:xfrm>
          <a:prstGeom prst="line">
            <a:avLst/>
          </a:prstGeom>
          <a:ln w="9525" cap="flat" cmpd="sng">
            <a:solidFill>
              <a:srgbClr val="7030A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747" name="Rectangle 28"/>
          <p:cNvSpPr/>
          <p:nvPr/>
        </p:nvSpPr>
        <p:spPr>
          <a:xfrm>
            <a:off x="6361113" y="1838325"/>
            <a:ext cx="792162" cy="792163"/>
          </a:xfrm>
          <a:prstGeom prst="rect">
            <a:avLst/>
          </a:prstGeom>
          <a:noFill/>
          <a:ln w="9525" cap="flat" cmpd="sng">
            <a:solidFill>
              <a:srgbClr val="7030A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48" name="Text Box 29"/>
          <p:cNvSpPr txBox="1"/>
          <p:nvPr/>
        </p:nvSpPr>
        <p:spPr>
          <a:xfrm>
            <a:off x="6361113" y="1550988"/>
            <a:ext cx="792162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7030A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temp</a:t>
            </a:r>
          </a:p>
        </p:txBody>
      </p:sp>
      <p:sp>
        <p:nvSpPr>
          <p:cNvPr id="31" name="日期占位符 30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E46EB0-F741-44BA-A788-218A1B10F90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2798" name="灯片编号占位符 31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F2D69C2-42F5-46A9-A60F-0686123B78E9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22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187450" y="1082675"/>
            <a:ext cx="6121400" cy="4794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lang="en-US" altLang="zh-CN" sz="28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5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.2.2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指针变量作函数参数</a:t>
            </a: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idx="1"/>
          </p:nvPr>
        </p:nvSpPr>
        <p:spPr>
          <a:xfrm>
            <a:off x="1003300" y="1403350"/>
            <a:ext cx="8077200" cy="5105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3746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-215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/******************************************************/</a:t>
            </a:r>
          </a:p>
          <a:p>
            <a:pPr marL="0" marR="0" lvl="0" indent="-215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/*exchange()</a:t>
            </a:r>
            <a:r>
              <a:rPr kumimoji="0" lang="zh-CN" altLang="en-US" sz="20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功能：交换</a:t>
            </a:r>
            <a:r>
              <a:rPr kumimoji="0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0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个形参指针变量所指向的变量的值  *</a:t>
            </a:r>
            <a:r>
              <a:rPr kumimoji="0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</a:p>
          <a:p>
            <a:pPr marL="0" marR="0" lvl="0" indent="-215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/*</a:t>
            </a:r>
            <a:r>
              <a:rPr kumimoji="0" lang="zh-CN" altLang="en-US" sz="20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形参：</a:t>
            </a:r>
            <a:r>
              <a:rPr kumimoji="0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0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个，均为指向整型数据的指针变量         *</a:t>
            </a:r>
            <a:r>
              <a:rPr kumimoji="0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</a:p>
          <a:p>
            <a:pPr marL="0" marR="0" lvl="0" indent="-215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/*</a:t>
            </a:r>
            <a:r>
              <a:rPr kumimoji="0" lang="zh-CN" altLang="en-US" sz="20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返回值：无                                                              *</a:t>
            </a:r>
            <a:r>
              <a:rPr kumimoji="0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</a:p>
          <a:p>
            <a:pPr marL="0" marR="0" lvl="0" indent="-215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/******************************************************/</a:t>
            </a:r>
          </a:p>
          <a:p>
            <a:pPr marL="0" marR="0" lvl="0" indent="3746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void exchange(</a:t>
            </a:r>
            <a:r>
              <a:rPr kumimoji="0" lang="en-US" altLang="zh-CN" sz="2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*pointer1, </a:t>
            </a:r>
            <a:r>
              <a:rPr kumimoji="0" lang="en-US" altLang="zh-CN" sz="2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*pointer2)</a:t>
            </a:r>
          </a:p>
          <a:p>
            <a:pPr marL="0" marR="0" lvl="0" indent="3746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{ </a:t>
            </a:r>
            <a:r>
              <a:rPr kumimoji="0" lang="en-US" altLang="zh-CN" sz="2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temp;</a:t>
            </a:r>
          </a:p>
          <a:p>
            <a:pPr marL="0" marR="0" lvl="0" indent="3746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temp=*pointer1, *pointer1=*pointer2,  </a:t>
            </a:r>
          </a:p>
          <a:p>
            <a:pPr marL="0" marR="0" lvl="0" indent="3746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*pointer2=temp;</a:t>
            </a:r>
          </a:p>
          <a:p>
            <a:pPr marL="0" marR="0" lvl="0" indent="3746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}</a:t>
            </a:r>
          </a:p>
          <a:p>
            <a:pPr marL="0" marR="0" lvl="0" indent="3746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3746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19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3746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19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5BBAD3-61D0-428E-993F-2D60E0E45DD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4820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703C848-8F29-45E5-91F2-3FD72BB60CFA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23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17600" y="765175"/>
            <a:ext cx="7848600" cy="90360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-17970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 [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5.4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]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输入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3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个整数，按降序（从大到小的顺序）输出。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华文新魏" panose="02010800040101010101" pitchFamily="2" charset="-122"/>
              <a:cs typeface="+mn-cs"/>
            </a:endParaRPr>
          </a:p>
          <a:p>
            <a:pPr marL="0" marR="0" lvl="0" indent="-17970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要求使用变量的地址作函数调用的实参来实现。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>
            <a:spLocks noGrp="1"/>
          </p:cNvSpPr>
          <p:nvPr>
            <p:ph idx="1"/>
          </p:nvPr>
        </p:nvSpPr>
        <p:spPr>
          <a:xfrm>
            <a:off x="539750" y="1700213"/>
            <a:ext cx="8855075" cy="4752975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-179705" eaLnBrk="1" hangingPunct="1">
              <a:lnSpc>
                <a:spcPct val="80000"/>
              </a:lnSpc>
              <a:buNone/>
            </a:pPr>
            <a:r>
              <a:rPr lang="en-US" altLang="zh-CN" sz="2200" dirty="0"/>
              <a:t>int main(){ </a:t>
            </a:r>
          </a:p>
          <a:p>
            <a:pPr marL="0" indent="-179705" eaLnBrk="1" hangingPunct="1">
              <a:lnSpc>
                <a:spcPct val="80000"/>
              </a:lnSpc>
              <a:buNone/>
            </a:pPr>
            <a:r>
              <a:rPr lang="en-US" altLang="zh-CN" sz="2200" dirty="0"/>
              <a:t>     int num1,num2,num3;</a:t>
            </a:r>
          </a:p>
          <a:p>
            <a:pPr marL="0" indent="-179705" eaLnBrk="1" hangingPunct="1">
              <a:lnSpc>
                <a:spcPct val="80000"/>
              </a:lnSpc>
              <a:buNone/>
            </a:pPr>
            <a:r>
              <a:rPr lang="en-US" altLang="zh-CN" sz="2200" b="1" i="1" dirty="0">
                <a:solidFill>
                  <a:srgbClr val="0070C0"/>
                </a:solidFill>
              </a:rPr>
              <a:t>      /*</a:t>
            </a:r>
            <a:r>
              <a:rPr lang="zh-CN" altLang="en-US" sz="2200" b="1" i="1" dirty="0">
                <a:solidFill>
                  <a:srgbClr val="0070C0"/>
                </a:solidFill>
              </a:rPr>
              <a:t>从键盘上输入</a:t>
            </a:r>
            <a:r>
              <a:rPr lang="en-US" altLang="zh-CN" sz="2200" b="1" i="1" dirty="0">
                <a:solidFill>
                  <a:srgbClr val="0070C0"/>
                </a:solidFill>
              </a:rPr>
              <a:t>3</a:t>
            </a:r>
            <a:r>
              <a:rPr lang="zh-CN" altLang="en-US" sz="2200" b="1" i="1" dirty="0">
                <a:solidFill>
                  <a:srgbClr val="0070C0"/>
                </a:solidFill>
              </a:rPr>
              <a:t>个整数*</a:t>
            </a:r>
            <a:r>
              <a:rPr lang="en-US" altLang="zh-CN" sz="2200" b="1" i="1" dirty="0">
                <a:solidFill>
                  <a:srgbClr val="0070C0"/>
                </a:solidFill>
              </a:rPr>
              <a:t>/</a:t>
            </a:r>
          </a:p>
          <a:p>
            <a:pPr marL="0" indent="-179705" eaLnBrk="1" hangingPunct="1">
              <a:lnSpc>
                <a:spcPct val="80000"/>
              </a:lnSpc>
              <a:buNone/>
            </a:pPr>
            <a:r>
              <a:rPr lang="en-US" altLang="zh-CN" sz="2200" dirty="0"/>
              <a:t>     printf(“Input the first number: ”); scanf(“%d”, &amp;num1);</a:t>
            </a:r>
          </a:p>
          <a:p>
            <a:pPr marL="0" indent="-179705" eaLnBrk="1" hangingPunct="1">
              <a:lnSpc>
                <a:spcPct val="80000"/>
              </a:lnSpc>
              <a:buNone/>
            </a:pPr>
            <a:r>
              <a:rPr lang="en-US" altLang="zh-CN" sz="2200" dirty="0"/>
              <a:t>     printf(“Input the second number: ”); scanf(“%d”, &amp;num2);</a:t>
            </a:r>
          </a:p>
          <a:p>
            <a:pPr marL="0" indent="-179705" eaLnBrk="1" hangingPunct="1">
              <a:lnSpc>
                <a:spcPct val="80000"/>
              </a:lnSpc>
              <a:buNone/>
            </a:pPr>
            <a:r>
              <a:rPr lang="en-US" altLang="zh-CN" sz="2200" dirty="0"/>
              <a:t>     printf(“Input the third number: ”); scanf(“%d”, &amp;num3);</a:t>
            </a:r>
          </a:p>
          <a:p>
            <a:pPr marL="0" indent="-179705" eaLnBrk="1" hangingPunct="1">
              <a:lnSpc>
                <a:spcPct val="80000"/>
              </a:lnSpc>
              <a:buClr>
                <a:srgbClr val="CC9900"/>
              </a:buClr>
              <a:buNone/>
            </a:pPr>
            <a:r>
              <a:rPr lang="en-US" altLang="zh-CN" sz="2200" dirty="0"/>
              <a:t>     printf(“num1=%d, num2=%d, num3=%d\n”,num1, </a:t>
            </a:r>
            <a:r>
              <a:rPr lang="en-US" altLang="zh-CN" sz="2200" dirty="0">
                <a:solidFill>
                  <a:srgbClr val="000000"/>
                </a:solidFill>
              </a:rPr>
              <a:t>num2, num3); </a:t>
            </a:r>
          </a:p>
          <a:p>
            <a:pPr marL="0" indent="-179705" eaLnBrk="1" hangingPunct="1">
              <a:lnSpc>
                <a:spcPct val="80000"/>
              </a:lnSpc>
              <a:buNone/>
            </a:pPr>
            <a:r>
              <a:rPr lang="en-US" altLang="zh-CN" sz="2200" dirty="0"/>
              <a:t>     If( num1 &lt; num2 ) exchange( &amp;num1, &amp;num2 ); </a:t>
            </a:r>
          </a:p>
          <a:p>
            <a:pPr marL="0" indent="-179705" eaLnBrk="1" hangingPunct="1">
              <a:lnSpc>
                <a:spcPct val="80000"/>
              </a:lnSpc>
              <a:buNone/>
            </a:pPr>
            <a:r>
              <a:rPr lang="en-US" altLang="zh-CN" sz="2200" dirty="0"/>
              <a:t>     if( num1 &lt; num3 ) exchange( &amp;num1,  &amp;num3 ); </a:t>
            </a:r>
          </a:p>
          <a:p>
            <a:pPr marL="0" indent="-179705" eaLnBrk="1" hangingPunct="1">
              <a:lnSpc>
                <a:spcPct val="80000"/>
              </a:lnSpc>
              <a:buNone/>
            </a:pPr>
            <a:r>
              <a:rPr lang="en-US" altLang="zh-CN" sz="2200" dirty="0"/>
              <a:t>     if( num2 &lt; num3 ) exchange( &amp;num2,  &amp;num3 ); </a:t>
            </a:r>
          </a:p>
          <a:p>
            <a:pPr marL="0" indent="-179705" eaLnBrk="1" hangingPunct="1">
              <a:lnSpc>
                <a:spcPct val="80000"/>
              </a:lnSpc>
              <a:buNone/>
            </a:pPr>
            <a:r>
              <a:rPr lang="en-US" altLang="zh-CN" sz="2200" dirty="0"/>
              <a:t>     </a:t>
            </a:r>
            <a:r>
              <a:rPr lang="en-US" altLang="zh-CN" sz="2200" b="1" i="1" dirty="0">
                <a:solidFill>
                  <a:srgbClr val="0070C0"/>
                </a:solidFill>
              </a:rPr>
              <a:t>/*</a:t>
            </a:r>
            <a:r>
              <a:rPr lang="zh-CN" altLang="en-US" sz="2200" b="1" i="1" dirty="0">
                <a:solidFill>
                  <a:srgbClr val="0070C0"/>
                </a:solidFill>
              </a:rPr>
              <a:t>输出排序结果*</a:t>
            </a:r>
            <a:r>
              <a:rPr lang="en-US" altLang="zh-CN" sz="2200" b="1" i="1" dirty="0">
                <a:solidFill>
                  <a:srgbClr val="0070C0"/>
                </a:solidFill>
              </a:rPr>
              <a:t>/</a:t>
            </a:r>
          </a:p>
          <a:p>
            <a:pPr marL="0" indent="-179705" eaLnBrk="1" hangingPunct="1">
              <a:lnSpc>
                <a:spcPct val="80000"/>
              </a:lnSpc>
              <a:buNone/>
            </a:pPr>
            <a:r>
              <a:rPr lang="en-US" altLang="zh-CN" sz="2200" dirty="0"/>
              <a:t>     printf(“</a:t>
            </a:r>
            <a:r>
              <a:rPr lang="zh-CN" altLang="en-US" sz="2200" dirty="0"/>
              <a:t>排序结果</a:t>
            </a:r>
            <a:r>
              <a:rPr lang="en-US" altLang="zh-CN" sz="2200" dirty="0"/>
              <a:t>: %d, %d, %d\n”,num1,num2,num3);</a:t>
            </a:r>
          </a:p>
          <a:p>
            <a:pPr marL="0" indent="-179705" eaLnBrk="1" hangingPunct="1">
              <a:lnSpc>
                <a:spcPct val="80000"/>
              </a:lnSpc>
              <a:buNone/>
            </a:pPr>
            <a:r>
              <a:rPr lang="en-US" altLang="zh-CN" sz="2200" dirty="0"/>
              <a:t>     return 0;</a:t>
            </a:r>
          </a:p>
          <a:p>
            <a:pPr marL="0" indent="-179705" eaLnBrk="1" hangingPunct="1">
              <a:lnSpc>
                <a:spcPct val="80000"/>
              </a:lnSpc>
              <a:buNone/>
            </a:pPr>
            <a:r>
              <a:rPr lang="en-US" altLang="zh-CN" sz="2200" dirty="0"/>
              <a:t>   }						</a:t>
            </a:r>
          </a:p>
          <a:p>
            <a:pPr marL="0" indent="-179705" eaLnBrk="1" hangingPunct="1">
              <a:lnSpc>
                <a:spcPct val="80000"/>
              </a:lnSpc>
              <a:buNone/>
            </a:pPr>
            <a:r>
              <a:rPr lang="en-US" altLang="zh-CN" sz="2200" dirty="0"/>
              <a:t>				</a:t>
            </a:r>
            <a:r>
              <a:rPr lang="en-US" altLang="zh-CN" sz="1900" dirty="0"/>
              <a:t>		</a:t>
            </a: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1A3813-7DCC-485D-8818-6F923F48DA1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5844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4CEBD1F-CAA4-42AA-98F3-6B346A087D0A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24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87450" y="1082675"/>
            <a:ext cx="6121400" cy="4794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lang="en-US" altLang="zh-CN" sz="28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5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.2.2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指针变量作函数参数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/>
          <p:cNvSpPr>
            <a:spLocks noGrp="1"/>
          </p:cNvSpPr>
          <p:nvPr>
            <p:ph idx="1"/>
          </p:nvPr>
        </p:nvSpPr>
        <p:spPr>
          <a:xfrm>
            <a:off x="395288" y="1981200"/>
            <a:ext cx="7848600" cy="3895725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377825" algn="just" eaLnBrk="1" hangingPunct="1">
              <a:buNone/>
            </a:pPr>
            <a:r>
              <a:rPr lang="zh-CN" altLang="en-US" sz="2800" dirty="0"/>
              <a:t>程序运行情况：</a:t>
            </a:r>
          </a:p>
          <a:p>
            <a:pPr marL="0" indent="377825" algn="just" eaLnBrk="1" hangingPunct="1">
              <a:buNone/>
            </a:pPr>
            <a:r>
              <a:rPr lang="en-US" altLang="zh-CN" sz="2800" dirty="0"/>
              <a:t>Input the first number:9←┘</a:t>
            </a:r>
          </a:p>
          <a:p>
            <a:pPr marL="0" indent="377825" algn="just" eaLnBrk="1" hangingPunct="1">
              <a:buNone/>
            </a:pPr>
            <a:r>
              <a:rPr lang="en-US" altLang="zh-CN" sz="2800" dirty="0"/>
              <a:t>Input the second number:6←┘</a:t>
            </a:r>
          </a:p>
          <a:p>
            <a:pPr marL="0" indent="377825" algn="just" eaLnBrk="1" hangingPunct="1">
              <a:buNone/>
            </a:pPr>
            <a:r>
              <a:rPr lang="en-US" altLang="zh-CN" sz="2800" dirty="0"/>
              <a:t>Input the third number:12←┘</a:t>
            </a:r>
          </a:p>
          <a:p>
            <a:pPr marL="0" indent="377825" algn="just" eaLnBrk="1" hangingPunct="1">
              <a:buNone/>
            </a:pPr>
            <a:r>
              <a:rPr lang="en-US" altLang="zh-CN" sz="2800" dirty="0"/>
              <a:t>num1=9, num2=6, num3=12</a:t>
            </a:r>
          </a:p>
          <a:p>
            <a:pPr marL="0" indent="377825" algn="just" eaLnBrk="1" hangingPunct="1">
              <a:buNone/>
            </a:pPr>
            <a:r>
              <a:rPr lang="zh-CN" altLang="en-US" sz="2800" dirty="0"/>
              <a:t>排序结果</a:t>
            </a:r>
            <a:r>
              <a:rPr lang="en-US" altLang="zh-CN" sz="2800" dirty="0"/>
              <a:t>: 12, 9, 6</a:t>
            </a:r>
          </a:p>
          <a:p>
            <a:pPr marL="0" indent="377825" algn="just" eaLnBrk="1" hangingPunct="1">
              <a:buNone/>
            </a:pPr>
            <a:endParaRPr lang="en-US" altLang="zh-CN" dirty="0"/>
          </a:p>
          <a:p>
            <a:pPr marL="0" indent="377825" algn="just" eaLnBrk="1" hangingPunct="1">
              <a:buNone/>
            </a:pPr>
            <a:endParaRPr lang="en-US" altLang="zh-CN" dirty="0"/>
          </a:p>
          <a:p>
            <a:pPr marL="0" indent="377825" algn="just" eaLnBrk="1" hangingPunct="1">
              <a:buNone/>
            </a:pPr>
            <a:endParaRPr lang="en-US" altLang="zh-CN" dirty="0"/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632BBAD-DCC9-4494-867A-11D0A21429A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6868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5395315-C09D-4F66-BA9D-C1B22C6CA551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25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87450" y="1082675"/>
            <a:ext cx="6121400" cy="4794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lang="en-US" altLang="zh-CN" sz="28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5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.2.2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指针变量作函数参数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182688" y="1139825"/>
            <a:ext cx="7783513" cy="4556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chemeClr val="tx2">
                    <a:lumMod val="7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5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.3  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一维数组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与指针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变量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j-cs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530225" y="1916113"/>
            <a:ext cx="8413750" cy="37449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-17970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5.3.1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概述</a:t>
            </a:r>
          </a:p>
          <a:p>
            <a:pPr marL="0" marR="0" lvl="0" indent="-17970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1.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概念</a:t>
            </a:r>
          </a:p>
          <a:p>
            <a:pPr marL="0" marR="0" lvl="0" indent="-17970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数组的地址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──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指向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数组在内存中的起始地址，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17970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数组元素的地址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──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指向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数组元素在内存中的起始地址。</a:t>
            </a:r>
          </a:p>
          <a:p>
            <a:pPr marL="0" marR="0" lvl="0" indent="-17970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17970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2.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指向数组的指针变量的定义</a:t>
            </a:r>
          </a:p>
          <a:p>
            <a:pPr marL="0" marR="0" lvl="0" indent="-17970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指向数组的指针变量的定义，与普通变量的指针变量的定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17970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义方法一样。</a:t>
            </a:r>
          </a:p>
        </p:txBody>
      </p:sp>
      <p:sp>
        <p:nvSpPr>
          <p:cNvPr id="6" name="日期占位符 5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8A0463-132C-4A22-82F3-7C2F678DDF23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7893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67EA98-3B08-428D-9578-1A6257DBCF9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charRg st="16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771">
                                            <p:txEl>
                                              <p:charRg st="16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771">
                                            <p:txEl>
                                              <p:charRg st="16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charRg st="36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771">
                                            <p:txEl>
                                              <p:charRg st="36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771">
                                            <p:txEl>
                                              <p:charRg st="36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charRg st="61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charRg st="76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2771">
                                            <p:txEl>
                                              <p:charRg st="76" end="10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charRg st="104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32771">
                                            <p:txEl>
                                              <p:charRg st="104" end="1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内容占位符 2"/>
          <p:cNvSpPr>
            <a:spLocks noGrp="1"/>
          </p:cNvSpPr>
          <p:nvPr>
            <p:ph idx="1"/>
          </p:nvPr>
        </p:nvSpPr>
        <p:spPr>
          <a:xfrm>
            <a:off x="439738" y="1773238"/>
            <a:ext cx="8229600" cy="4530725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-179705" eaLnBrk="1" hangingPunct="1">
              <a:lnSpc>
                <a:spcPct val="90000"/>
              </a:lnSpc>
              <a:buClr>
                <a:srgbClr val="CC9900"/>
              </a:buClr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例如，</a:t>
            </a:r>
            <a:r>
              <a:rPr lang="en-US" altLang="zh-CN" sz="2400" dirty="0">
                <a:solidFill>
                  <a:srgbClr val="000000"/>
                </a:solidFill>
              </a:rPr>
              <a:t>int  array[10], *pointer=array(</a:t>
            </a:r>
            <a:r>
              <a:rPr lang="zh-CN" altLang="en-US" sz="2400" dirty="0">
                <a:solidFill>
                  <a:srgbClr val="000000"/>
                </a:solidFill>
              </a:rPr>
              <a:t>或</a:t>
            </a:r>
            <a:r>
              <a:rPr lang="en-US" altLang="zh-CN" sz="2400" dirty="0">
                <a:solidFill>
                  <a:srgbClr val="000000"/>
                </a:solidFill>
              </a:rPr>
              <a:t>&amp;array[0]);</a:t>
            </a:r>
            <a:br>
              <a:rPr lang="en-US" altLang="zh-CN" sz="2400" dirty="0">
                <a:solidFill>
                  <a:srgbClr val="000000"/>
                </a:solidFill>
              </a:rPr>
            </a:br>
            <a:r>
              <a:rPr lang="zh-CN" altLang="en-US" sz="24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或者：</a:t>
            </a:r>
            <a:r>
              <a:rPr lang="zh-CN" altLang="en-US" sz="2400" dirty="0">
                <a:solidFill>
                  <a:srgbClr val="000000"/>
                </a:solidFill>
              </a:rPr>
              <a:t/>
            </a:r>
            <a:br>
              <a:rPr lang="zh-CN" altLang="en-US" sz="2400" dirty="0">
                <a:solidFill>
                  <a:srgbClr val="000000"/>
                </a:solidFill>
              </a:rPr>
            </a:br>
            <a:r>
              <a:rPr lang="zh-CN" altLang="en-US" sz="2400" dirty="0">
                <a:solidFill>
                  <a:srgbClr val="000000"/>
                </a:solidFill>
              </a:rPr>
              <a:t>        </a:t>
            </a:r>
            <a:r>
              <a:rPr lang="en-US" altLang="zh-CN" sz="2400" dirty="0">
                <a:solidFill>
                  <a:srgbClr val="000000"/>
                </a:solidFill>
              </a:rPr>
              <a:t>int  array[10], *pointer;</a:t>
            </a:r>
          </a:p>
          <a:p>
            <a:pPr marL="0" indent="-179705" eaLnBrk="1" hangingPunct="1">
              <a:lnSpc>
                <a:spcPct val="90000"/>
              </a:lnSpc>
              <a:buClr>
                <a:srgbClr val="CC9900"/>
              </a:buClr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    pointer</a:t>
            </a:r>
            <a:r>
              <a:rPr lang="zh-CN" altLang="en-US" sz="2400" dirty="0">
                <a:solidFill>
                  <a:srgbClr val="000000"/>
                </a:solidFill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</a:rPr>
              <a:t>array;</a:t>
            </a:r>
          </a:p>
          <a:p>
            <a:pPr marL="0" indent="-179705" eaLnBrk="1" hangingPunct="1">
              <a:lnSpc>
                <a:spcPct val="90000"/>
              </a:lnSpc>
              <a:buClr>
                <a:srgbClr val="CC9900"/>
              </a:buClr>
              <a:buNone/>
            </a:pPr>
            <a:r>
              <a:rPr lang="zh-CN" altLang="en-US" sz="2400" b="1" i="1" u="sng" dirty="0">
                <a:solidFill>
                  <a:srgbClr val="FF0000"/>
                </a:solidFill>
              </a:rPr>
              <a:t>注意</a:t>
            </a:r>
            <a:r>
              <a:rPr lang="zh-CN" altLang="en-US" sz="2400" b="1" dirty="0">
                <a:solidFill>
                  <a:srgbClr val="FF0000"/>
                </a:solidFill>
              </a:rPr>
              <a:t>：数组名代表数组在内存中的起始地址（与第</a:t>
            </a:r>
            <a:r>
              <a:rPr lang="en-US" altLang="zh-CN" sz="2400" b="1" dirty="0">
                <a:solidFill>
                  <a:srgbClr val="FF0000"/>
                </a:solidFill>
              </a:rPr>
              <a:t>0</a:t>
            </a:r>
            <a:r>
              <a:rPr lang="zh-CN" altLang="en-US" sz="2400" b="1" dirty="0">
                <a:solidFill>
                  <a:srgbClr val="FF0000"/>
                </a:solidFill>
              </a:rPr>
              <a:t>个元素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marL="0" indent="-179705" eaLnBrk="1" hangingPunct="1">
              <a:lnSpc>
                <a:spcPct val="90000"/>
              </a:lnSpc>
              <a:buClr>
                <a:srgbClr val="CC9900"/>
              </a:buClr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的地址相同），所以可以用数组名给指针变量赋值。</a:t>
            </a:r>
          </a:p>
          <a:p>
            <a:pPr marL="0" indent="-179705" eaLnBrk="1" hangingPunct="1">
              <a:lnSpc>
                <a:spcPct val="90000"/>
              </a:lnSpc>
              <a:buClr>
                <a:srgbClr val="CC9900"/>
              </a:buClr>
              <a:buNone/>
            </a:pPr>
            <a:endParaRPr lang="en-US" altLang="zh-CN" sz="2400" dirty="0">
              <a:solidFill>
                <a:srgbClr val="000000"/>
              </a:solidFill>
            </a:endParaRPr>
          </a:p>
          <a:p>
            <a:pPr marL="0" indent="-179705" eaLnBrk="1" hangingPunct="1">
              <a:lnSpc>
                <a:spcPct val="90000"/>
              </a:lnSpc>
              <a:buClr>
                <a:srgbClr val="CC9900"/>
              </a:buClr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3.</a:t>
            </a:r>
            <a:r>
              <a:rPr lang="zh-CN" altLang="en-US" sz="24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数组元素的引用</a:t>
            </a:r>
          </a:p>
          <a:p>
            <a:pPr marL="0" indent="-179705" eaLnBrk="1" hangingPunct="1">
              <a:lnSpc>
                <a:spcPct val="90000"/>
              </a:lnSpc>
              <a:buClr>
                <a:srgbClr val="CC9900"/>
              </a:buClr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数组元素的引用，既可用下标法，也可用指针法。使用下标</a:t>
            </a:r>
            <a:endParaRPr lang="en-US" altLang="zh-CN" sz="24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-179705" eaLnBrk="1" hangingPunct="1">
              <a:lnSpc>
                <a:spcPct val="90000"/>
              </a:lnSpc>
              <a:buClr>
                <a:srgbClr val="CC9900"/>
              </a:buClr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法，直观；而使用指针法，能使目标程序占用内存少、运行</a:t>
            </a:r>
            <a:endParaRPr lang="en-US" altLang="zh-CN" sz="24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-179705" eaLnBrk="1" hangingPunct="1">
              <a:lnSpc>
                <a:spcPct val="90000"/>
              </a:lnSpc>
              <a:buClr>
                <a:srgbClr val="CC9900"/>
              </a:buClr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速度快</a:t>
            </a:r>
            <a:r>
              <a:rPr lang="en-US" altLang="zh-CN" sz="24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,</a:t>
            </a:r>
            <a:r>
              <a:rPr lang="zh-CN" altLang="en-US" sz="24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因为编译程序也会将下标引用转换成指针法引用。</a:t>
            </a:r>
          </a:p>
          <a:p>
            <a:pPr marL="0" indent="-179705">
              <a:buNone/>
            </a:pPr>
            <a:endParaRPr lang="zh-CN" altLang="en-US" sz="24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E3B0371-C035-439A-8A1D-CEF40691B1C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8917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F31A035-4C83-49E6-B323-3602DC59AF5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27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182688" y="1139825"/>
            <a:ext cx="7783513" cy="4556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chemeClr val="tx2">
                    <a:lumMod val="7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5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.3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数组与指针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变量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j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>
            <a:spLocks noGrp="1" noChangeArrowheads="1"/>
          </p:cNvSpPr>
          <p:nvPr>
            <p:ph idx="1"/>
          </p:nvPr>
        </p:nvSpPr>
        <p:spPr>
          <a:xfrm>
            <a:off x="755650" y="1773238"/>
            <a:ext cx="8242300" cy="43926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-17970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如果有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array[10],*pointer=array;”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则：</a:t>
            </a:r>
          </a:p>
          <a:p>
            <a:pPr marL="0" marR="0" lvl="0" indent="-17970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pointer+i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和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array+i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都是数组元素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array[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的地址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 </a:t>
            </a:r>
          </a:p>
          <a:p>
            <a:pPr marL="0" marR="0" lvl="0" indent="-17970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-17970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*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pointer+i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和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*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array+i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就是数组元素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array[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</a:p>
          <a:p>
            <a:pPr marL="0" marR="0" lvl="0" indent="-17970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-17970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）指向数组的指针变量，也可将其看作是数组名，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17970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    因而可按下标法来使用。例如，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pointer[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等价于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17970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*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pointer+i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</a:p>
          <a:p>
            <a:pPr marL="0" marR="0" lvl="0" indent="-17970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-17970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(4)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注意不能使用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*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(array++)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或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array=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pointer+i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这种形式。</a:t>
            </a:r>
          </a:p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92BCCF6-1E04-498C-B92C-9F63D26A862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9940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E670F1F-304B-4FFB-B17F-2B64E87BBB6A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28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87450" y="744538"/>
            <a:ext cx="4572000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华文新魏" panose="02010800040101010101" pitchFamily="2" charset="-122"/>
              <a:cs typeface="+mn-cs"/>
            </a:endParaRPr>
          </a:p>
          <a:p>
            <a:pPr marL="0" marR="0" lvl="0" indent="-17970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5.3.2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通过指针引用数组元素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3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37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37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37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>
            <a:spLocks noGrp="1"/>
          </p:cNvSpPr>
          <p:nvPr>
            <p:ph idx="1"/>
          </p:nvPr>
        </p:nvSpPr>
        <p:spPr>
          <a:xfrm>
            <a:off x="340207" y="2420888"/>
            <a:ext cx="8641208" cy="4105051"/>
          </a:xfrm>
          <a:ln/>
        </p:spPr>
        <p:txBody>
          <a:bodyPr vert="horz" wrap="square" lIns="91440" tIns="45720" rIns="91440" bIns="45720" anchor="t" anchorCtr="0"/>
          <a:lstStyle/>
          <a:p>
            <a:pPr indent="-179070" eaLnBrk="1" hangingPunct="1">
              <a:buNone/>
            </a:pPr>
            <a:r>
              <a:rPr lang="zh-CN" altLang="en-US" sz="2600" b="1" i="1" dirty="0">
                <a:solidFill>
                  <a:srgbClr val="FF0000"/>
                </a:solidFill>
              </a:rPr>
              <a:t>注意</a:t>
            </a:r>
            <a:r>
              <a:rPr lang="zh-CN" altLang="en-US" sz="2600" dirty="0">
                <a:solidFill>
                  <a:srgbClr val="FF0000"/>
                </a:solidFill>
              </a:rPr>
              <a:t>：</a:t>
            </a:r>
            <a:r>
              <a:rPr lang="en-US" altLang="zh-CN" sz="2600" dirty="0"/>
              <a:t>pointer+1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指向数组的下一个元素</a:t>
            </a:r>
            <a:r>
              <a:rPr lang="zh-CN" altLang="en-US" sz="24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，其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实际变化</a:t>
            </a:r>
            <a:r>
              <a:rPr lang="zh-CN" altLang="en-US" sz="24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为</a:t>
            </a:r>
            <a:endParaRPr lang="en-US" altLang="zh-CN" sz="2400" b="1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-179070" eaLnBrk="1" hangingPunct="1">
              <a:buNone/>
            </a:pPr>
            <a:r>
              <a:rPr lang="en-US" altLang="zh-CN" sz="2600" dirty="0" smtClean="0">
                <a:solidFill>
                  <a:srgbClr val="000000"/>
                </a:solidFill>
              </a:rPr>
              <a:t>pointer+1*size</a:t>
            </a:r>
            <a:r>
              <a:rPr lang="en-US" altLang="zh-CN" sz="2600" dirty="0" smtClean="0"/>
              <a:t>(size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为一个元素占用的字节数）</a:t>
            </a:r>
            <a:r>
              <a:rPr lang="zh-CN" altLang="en-US" sz="2600" dirty="0"/>
              <a:t>。</a:t>
            </a:r>
          </a:p>
          <a:p>
            <a:pPr indent="-179070" eaLnBrk="1" hangingPunct="1">
              <a:buNone/>
            </a:pPr>
            <a:endParaRPr lang="en-US" altLang="zh-CN" sz="2600" dirty="0"/>
          </a:p>
          <a:p>
            <a:pPr indent="-179070" eaLnBrk="1" hangingPunct="1">
              <a:buNone/>
            </a:pP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例如，假设指针变量</a:t>
            </a:r>
            <a:r>
              <a:rPr lang="en-US" altLang="zh-CN" sz="2600" dirty="0"/>
              <a:t>pointer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的当前值为</a:t>
            </a:r>
            <a:r>
              <a:rPr lang="en-US" altLang="zh-CN" sz="2600" dirty="0"/>
              <a:t>3000</a:t>
            </a:r>
            <a:r>
              <a:rPr lang="zh-CN" altLang="en-US" sz="2600" dirty="0"/>
              <a:t>，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则</a:t>
            </a:r>
            <a:r>
              <a:rPr lang="en-US" altLang="zh-CN" sz="2600" dirty="0">
                <a:solidFill>
                  <a:srgbClr val="000000"/>
                </a:solidFill>
              </a:rPr>
              <a:t>pointer+1</a:t>
            </a:r>
            <a:endParaRPr lang="en-US" altLang="zh-CN" sz="2600" dirty="0"/>
          </a:p>
          <a:p>
            <a:pPr indent="-179070" eaLnBrk="1" hangingPunct="1">
              <a:buNone/>
            </a:pP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为</a:t>
            </a:r>
            <a:r>
              <a:rPr lang="en-US" altLang="zh-CN" sz="2600" dirty="0"/>
              <a:t>3000+1*2=3002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，而不是</a:t>
            </a:r>
            <a:r>
              <a:rPr lang="en-US" altLang="zh-CN" sz="2600" dirty="0"/>
              <a:t>3001</a:t>
            </a:r>
            <a:r>
              <a:rPr lang="zh-CN" altLang="en-US" sz="2600" dirty="0"/>
              <a:t>。</a:t>
            </a:r>
          </a:p>
          <a:p>
            <a:pPr indent="-179070" eaLnBrk="1" hangingPunct="1">
              <a:buNone/>
            </a:pPr>
            <a:endParaRPr lang="zh-CN" altLang="en-US" sz="2600" dirty="0"/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B61272B-AA74-47BF-8653-91DE8544EC1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40964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E8ADD6D-E298-45E4-AADC-8D1EB175C7D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29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83568" y="1828476"/>
            <a:ext cx="8121650" cy="4238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17970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注意区分运算顺序，*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(pointer++)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与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(*pointer)++</a:t>
            </a:r>
          </a:p>
        </p:txBody>
      </p:sp>
      <p:sp>
        <p:nvSpPr>
          <p:cNvPr id="6" name="矩形 5"/>
          <p:cNvSpPr/>
          <p:nvPr/>
        </p:nvSpPr>
        <p:spPr>
          <a:xfrm>
            <a:off x="1187450" y="744538"/>
            <a:ext cx="4572000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华文新魏" panose="02010800040101010101" pitchFamily="2" charset="-122"/>
              <a:cs typeface="+mn-cs"/>
            </a:endParaRPr>
          </a:p>
          <a:p>
            <a:pPr marL="0" marR="0" lvl="0" indent="-17970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5.3.2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通过指针引用数组元素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48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/>
          <p:cNvSpPr>
            <a:spLocks noGrp="1"/>
          </p:cNvSpPr>
          <p:nvPr>
            <p:ph idx="1"/>
          </p:nvPr>
        </p:nvSpPr>
        <p:spPr>
          <a:xfrm>
            <a:off x="638175" y="1882775"/>
            <a:ext cx="8305800" cy="4603750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400" dirty="0"/>
              <a:t>int main(){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   int array[10], *pointer=array, i; 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   printf(“Input 10 numbers: ”);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   for(i=0; i&lt;10; i++)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       scanf(“%d”, pointer+i);	</a:t>
            </a:r>
            <a:r>
              <a:rPr lang="en-US" altLang="zh-CN" sz="2400" b="1" i="1" dirty="0">
                <a:solidFill>
                  <a:srgbClr val="0070C0"/>
                </a:solidFill>
              </a:rPr>
              <a:t>/*</a:t>
            </a:r>
            <a:r>
              <a:rPr lang="zh-CN" altLang="en-US" sz="2400" b="1" i="1" dirty="0">
                <a:solidFill>
                  <a:srgbClr val="0070C0"/>
                </a:solidFill>
              </a:rPr>
              <a:t>使用指针变量来输入数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zh-CN" altLang="en-US" sz="2400" b="1" i="1" dirty="0">
                <a:solidFill>
                  <a:srgbClr val="0070C0"/>
                </a:solidFill>
              </a:rPr>
              <a:t>                                                         组元素的值*</a:t>
            </a:r>
            <a:r>
              <a:rPr lang="en-US" altLang="zh-CN" sz="2400" b="1" i="1" dirty="0">
                <a:solidFill>
                  <a:srgbClr val="0070C0"/>
                </a:solidFill>
              </a:rPr>
              <a:t>/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   printf(“array[10]: ”);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   for(i=0; i&lt;10; i++)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      printf(“%d  ”, *(pointer+i));	</a:t>
            </a:r>
            <a:r>
              <a:rPr lang="en-US" altLang="zh-CN" sz="2400" b="1" i="1" dirty="0">
                <a:solidFill>
                  <a:srgbClr val="0070C0"/>
                </a:solidFill>
              </a:rPr>
              <a:t>/*</a:t>
            </a:r>
            <a:r>
              <a:rPr lang="zh-CN" altLang="en-US" sz="2400" b="1" i="1" dirty="0">
                <a:solidFill>
                  <a:srgbClr val="0070C0"/>
                </a:solidFill>
              </a:rPr>
              <a:t>使用指向数组的指针变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zh-CN" altLang="en-US" sz="2400" b="1" i="1" dirty="0">
                <a:solidFill>
                  <a:srgbClr val="0070C0"/>
                </a:solidFill>
              </a:rPr>
              <a:t>                                                              量输出数组*</a:t>
            </a:r>
            <a:r>
              <a:rPr lang="en-US" altLang="zh-CN" sz="2400" b="1" i="1" dirty="0">
                <a:solidFill>
                  <a:srgbClr val="0070C0"/>
                </a:solidFill>
              </a:rPr>
              <a:t>/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   printf(“\n”);return 0;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}							</a:t>
            </a: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125F42-708B-4368-AEBE-B73FDFFD79BD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41988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E176673-B896-4822-8AC1-EEA2AA5D3F5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30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71600" y="1124744"/>
            <a:ext cx="7128792" cy="674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179070" eaLnBrk="1" hangingPunct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 </a:t>
            </a:r>
            <a:r>
              <a:rPr lang="en-US" altLang="zh-CN" sz="2400" dirty="0">
                <a:latin typeface="宋体" panose="02010600030101010101" pitchFamily="2" charset="-122"/>
              </a:rPr>
              <a:t>[</a:t>
            </a:r>
            <a:r>
              <a:rPr lang="zh-CN" altLang="en-US" sz="2400" b="1" dirty="0">
                <a:latin typeface="宋体" panose="02010600030101010101" pitchFamily="2" charset="-122"/>
              </a:rPr>
              <a:t>例</a:t>
            </a:r>
            <a:r>
              <a:rPr lang="en-US" altLang="zh-CN" sz="2400" b="1" dirty="0">
                <a:latin typeface="宋体" panose="02010600030101010101" pitchFamily="2" charset="-122"/>
              </a:rPr>
              <a:t>5.5</a:t>
            </a:r>
            <a:r>
              <a:rPr lang="en-US" altLang="zh-CN" sz="2400" dirty="0">
                <a:latin typeface="宋体" panose="02010600030101010101" pitchFamily="2" charset="-122"/>
              </a:rPr>
              <a:t>] </a:t>
            </a:r>
            <a:r>
              <a:rPr lang="zh-CN" altLang="en-US" sz="2400" dirty="0">
                <a:latin typeface="宋体" panose="02010600030101010101" pitchFamily="2" charset="-122"/>
              </a:rPr>
              <a:t>使用指向数组的指针变量来引用数组元素。</a:t>
            </a:r>
          </a:p>
          <a:p>
            <a:pPr indent="-179070" eaLnBrk="1" hangingPunct="1">
              <a:lnSpc>
                <a:spcPct val="90000"/>
              </a:lnSpc>
            </a:pPr>
            <a:endParaRPr lang="en-US" altLang="zh-CN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593850"/>
            <a:ext cx="8797925" cy="46497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Input 10 numbers: 0 1 2 3 4 5 6 7 8 9←┘</a:t>
            </a: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array[10]:  0  1  2  3  4  5  6  7  8 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</a:t>
            </a: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4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思考：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程序中第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行和第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行的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个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语句是否可改成下面的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程序段：</a:t>
            </a: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=0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&lt;10;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++,pointer++)</a:t>
            </a: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(“%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d”,pointer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);</a:t>
            </a: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(“array[10]: ”);</a:t>
            </a: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pointer=array;   	</a:t>
            </a:r>
            <a:r>
              <a:rPr kumimoji="0" lang="en-US" altLang="zh-CN" sz="2400" b="1" i="1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/*</a:t>
            </a:r>
            <a:r>
              <a:rPr kumimoji="0" lang="zh-CN" altLang="en-US" sz="2400" b="1" i="1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这句是否可以不要*</a:t>
            </a:r>
            <a:r>
              <a:rPr kumimoji="0" lang="en-US" altLang="zh-CN" sz="2400" b="1" i="1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endParaRPr kumimoji="0" lang="en-US" altLang="zh-CN" sz="2400" b="1" i="1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for(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=0;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&lt;10;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++,pointer++)</a:t>
            </a: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(“%d”,*pointer);</a:t>
            </a: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19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9CE076-CB1A-4E10-B4F0-4B99CC21C85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43012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BB87ECE-1765-4FBA-94F9-8B1AACD48A6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31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331913" y="1196975"/>
            <a:ext cx="2592388" cy="3968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程序运行情况：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 noChangeArrowheads="1"/>
          </p:cNvSpPr>
          <p:nvPr>
            <p:ph idx="1"/>
          </p:nvPr>
        </p:nvSpPr>
        <p:spPr>
          <a:xfrm>
            <a:off x="735013" y="1844824"/>
            <a:ext cx="8229600" cy="42481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）可以进行的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算术运算：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px±n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px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++/++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px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px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--/--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px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px-py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px±n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将指针从当前位置向前（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+n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）或回退（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-n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个数据单位，而不是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个字节。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显然，</a:t>
            </a:r>
            <a:r>
              <a:rPr kumimoji="0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cs typeface="+mn-cs"/>
              </a:rPr>
              <a:t>px</a:t>
            </a:r>
            <a:r>
              <a:rPr kumimoji="0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cs typeface="+mn-cs"/>
              </a:rPr>
              <a:t>++/++</a:t>
            </a:r>
            <a:r>
              <a:rPr kumimoji="0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cs typeface="+mn-cs"/>
              </a:rPr>
              <a:t>px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和</a:t>
            </a:r>
            <a:r>
              <a:rPr kumimoji="0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cs typeface="+mn-cs"/>
              </a:rPr>
              <a:t>px</a:t>
            </a:r>
            <a:r>
              <a:rPr kumimoji="0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cs typeface="+mn-cs"/>
              </a:rPr>
              <a:t>--/--</a:t>
            </a:r>
            <a:r>
              <a:rPr kumimoji="0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cs typeface="+mn-cs"/>
              </a:rPr>
              <a:t>px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是</a:t>
            </a:r>
            <a:r>
              <a:rPr kumimoji="0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cs typeface="+mn-cs"/>
              </a:rPr>
              <a:t>px±n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的特例（</a:t>
            </a:r>
            <a:r>
              <a:rPr kumimoji="0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cs typeface="+mn-cs"/>
              </a:rPr>
              <a:t>n=1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）。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800" b="0" i="1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cs typeface="+mn-cs"/>
              </a:rPr>
              <a:t>px-py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：两指针之间的数据个数，而不是指针的地址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之差。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BF7FA95-BBDF-41D1-8CE9-FD72B3D3D8A5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46084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7CE2B89-AB05-45D5-897E-EF68158DB2D6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32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87624" y="1107206"/>
            <a:ext cx="4572000" cy="4247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-17970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5.3.3  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指向数组的指针的运算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89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8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89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89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188" y="1941513"/>
            <a:ext cx="8229600" cy="38639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）关系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运算（两个参与运算的指针应该指向同一个数组）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表示两个指针所指地址之间、位置的前后关系：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前者为小，后者为大。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例如，如果指针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px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所指地址在指针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py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所指地址之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前，则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px〈py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的值为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AEB887-873F-49E1-9702-30ED01BADB7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47109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B3A21A8-346C-423B-B7A0-05AD1F6BE9DA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33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87624" y="1107206"/>
            <a:ext cx="4572000" cy="4247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-17970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5.3.3  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指向数组的指针的运算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/>
          <p:cNvSpPr>
            <a:spLocks noGrp="1" noChangeArrowheads="1"/>
          </p:cNvSpPr>
          <p:nvPr>
            <p:ph idx="1"/>
          </p:nvPr>
        </p:nvSpPr>
        <p:spPr>
          <a:xfrm>
            <a:off x="534988" y="1355725"/>
            <a:ext cx="8075613" cy="50974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-17970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-17970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数组名（形参数组的定义）作形参时，接收实参数组的起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17970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始地址；作实参时，将数组的起始地址传递给形参数组。</a:t>
            </a:r>
          </a:p>
          <a:p>
            <a:pPr marL="0" marR="0" lvl="0" indent="-17970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-17970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引入指向数组的指针变量后，数组及指向数组的指针变量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17970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作函数参数时，可有４种等价形式（本质上是一种，即指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17970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针数据作函数参数）：</a:t>
            </a:r>
          </a:p>
          <a:p>
            <a:pPr marL="0" marR="0" lvl="0" indent="-17970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）形参、实参都用数组名</a:t>
            </a:r>
          </a:p>
          <a:p>
            <a:pPr marL="0" marR="0" lvl="0" indent="-17970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）形参、实参都用指针变量</a:t>
            </a:r>
          </a:p>
          <a:p>
            <a:pPr marL="0" marR="0" lvl="0" indent="-17970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）形参用指针变量、实参用数组名</a:t>
            </a:r>
          </a:p>
          <a:p>
            <a:pPr marL="0" marR="0" lvl="0" indent="-17970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4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）形参用数组名、实参用指针变量</a:t>
            </a:r>
          </a:p>
          <a:p>
            <a:pPr marL="0" marR="0" lvl="0" indent="4762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6D94BE-4A54-4F8F-B1B4-3F97109E936F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48132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7F0865-08AE-4987-BBA3-B20E8B8980D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34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16013" y="1125538"/>
            <a:ext cx="4546600" cy="4921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-17970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5.3.4  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再论数组作函数参数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99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99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9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99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99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99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99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99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99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99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4"/>
          <p:cNvSpPr>
            <a:spLocks noGrp="1" noChangeArrowheads="1"/>
          </p:cNvSpPr>
          <p:nvPr>
            <p:ph idx="1"/>
          </p:nvPr>
        </p:nvSpPr>
        <p:spPr>
          <a:xfrm>
            <a:off x="1116013" y="1082675"/>
            <a:ext cx="8540750" cy="6746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以数组作为实参的几种方法 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(1)</a:t>
            </a:r>
          </a:p>
        </p:txBody>
      </p:sp>
      <p:sp>
        <p:nvSpPr>
          <p:cNvPr id="40963" name="Rectangle 5"/>
          <p:cNvSpPr>
            <a:spLocks noChangeArrowheads="1"/>
          </p:cNvSpPr>
          <p:nvPr/>
        </p:nvSpPr>
        <p:spPr bwMode="auto">
          <a:xfrm>
            <a:off x="971550" y="1600200"/>
            <a:ext cx="3781425" cy="478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形参用数组名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实参用数组名</a:t>
            </a:r>
          </a:p>
        </p:txBody>
      </p:sp>
      <p:sp>
        <p:nvSpPr>
          <p:cNvPr id="40964" name="Rectangle 6"/>
          <p:cNvSpPr>
            <a:spLocks noChangeArrowheads="1"/>
          </p:cNvSpPr>
          <p:nvPr/>
        </p:nvSpPr>
        <p:spPr bwMode="auto">
          <a:xfrm>
            <a:off x="4905375" y="1600200"/>
            <a:ext cx="3781425" cy="478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形参用指针变量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实参用数组名</a:t>
            </a:r>
          </a:p>
        </p:txBody>
      </p:sp>
      <p:sp>
        <p:nvSpPr>
          <p:cNvPr id="40965" name="Rectangle 7"/>
          <p:cNvSpPr>
            <a:spLocks noChangeArrowheads="1"/>
          </p:cNvSpPr>
          <p:nvPr/>
        </p:nvSpPr>
        <p:spPr bwMode="auto">
          <a:xfrm>
            <a:off x="969963" y="2643188"/>
            <a:ext cx="3746500" cy="3600450"/>
          </a:xfrm>
          <a:prstGeom prst="rect">
            <a:avLst/>
          </a:prstGeom>
          <a:noFill/>
          <a:ln w="19050">
            <a:solidFill>
              <a:srgbClr val="FF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62000" tIns="82800" rIns="162000" bIns="15480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x[],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n)</a:t>
            </a:r>
          </a:p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 ... ... }</a:t>
            </a:r>
          </a:p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main()</a:t>
            </a:r>
          </a:p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a[10];</a:t>
            </a:r>
          </a:p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... ...</a:t>
            </a:r>
          </a:p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f(a, 10);</a:t>
            </a:r>
          </a:p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</p:txBody>
      </p:sp>
      <p:sp>
        <p:nvSpPr>
          <p:cNvPr id="40966" name="Rectangle 8"/>
          <p:cNvSpPr>
            <a:spLocks noChangeArrowheads="1"/>
          </p:cNvSpPr>
          <p:nvPr/>
        </p:nvSpPr>
        <p:spPr bwMode="auto">
          <a:xfrm>
            <a:off x="4945063" y="2643188"/>
            <a:ext cx="3746500" cy="3600450"/>
          </a:xfrm>
          <a:prstGeom prst="rect">
            <a:avLst/>
          </a:prstGeom>
          <a:noFill/>
          <a:ln w="19050">
            <a:solidFill>
              <a:srgbClr val="FF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62000" tIns="82800" rIns="162000" bIns="15480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*x,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n)</a:t>
            </a:r>
          </a:p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 ... ... }</a:t>
            </a:r>
          </a:p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main()</a:t>
            </a:r>
          </a:p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a[10];</a:t>
            </a:r>
          </a:p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... ...</a:t>
            </a:r>
          </a:p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f(a, 10);</a:t>
            </a:r>
          </a:p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</p:txBody>
      </p:sp>
      <p:sp>
        <p:nvSpPr>
          <p:cNvPr id="9" name="日期占位符 8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3091523-03F0-470A-8A54-DEDF53EE227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49160" name="灯片编号占位符 9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7ED9BB-63AD-4FB4-AFA5-97DCF87FB5D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35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/>
      <p:bldP spid="40964" grpId="0"/>
      <p:bldP spid="40965" grpId="0" animBg="1"/>
      <p:bldP spid="4096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4"/>
          <p:cNvSpPr>
            <a:spLocks noChangeArrowheads="1"/>
          </p:cNvSpPr>
          <p:nvPr/>
        </p:nvSpPr>
        <p:spPr bwMode="auto">
          <a:xfrm>
            <a:off x="971550" y="1600200"/>
            <a:ext cx="3781425" cy="478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形参用数组名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实参用指针变量</a:t>
            </a:r>
          </a:p>
        </p:txBody>
      </p:sp>
      <p:sp>
        <p:nvSpPr>
          <p:cNvPr id="41988" name="Rectangle 5"/>
          <p:cNvSpPr>
            <a:spLocks noChangeArrowheads="1"/>
          </p:cNvSpPr>
          <p:nvPr/>
        </p:nvSpPr>
        <p:spPr bwMode="auto">
          <a:xfrm>
            <a:off x="4905375" y="1600200"/>
            <a:ext cx="3781425" cy="478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形参用指针变量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实参用指针变量</a:t>
            </a:r>
          </a:p>
        </p:txBody>
      </p:sp>
      <p:sp>
        <p:nvSpPr>
          <p:cNvPr id="41989" name="Rectangle 6"/>
          <p:cNvSpPr>
            <a:spLocks noChangeArrowheads="1"/>
          </p:cNvSpPr>
          <p:nvPr/>
        </p:nvSpPr>
        <p:spPr bwMode="auto">
          <a:xfrm>
            <a:off x="969963" y="2624138"/>
            <a:ext cx="3746500" cy="3600450"/>
          </a:xfrm>
          <a:prstGeom prst="rect">
            <a:avLst/>
          </a:prstGeom>
          <a:noFill/>
          <a:ln w="19050">
            <a:solidFill>
              <a:srgbClr val="FF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62000" tIns="82800" rIns="162000" bIns="15480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x[],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n)</a:t>
            </a:r>
          </a:p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 ... ... }</a:t>
            </a:r>
          </a:p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main()</a:t>
            </a:r>
          </a:p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a[10], *p=a;</a:t>
            </a:r>
          </a:p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... ...</a:t>
            </a:r>
          </a:p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f(p, 10);</a:t>
            </a:r>
          </a:p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</p:txBody>
      </p:sp>
      <p:sp>
        <p:nvSpPr>
          <p:cNvPr id="41990" name="Rectangle 7"/>
          <p:cNvSpPr>
            <a:spLocks noChangeArrowheads="1"/>
          </p:cNvSpPr>
          <p:nvPr/>
        </p:nvSpPr>
        <p:spPr bwMode="auto">
          <a:xfrm>
            <a:off x="4905375" y="2603500"/>
            <a:ext cx="3746500" cy="3600450"/>
          </a:xfrm>
          <a:prstGeom prst="rect">
            <a:avLst/>
          </a:prstGeom>
          <a:noFill/>
          <a:ln w="19050">
            <a:solidFill>
              <a:srgbClr val="FF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62000" tIns="82800" rIns="162000" bIns="15480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*x,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n)</a:t>
            </a:r>
          </a:p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 ... ... }</a:t>
            </a:r>
          </a:p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main()</a:t>
            </a:r>
          </a:p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a[10], *p=a;</a:t>
            </a:r>
          </a:p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... ...</a:t>
            </a:r>
          </a:p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f(p, 10);</a:t>
            </a:r>
          </a:p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</p:txBody>
      </p:sp>
      <p:sp>
        <p:nvSpPr>
          <p:cNvPr id="9" name="日期占位符 8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0E8C09-7B63-4341-ADE0-A2DE54DE884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0184" name="灯片编号占位符 9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306EE04-64A1-4470-9FA3-50175421C575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36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16013" y="1041400"/>
            <a:ext cx="6142038" cy="4921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以数组作为实参的几种方法 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(2)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/>
      <p:bldP spid="41988" grpId="0"/>
      <p:bldP spid="41989" grpId="0" animBg="1"/>
      <p:bldP spid="4199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6711" name="Group 39"/>
          <p:cNvGraphicFramePr>
            <a:graphicFrameLocks noGrp="1"/>
          </p:cNvGraphicFramePr>
          <p:nvPr/>
        </p:nvGraphicFramePr>
        <p:xfrm>
          <a:off x="1474788" y="3644900"/>
          <a:ext cx="1008062" cy="2024064"/>
        </p:xfrm>
        <a:graphic>
          <a:graphicData uri="http://schemas.openxmlformats.org/drawingml/2006/table">
            <a:tbl>
              <a:tblPr/>
              <a:tblGrid>
                <a:gridCol w="1008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4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a[0]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a[1]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a[2]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" name="Group 14"/>
          <p:cNvGrpSpPr/>
          <p:nvPr/>
        </p:nvGrpSpPr>
        <p:grpSpPr>
          <a:xfrm>
            <a:off x="322263" y="3716338"/>
            <a:ext cx="1116012" cy="528637"/>
            <a:chOff x="385" y="2523"/>
            <a:chExt cx="703" cy="333"/>
          </a:xfrm>
        </p:grpSpPr>
        <p:sp>
          <p:nvSpPr>
            <p:cNvPr id="50204" name="Line 15"/>
            <p:cNvSpPr/>
            <p:nvPr/>
          </p:nvSpPr>
          <p:spPr>
            <a:xfrm>
              <a:off x="635" y="2699"/>
              <a:ext cx="45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50205" name="Text Box 16"/>
            <p:cNvSpPr txBox="1"/>
            <p:nvPr/>
          </p:nvSpPr>
          <p:spPr>
            <a:xfrm>
              <a:off x="385" y="2523"/>
              <a:ext cx="270" cy="333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Courier New" panose="02070309020205020404" pitchFamily="49" charset="0"/>
                  <a:ea typeface="楷体_GB2312" pitchFamily="49" charset="-122"/>
                </a:rPr>
                <a:t>a</a:t>
              </a:r>
            </a:p>
          </p:txBody>
        </p:sp>
      </p:grpSp>
      <p:sp>
        <p:nvSpPr>
          <p:cNvPr id="50189" name="Text Box 17"/>
          <p:cNvSpPr txBox="1"/>
          <p:nvPr/>
        </p:nvSpPr>
        <p:spPr>
          <a:xfrm>
            <a:off x="350838" y="1658938"/>
            <a:ext cx="3362325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  <a:ea typeface="楷体_GB2312" pitchFamily="49" charset="-122"/>
              </a:rPr>
              <a:t>char a[3][4];</a:t>
            </a:r>
          </a:p>
        </p:txBody>
      </p:sp>
      <p:sp>
        <p:nvSpPr>
          <p:cNvPr id="156690" name="Text Box 18"/>
          <p:cNvSpPr txBox="1"/>
          <p:nvPr/>
        </p:nvSpPr>
        <p:spPr>
          <a:xfrm>
            <a:off x="2486025" y="3716338"/>
            <a:ext cx="8604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Courier New" panose="02070309020205020404" pitchFamily="49" charset="0"/>
                <a:ea typeface="楷体_GB2312" pitchFamily="49" charset="-122"/>
              </a:rPr>
              <a:t>*a</a:t>
            </a:r>
          </a:p>
        </p:txBody>
      </p:sp>
      <p:sp>
        <p:nvSpPr>
          <p:cNvPr id="156691" name="Text Box 19"/>
          <p:cNvSpPr txBox="1"/>
          <p:nvPr/>
        </p:nvSpPr>
        <p:spPr>
          <a:xfrm>
            <a:off x="2482850" y="4421188"/>
            <a:ext cx="13684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Courier New" panose="02070309020205020404" pitchFamily="49" charset="0"/>
                <a:ea typeface="楷体_GB2312" pitchFamily="49" charset="-122"/>
              </a:rPr>
              <a:t>*(a+1)</a:t>
            </a:r>
          </a:p>
        </p:txBody>
      </p:sp>
      <p:sp>
        <p:nvSpPr>
          <p:cNvPr id="156692" name="Text Box 20"/>
          <p:cNvSpPr txBox="1"/>
          <p:nvPr/>
        </p:nvSpPr>
        <p:spPr>
          <a:xfrm>
            <a:off x="2482850" y="5068888"/>
            <a:ext cx="13684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Courier New" panose="02070309020205020404" pitchFamily="49" charset="0"/>
                <a:ea typeface="楷体_GB2312" pitchFamily="49" charset="-122"/>
              </a:rPr>
              <a:t>*(a+2)</a:t>
            </a:r>
          </a:p>
        </p:txBody>
      </p:sp>
      <p:grpSp>
        <p:nvGrpSpPr>
          <p:cNvPr id="3" name="Group 21"/>
          <p:cNvGrpSpPr/>
          <p:nvPr/>
        </p:nvGrpSpPr>
        <p:grpSpPr>
          <a:xfrm>
            <a:off x="1647825" y="1804988"/>
            <a:ext cx="6840538" cy="574675"/>
            <a:chOff x="1157" y="1118"/>
            <a:chExt cx="4309" cy="362"/>
          </a:xfrm>
        </p:grpSpPr>
        <p:sp>
          <p:nvSpPr>
            <p:cNvPr id="50202" name="Line 22"/>
            <p:cNvSpPr/>
            <p:nvPr/>
          </p:nvSpPr>
          <p:spPr>
            <a:xfrm>
              <a:off x="1157" y="1435"/>
              <a:ext cx="59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59" name="AutoShape 23"/>
            <p:cNvSpPr>
              <a:spLocks noChangeArrowheads="1"/>
            </p:cNvSpPr>
            <p:nvPr/>
          </p:nvSpPr>
          <p:spPr bwMode="auto">
            <a:xfrm>
              <a:off x="2563" y="1118"/>
              <a:ext cx="2903" cy="362"/>
            </a:xfrm>
            <a:prstGeom prst="wedgeRectCallout">
              <a:avLst>
                <a:gd name="adj1" fmla="val -72736"/>
                <a:gd name="adj2" fmla="val 36741"/>
              </a:avLst>
            </a:prstGeom>
            <a:noFill/>
            <a:ln w="38100">
              <a:solidFill>
                <a:schemeClr val="tx1"/>
              </a:solidFill>
              <a:miter lim="800000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a</a:t>
              </a: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是一个长度为</a:t>
              </a: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3</a:t>
              </a: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的数组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</p:grpSp>
      <p:grpSp>
        <p:nvGrpSpPr>
          <p:cNvPr id="4" name="Group 24"/>
          <p:cNvGrpSpPr/>
          <p:nvPr/>
        </p:nvGrpSpPr>
        <p:grpSpPr>
          <a:xfrm>
            <a:off x="1647825" y="2667000"/>
            <a:ext cx="7200900" cy="574675"/>
            <a:chOff x="1157" y="1661"/>
            <a:chExt cx="4536" cy="362"/>
          </a:xfrm>
        </p:grpSpPr>
        <p:sp>
          <p:nvSpPr>
            <p:cNvPr id="50200" name="Line 25"/>
            <p:cNvSpPr/>
            <p:nvPr/>
          </p:nvSpPr>
          <p:spPr>
            <a:xfrm>
              <a:off x="1157" y="1661"/>
              <a:ext cx="104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01" name="AutoShape 26"/>
            <p:cNvSpPr/>
            <p:nvPr/>
          </p:nvSpPr>
          <p:spPr>
            <a:xfrm>
              <a:off x="2563" y="1661"/>
              <a:ext cx="3130" cy="362"/>
            </a:xfrm>
            <a:prstGeom prst="wedgeRectCallout">
              <a:avLst>
                <a:gd name="adj1" fmla="val -60736"/>
                <a:gd name="adj2" fmla="val -47236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tx1"/>
              </a:outerShdw>
            </a:effectLst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dirty="0">
                  <a:solidFill>
                    <a:srgbClr val="0070C0"/>
                  </a:solidFill>
                  <a:latin typeface="Courier New" panose="02070309020205020404" pitchFamily="49" charset="0"/>
                  <a:ea typeface="楷体_GB2312" pitchFamily="49" charset="-122"/>
                </a:rPr>
                <a:t>数组元素是长度为</a:t>
              </a:r>
              <a:r>
                <a:rPr lang="en-US" altLang="zh-CN" b="1" dirty="0">
                  <a:solidFill>
                    <a:srgbClr val="0070C0"/>
                  </a:solidFill>
                  <a:latin typeface="Courier New" panose="02070309020205020404" pitchFamily="49" charset="0"/>
                  <a:ea typeface="楷体_GB2312" pitchFamily="49" charset="-122"/>
                </a:rPr>
                <a:t>4</a:t>
              </a:r>
              <a:r>
                <a:rPr lang="zh-CN" altLang="en-US" dirty="0">
                  <a:solidFill>
                    <a:srgbClr val="0070C0"/>
                  </a:solidFill>
                  <a:latin typeface="Courier New" panose="02070309020205020404" pitchFamily="49" charset="0"/>
                  <a:ea typeface="楷体_GB2312" pitchFamily="49" charset="-122"/>
                </a:rPr>
                <a:t>的数组</a:t>
              </a:r>
            </a:p>
          </p:txBody>
        </p:sp>
      </p:grpSp>
      <p:sp>
        <p:nvSpPr>
          <p:cNvPr id="156699" name="Text Box 27"/>
          <p:cNvSpPr txBox="1"/>
          <p:nvPr/>
        </p:nvSpPr>
        <p:spPr>
          <a:xfrm>
            <a:off x="3924300" y="3435350"/>
            <a:ext cx="4608513" cy="2441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Courier New" panose="02070309020205020404" pitchFamily="49" charset="0"/>
                <a:ea typeface="楷体_GB2312" pitchFamily="49" charset="-122"/>
              </a:rPr>
              <a:t>a</a:t>
            </a:r>
            <a:r>
              <a:rPr lang="zh-CN" altLang="en-US" sz="2800" dirty="0">
                <a:latin typeface="Courier New" panose="02070309020205020404" pitchFamily="49" charset="0"/>
                <a:ea typeface="楷体_GB2312" pitchFamily="49" charset="-122"/>
              </a:rPr>
              <a:t>、</a:t>
            </a:r>
            <a:r>
              <a:rPr lang="en-US" altLang="zh-CN" sz="2800" b="1" dirty="0">
                <a:latin typeface="Courier New" panose="02070309020205020404" pitchFamily="49" charset="0"/>
                <a:ea typeface="楷体_GB2312" pitchFamily="49" charset="-122"/>
              </a:rPr>
              <a:t>a+1</a:t>
            </a:r>
            <a:r>
              <a:rPr lang="zh-CN" altLang="en-US" sz="2800" dirty="0">
                <a:latin typeface="Courier New" panose="02070309020205020404" pitchFamily="49" charset="0"/>
                <a:ea typeface="楷体_GB2312" pitchFamily="49" charset="-122"/>
              </a:rPr>
              <a:t>、</a:t>
            </a:r>
            <a:r>
              <a:rPr lang="en-US" altLang="zh-CN" sz="2800" b="1" dirty="0">
                <a:latin typeface="Courier New" panose="02070309020205020404" pitchFamily="49" charset="0"/>
                <a:ea typeface="楷体_GB2312" pitchFamily="49" charset="-122"/>
              </a:rPr>
              <a:t>a+2</a:t>
            </a:r>
            <a:r>
              <a:rPr lang="zh-CN" altLang="en-US" sz="2800" dirty="0">
                <a:latin typeface="Courier New" panose="02070309020205020404" pitchFamily="49" charset="0"/>
                <a:ea typeface="楷体_GB2312" pitchFamily="49" charset="-122"/>
              </a:rPr>
              <a:t>都是地址，它们的基类型是长度为</a:t>
            </a:r>
            <a:r>
              <a:rPr lang="en-US" altLang="zh-CN" sz="2800" b="1" dirty="0">
                <a:latin typeface="Courier New" panose="02070309020205020404" pitchFamily="49" charset="0"/>
                <a:ea typeface="楷体_GB2312" pitchFamily="49" charset="-122"/>
              </a:rPr>
              <a:t>4</a:t>
            </a:r>
            <a:r>
              <a:rPr lang="zh-CN" altLang="en-US" sz="2800" dirty="0">
                <a:latin typeface="Courier New" panose="02070309020205020404" pitchFamily="49" charset="0"/>
                <a:ea typeface="楷体_GB2312" pitchFamily="49" charset="-122"/>
              </a:rPr>
              <a:t>的字符数组，它们与下面定义的指针变量</a:t>
            </a:r>
            <a:r>
              <a:rPr lang="en-US" altLang="zh-CN" sz="2800" b="1" dirty="0">
                <a:latin typeface="Courier New" panose="02070309020205020404" pitchFamily="49" charset="0"/>
                <a:ea typeface="楷体_GB2312" pitchFamily="49" charset="-122"/>
              </a:rPr>
              <a:t>p</a:t>
            </a:r>
            <a:r>
              <a:rPr lang="zh-CN" altLang="en-US" sz="2800" dirty="0">
                <a:latin typeface="Courier New" panose="02070309020205020404" pitchFamily="49" charset="0"/>
                <a:ea typeface="楷体_GB2312" pitchFamily="49" charset="-122"/>
              </a:rPr>
              <a:t>同类型</a:t>
            </a:r>
          </a:p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Courier New" panose="02070309020205020404" pitchFamily="49" charset="0"/>
                <a:ea typeface="楷体_GB2312" pitchFamily="49" charset="-122"/>
              </a:rPr>
              <a:t>char (*p)[4];</a:t>
            </a:r>
          </a:p>
        </p:txBody>
      </p:sp>
      <p:sp>
        <p:nvSpPr>
          <p:cNvPr id="29" name="日期占位符 28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C030C03-BA34-4C95-9882-648D96A2416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1222" name="灯片编号占位符 29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ACF783C-92CA-4E69-B2C4-8C9A91DF088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37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199" name="矩形 4"/>
          <p:cNvSpPr/>
          <p:nvPr/>
        </p:nvSpPr>
        <p:spPr>
          <a:xfrm>
            <a:off x="1181100" y="1023938"/>
            <a:ext cx="6480175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Clr>
                <a:srgbClr val="3333CC"/>
              </a:buClr>
              <a:buFontTx/>
              <a:buNone/>
            </a:pPr>
            <a:r>
              <a:rPr lang="en-US" altLang="zh-CN" sz="2600" b="1" dirty="0" smtClean="0">
                <a:solidFill>
                  <a:srgbClr val="26267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5.3.5 </a:t>
            </a:r>
            <a:r>
              <a:rPr lang="zh-CN" altLang="en-US" sz="2600" b="1" dirty="0">
                <a:solidFill>
                  <a:srgbClr val="26267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二维数组与指针变量</a:t>
            </a:r>
          </a:p>
        </p:txBody>
      </p:sp>
    </p:spTree>
    <p:extLst>
      <p:ext uri="{BB962C8B-B14F-4D97-AF65-F5344CB8AC3E}">
        <p14:creationId xmlns:p14="http://schemas.microsoft.com/office/powerpoint/2010/main" val="395967920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6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6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6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90" grpId="0"/>
      <p:bldP spid="156691" grpId="0"/>
      <p:bldP spid="156692" grpId="0"/>
      <p:bldP spid="15669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3"/>
          <p:cNvSpPr>
            <a:spLocks noGrp="1"/>
          </p:cNvSpPr>
          <p:nvPr>
            <p:ph idx="1"/>
          </p:nvPr>
        </p:nvSpPr>
        <p:spPr>
          <a:xfrm>
            <a:off x="14288" y="0"/>
            <a:ext cx="8540750" cy="5473700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/>
              <a:t>图</a:t>
            </a:r>
          </a:p>
        </p:txBody>
      </p:sp>
      <p:graphicFrame>
        <p:nvGraphicFramePr>
          <p:cNvPr id="157700" name="Group 4"/>
          <p:cNvGraphicFramePr>
            <a:graphicFrameLocks noGrp="1"/>
          </p:cNvGraphicFramePr>
          <p:nvPr/>
        </p:nvGraphicFramePr>
        <p:xfrm>
          <a:off x="1547813" y="2446338"/>
          <a:ext cx="5545137" cy="2173288"/>
        </p:xfrm>
        <a:graphic>
          <a:graphicData uri="http://schemas.openxmlformats.org/drawingml/2006/table">
            <a:tbl>
              <a:tblPr/>
              <a:tblGrid>
                <a:gridCol w="5545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endParaRPr kumimoji="0" lang="zh-CN" altLang="zh-CN" sz="2600" b="1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5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endParaRPr kumimoji="0" lang="zh-CN" altLang="zh-CN" sz="2600" b="1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endParaRPr kumimoji="0" lang="zh-CN" altLang="zh-CN" sz="2600" b="1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" name="Group 14"/>
          <p:cNvGrpSpPr/>
          <p:nvPr/>
        </p:nvGrpSpPr>
        <p:grpSpPr>
          <a:xfrm>
            <a:off x="395288" y="2519363"/>
            <a:ext cx="1116012" cy="457200"/>
            <a:chOff x="793" y="1979"/>
            <a:chExt cx="703" cy="288"/>
          </a:xfrm>
        </p:grpSpPr>
        <p:sp>
          <p:nvSpPr>
            <p:cNvPr id="51277" name="Line 15"/>
            <p:cNvSpPr/>
            <p:nvPr/>
          </p:nvSpPr>
          <p:spPr>
            <a:xfrm>
              <a:off x="1043" y="2126"/>
              <a:ext cx="45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51278" name="Text Box 16"/>
            <p:cNvSpPr txBox="1"/>
            <p:nvPr/>
          </p:nvSpPr>
          <p:spPr>
            <a:xfrm>
              <a:off x="793" y="1979"/>
              <a:ext cx="27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Courier New" panose="02070309020205020404" pitchFamily="49" charset="0"/>
                  <a:ea typeface="楷体_GB2312" pitchFamily="49" charset="-122"/>
                </a:rPr>
                <a:t>a</a:t>
              </a:r>
            </a:p>
          </p:txBody>
        </p:sp>
      </p:grpSp>
      <p:sp>
        <p:nvSpPr>
          <p:cNvPr id="157715" name="Text Box 19"/>
          <p:cNvSpPr txBox="1"/>
          <p:nvPr/>
        </p:nvSpPr>
        <p:spPr>
          <a:xfrm>
            <a:off x="1404938" y="3900488"/>
            <a:ext cx="554513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800" b="1" dirty="0">
              <a:solidFill>
                <a:srgbClr val="FFFF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graphicFrame>
        <p:nvGraphicFramePr>
          <p:cNvPr id="157772" name="Group 76"/>
          <p:cNvGraphicFramePr>
            <a:graphicFrameLocks noGrp="1"/>
          </p:cNvGraphicFramePr>
          <p:nvPr/>
        </p:nvGraphicFramePr>
        <p:xfrm>
          <a:off x="1547813" y="2446338"/>
          <a:ext cx="5545137" cy="2171701"/>
        </p:xfrm>
        <a:graphic>
          <a:graphicData uri="http://schemas.openxmlformats.org/drawingml/2006/table">
            <a:tbl>
              <a:tblPr/>
              <a:tblGrid>
                <a:gridCol w="136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6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0,0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0,1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0,2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0,3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1,0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1,1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1,2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1,3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9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2,0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2,1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2,2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2,3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" name="Group 40"/>
          <p:cNvGrpSpPr/>
          <p:nvPr/>
        </p:nvGrpSpPr>
        <p:grpSpPr>
          <a:xfrm>
            <a:off x="1549400" y="1008063"/>
            <a:ext cx="1152525" cy="1382712"/>
            <a:chOff x="1610" y="1026"/>
            <a:chExt cx="726" cy="871"/>
          </a:xfrm>
        </p:grpSpPr>
        <p:sp>
          <p:nvSpPr>
            <p:cNvPr id="51275" name="Line 41"/>
            <p:cNvSpPr/>
            <p:nvPr/>
          </p:nvSpPr>
          <p:spPr>
            <a:xfrm>
              <a:off x="1973" y="1534"/>
              <a:ext cx="0" cy="36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51276" name="Text Box 42"/>
            <p:cNvSpPr txBox="1"/>
            <p:nvPr/>
          </p:nvSpPr>
          <p:spPr>
            <a:xfrm>
              <a:off x="1610" y="1026"/>
              <a:ext cx="726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Courier New" panose="02070309020205020404" pitchFamily="49" charset="0"/>
                  <a:ea typeface="楷体_GB2312" pitchFamily="49" charset="-122"/>
                </a:rPr>
                <a:t>*a</a:t>
              </a:r>
            </a:p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Courier New" panose="02070309020205020404" pitchFamily="49" charset="0"/>
                  <a:ea typeface="楷体_GB2312" pitchFamily="49" charset="-122"/>
                </a:rPr>
                <a:t>a[0]</a:t>
              </a:r>
            </a:p>
          </p:txBody>
        </p:sp>
      </p:grpSp>
      <p:grpSp>
        <p:nvGrpSpPr>
          <p:cNvPr id="4" name="Group 43"/>
          <p:cNvGrpSpPr/>
          <p:nvPr/>
        </p:nvGrpSpPr>
        <p:grpSpPr>
          <a:xfrm>
            <a:off x="2630488" y="1008063"/>
            <a:ext cx="1727200" cy="1379537"/>
            <a:chOff x="2291" y="1026"/>
            <a:chExt cx="1088" cy="869"/>
          </a:xfrm>
        </p:grpSpPr>
        <p:sp>
          <p:nvSpPr>
            <p:cNvPr id="51273" name="Text Box 44"/>
            <p:cNvSpPr txBox="1"/>
            <p:nvPr/>
          </p:nvSpPr>
          <p:spPr>
            <a:xfrm>
              <a:off x="2291" y="1026"/>
              <a:ext cx="1088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Courier New" panose="02070309020205020404" pitchFamily="49" charset="0"/>
                  <a:ea typeface="楷体_GB2312" pitchFamily="49" charset="-122"/>
                </a:rPr>
                <a:t>*a+1</a:t>
              </a:r>
            </a:p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Courier New" panose="02070309020205020404" pitchFamily="49" charset="0"/>
                  <a:ea typeface="楷体_GB2312" pitchFamily="49" charset="-122"/>
                </a:rPr>
                <a:t>a[0]+1</a:t>
              </a:r>
            </a:p>
          </p:txBody>
        </p:sp>
        <p:sp>
          <p:nvSpPr>
            <p:cNvPr id="51274" name="Line 45"/>
            <p:cNvSpPr/>
            <p:nvPr/>
          </p:nvSpPr>
          <p:spPr>
            <a:xfrm>
              <a:off x="2835" y="1532"/>
              <a:ext cx="0" cy="36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</p:grpSp>
      <p:grpSp>
        <p:nvGrpSpPr>
          <p:cNvPr id="5" name="Group 46"/>
          <p:cNvGrpSpPr/>
          <p:nvPr/>
        </p:nvGrpSpPr>
        <p:grpSpPr>
          <a:xfrm>
            <a:off x="3998913" y="1008063"/>
            <a:ext cx="1727200" cy="1368425"/>
            <a:chOff x="3153" y="1026"/>
            <a:chExt cx="1088" cy="862"/>
          </a:xfrm>
        </p:grpSpPr>
        <p:sp>
          <p:nvSpPr>
            <p:cNvPr id="51271" name="Text Box 47"/>
            <p:cNvSpPr txBox="1"/>
            <p:nvPr/>
          </p:nvSpPr>
          <p:spPr>
            <a:xfrm>
              <a:off x="3153" y="1026"/>
              <a:ext cx="1088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Courier New" panose="02070309020205020404" pitchFamily="49" charset="0"/>
                  <a:ea typeface="楷体_GB2312" pitchFamily="49" charset="-122"/>
                </a:rPr>
                <a:t>*a+2</a:t>
              </a:r>
            </a:p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Courier New" panose="02070309020205020404" pitchFamily="49" charset="0"/>
                  <a:ea typeface="楷体_GB2312" pitchFamily="49" charset="-122"/>
                </a:rPr>
                <a:t>a[0]+2</a:t>
              </a:r>
            </a:p>
          </p:txBody>
        </p:sp>
        <p:sp>
          <p:nvSpPr>
            <p:cNvPr id="51272" name="Line 48"/>
            <p:cNvSpPr/>
            <p:nvPr/>
          </p:nvSpPr>
          <p:spPr>
            <a:xfrm>
              <a:off x="3697" y="1525"/>
              <a:ext cx="0" cy="36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</p:grpSp>
      <p:grpSp>
        <p:nvGrpSpPr>
          <p:cNvPr id="6" name="Group 49"/>
          <p:cNvGrpSpPr/>
          <p:nvPr/>
        </p:nvGrpSpPr>
        <p:grpSpPr>
          <a:xfrm>
            <a:off x="5365750" y="1008063"/>
            <a:ext cx="1727200" cy="1368425"/>
            <a:chOff x="4014" y="1026"/>
            <a:chExt cx="1088" cy="862"/>
          </a:xfrm>
        </p:grpSpPr>
        <p:sp>
          <p:nvSpPr>
            <p:cNvPr id="51269" name="Text Box 50"/>
            <p:cNvSpPr txBox="1"/>
            <p:nvPr/>
          </p:nvSpPr>
          <p:spPr>
            <a:xfrm>
              <a:off x="4014" y="1026"/>
              <a:ext cx="1088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Courier New" panose="02070309020205020404" pitchFamily="49" charset="0"/>
                  <a:ea typeface="楷体_GB2312" pitchFamily="49" charset="-122"/>
                </a:rPr>
                <a:t>*a+3</a:t>
              </a:r>
            </a:p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Courier New" panose="02070309020205020404" pitchFamily="49" charset="0"/>
                  <a:ea typeface="楷体_GB2312" pitchFamily="49" charset="-122"/>
                </a:rPr>
                <a:t>a[0]+3</a:t>
              </a:r>
            </a:p>
          </p:txBody>
        </p:sp>
        <p:sp>
          <p:nvSpPr>
            <p:cNvPr id="51270" name="Line 51"/>
            <p:cNvSpPr/>
            <p:nvPr/>
          </p:nvSpPr>
          <p:spPr>
            <a:xfrm>
              <a:off x="4558" y="1525"/>
              <a:ext cx="0" cy="36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</p:grpSp>
      <p:grpSp>
        <p:nvGrpSpPr>
          <p:cNvPr id="7" name="Group 52"/>
          <p:cNvGrpSpPr/>
          <p:nvPr/>
        </p:nvGrpSpPr>
        <p:grpSpPr>
          <a:xfrm>
            <a:off x="1476375" y="4537075"/>
            <a:ext cx="1296988" cy="1397000"/>
            <a:chOff x="1564" y="3068"/>
            <a:chExt cx="817" cy="880"/>
          </a:xfrm>
        </p:grpSpPr>
        <p:sp>
          <p:nvSpPr>
            <p:cNvPr id="51267" name="Line 53"/>
            <p:cNvSpPr/>
            <p:nvPr/>
          </p:nvSpPr>
          <p:spPr>
            <a:xfrm>
              <a:off x="1973" y="3068"/>
              <a:ext cx="0" cy="36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stealth" w="lg" len="lg"/>
              <a:tailEnd type="none" w="lg" len="lg"/>
            </a:ln>
          </p:spPr>
        </p:sp>
        <p:sp>
          <p:nvSpPr>
            <p:cNvPr id="51268" name="Text Box 54"/>
            <p:cNvSpPr txBox="1"/>
            <p:nvPr/>
          </p:nvSpPr>
          <p:spPr>
            <a:xfrm>
              <a:off x="1564" y="3430"/>
              <a:ext cx="817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Courier New" panose="02070309020205020404" pitchFamily="49" charset="0"/>
                  <a:ea typeface="楷体_GB2312" pitchFamily="49" charset="-122"/>
                </a:rPr>
                <a:t>a[2]</a:t>
              </a:r>
            </a:p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Courier New" panose="02070309020205020404" pitchFamily="49" charset="0"/>
                  <a:ea typeface="楷体_GB2312" pitchFamily="49" charset="-122"/>
                </a:rPr>
                <a:t>*(a+2)</a:t>
              </a:r>
            </a:p>
          </p:txBody>
        </p:sp>
      </p:grpSp>
      <p:grpSp>
        <p:nvGrpSpPr>
          <p:cNvPr id="8" name="Group 55"/>
          <p:cNvGrpSpPr/>
          <p:nvPr/>
        </p:nvGrpSpPr>
        <p:grpSpPr>
          <a:xfrm>
            <a:off x="2628900" y="4535488"/>
            <a:ext cx="1728788" cy="1397000"/>
            <a:chOff x="2290" y="3067"/>
            <a:chExt cx="1089" cy="880"/>
          </a:xfrm>
        </p:grpSpPr>
        <p:sp>
          <p:nvSpPr>
            <p:cNvPr id="51265" name="Line 56"/>
            <p:cNvSpPr/>
            <p:nvPr/>
          </p:nvSpPr>
          <p:spPr>
            <a:xfrm>
              <a:off x="2835" y="3067"/>
              <a:ext cx="0" cy="36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stealth" w="lg" len="lg"/>
              <a:tailEnd type="none" w="lg" len="lg"/>
            </a:ln>
          </p:spPr>
        </p:sp>
        <p:sp>
          <p:nvSpPr>
            <p:cNvPr id="51266" name="Text Box 57"/>
            <p:cNvSpPr txBox="1"/>
            <p:nvPr/>
          </p:nvSpPr>
          <p:spPr>
            <a:xfrm>
              <a:off x="2290" y="3429"/>
              <a:ext cx="1089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Courier New" panose="02070309020205020404" pitchFamily="49" charset="0"/>
                  <a:ea typeface="楷体_GB2312" pitchFamily="49" charset="-122"/>
                </a:rPr>
                <a:t>a[2]+1</a:t>
              </a:r>
            </a:p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Courier New" panose="02070309020205020404" pitchFamily="49" charset="0"/>
                  <a:ea typeface="楷体_GB2312" pitchFamily="49" charset="-122"/>
                </a:rPr>
                <a:t>*(a+2)+1</a:t>
              </a:r>
            </a:p>
          </p:txBody>
        </p:sp>
      </p:grpSp>
      <p:grpSp>
        <p:nvGrpSpPr>
          <p:cNvPr id="9" name="Group 58"/>
          <p:cNvGrpSpPr/>
          <p:nvPr/>
        </p:nvGrpSpPr>
        <p:grpSpPr>
          <a:xfrm>
            <a:off x="5364163" y="3816350"/>
            <a:ext cx="1728787" cy="2116138"/>
            <a:chOff x="3651" y="2614"/>
            <a:chExt cx="1089" cy="1333"/>
          </a:xfrm>
        </p:grpSpPr>
        <p:sp>
          <p:nvSpPr>
            <p:cNvPr id="51263" name="Line 59"/>
            <p:cNvSpPr/>
            <p:nvPr/>
          </p:nvSpPr>
          <p:spPr>
            <a:xfrm flipH="1">
              <a:off x="4195" y="2614"/>
              <a:ext cx="0" cy="81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stealth" w="lg" len="lg"/>
              <a:tailEnd type="none" w="lg" len="lg"/>
            </a:ln>
          </p:spPr>
        </p:sp>
        <p:sp>
          <p:nvSpPr>
            <p:cNvPr id="51264" name="Text Box 60"/>
            <p:cNvSpPr txBox="1"/>
            <p:nvPr/>
          </p:nvSpPr>
          <p:spPr>
            <a:xfrm>
              <a:off x="3651" y="3429"/>
              <a:ext cx="1089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Courier New" panose="02070309020205020404" pitchFamily="49" charset="0"/>
                  <a:ea typeface="楷体_GB2312" pitchFamily="49" charset="-122"/>
                </a:rPr>
                <a:t>a[1]+3</a:t>
              </a:r>
            </a:p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Courier New" panose="02070309020205020404" pitchFamily="49" charset="0"/>
                  <a:ea typeface="楷体_GB2312" pitchFamily="49" charset="-122"/>
                </a:rPr>
                <a:t>*(a+1)+3</a:t>
              </a:r>
            </a:p>
          </p:txBody>
        </p:sp>
      </p:grpSp>
      <p:sp>
        <p:nvSpPr>
          <p:cNvPr id="157757" name="Text Box 61"/>
          <p:cNvSpPr txBox="1"/>
          <p:nvPr/>
        </p:nvSpPr>
        <p:spPr>
          <a:xfrm>
            <a:off x="7092950" y="3167063"/>
            <a:ext cx="2232025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Courier New" panose="02070309020205020404" pitchFamily="49" charset="0"/>
                <a:ea typeface="楷体_GB2312" pitchFamily="49" charset="-122"/>
              </a:rPr>
              <a:t>a[1][3]</a:t>
            </a: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Courier New" panose="02070309020205020404" pitchFamily="49" charset="0"/>
                <a:ea typeface="楷体_GB2312" pitchFamily="49" charset="-122"/>
              </a:rPr>
              <a:t>*(*(a+1)+3)</a:t>
            </a:r>
          </a:p>
        </p:txBody>
      </p:sp>
      <p:grpSp>
        <p:nvGrpSpPr>
          <p:cNvPr id="10" name="Group 62"/>
          <p:cNvGrpSpPr/>
          <p:nvPr/>
        </p:nvGrpSpPr>
        <p:grpSpPr>
          <a:xfrm>
            <a:off x="107950" y="3816350"/>
            <a:ext cx="2016125" cy="2116138"/>
            <a:chOff x="113" y="2614"/>
            <a:chExt cx="1270" cy="1333"/>
          </a:xfrm>
        </p:grpSpPr>
        <p:sp>
          <p:nvSpPr>
            <p:cNvPr id="51261" name="Line 63"/>
            <p:cNvSpPr/>
            <p:nvPr/>
          </p:nvSpPr>
          <p:spPr>
            <a:xfrm flipH="1">
              <a:off x="522" y="2614"/>
              <a:ext cx="861" cy="81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stealth" w="lg" len="lg"/>
              <a:tailEnd type="none" w="lg" len="lg"/>
            </a:ln>
          </p:spPr>
        </p:sp>
        <p:sp>
          <p:nvSpPr>
            <p:cNvPr id="51262" name="Text Box 64"/>
            <p:cNvSpPr txBox="1"/>
            <p:nvPr/>
          </p:nvSpPr>
          <p:spPr>
            <a:xfrm>
              <a:off x="113" y="3429"/>
              <a:ext cx="817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Courier New" panose="02070309020205020404" pitchFamily="49" charset="0"/>
                  <a:ea typeface="楷体_GB2312" pitchFamily="49" charset="-122"/>
                </a:rPr>
                <a:t>a[1]</a:t>
              </a:r>
            </a:p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Courier New" panose="02070309020205020404" pitchFamily="49" charset="0"/>
                  <a:ea typeface="楷体_GB2312" pitchFamily="49" charset="-122"/>
                </a:rPr>
                <a:t>*(a+1)</a:t>
              </a:r>
            </a:p>
          </p:txBody>
        </p:sp>
      </p:grpSp>
      <p:sp>
        <p:nvSpPr>
          <p:cNvPr id="157761" name="Text Box 65"/>
          <p:cNvSpPr txBox="1"/>
          <p:nvPr/>
        </p:nvSpPr>
        <p:spPr>
          <a:xfrm>
            <a:off x="7092950" y="3959225"/>
            <a:ext cx="2232025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Courier New" panose="02070309020205020404" pitchFamily="49" charset="0"/>
                <a:ea typeface="楷体_GB2312" pitchFamily="49" charset="-122"/>
              </a:rPr>
              <a:t>a[2][3]</a:t>
            </a: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Courier New" panose="02070309020205020404" pitchFamily="49" charset="0"/>
                <a:ea typeface="楷体_GB2312" pitchFamily="49" charset="-122"/>
              </a:rPr>
              <a:t>*(*(a+2)+3)</a:t>
            </a:r>
          </a:p>
        </p:txBody>
      </p:sp>
      <p:sp>
        <p:nvSpPr>
          <p:cNvPr id="157762" name="Text Box 66"/>
          <p:cNvSpPr txBox="1"/>
          <p:nvPr/>
        </p:nvSpPr>
        <p:spPr>
          <a:xfrm>
            <a:off x="7164388" y="2374900"/>
            <a:ext cx="2232025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Courier New" panose="02070309020205020404" pitchFamily="49" charset="0"/>
                <a:ea typeface="楷体_GB2312" pitchFamily="49" charset="-122"/>
              </a:rPr>
              <a:t>a[0][3]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Courier New" panose="02070309020205020404" pitchFamily="49" charset="0"/>
                <a:ea typeface="楷体_GB2312" pitchFamily="49" charset="-122"/>
              </a:rPr>
              <a:t>*(*a+3)</a:t>
            </a:r>
          </a:p>
        </p:txBody>
      </p:sp>
      <p:sp>
        <p:nvSpPr>
          <p:cNvPr id="157763" name="Text Box 67"/>
          <p:cNvSpPr txBox="1"/>
          <p:nvPr/>
        </p:nvSpPr>
        <p:spPr>
          <a:xfrm>
            <a:off x="7453313" y="574675"/>
            <a:ext cx="1298575" cy="476250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tx1"/>
            </a:outerShdw>
          </a:effectLst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7030A0"/>
                </a:solidFill>
                <a:latin typeface="Courier New" panose="02070309020205020404" pitchFamily="49" charset="0"/>
                <a:ea typeface="楷体_GB2312" pitchFamily="49" charset="-122"/>
              </a:rPr>
              <a:t>char *</a:t>
            </a:r>
          </a:p>
        </p:txBody>
      </p:sp>
      <p:sp>
        <p:nvSpPr>
          <p:cNvPr id="157764" name="Text Box 68"/>
          <p:cNvSpPr txBox="1"/>
          <p:nvPr/>
        </p:nvSpPr>
        <p:spPr>
          <a:xfrm>
            <a:off x="7956550" y="1366838"/>
            <a:ext cx="933450" cy="476250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tx1"/>
            </a:outerShdw>
          </a:effectLst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Courier New" panose="02070309020205020404" pitchFamily="49" charset="0"/>
                <a:ea typeface="楷体_GB2312" pitchFamily="49" charset="-122"/>
              </a:rPr>
              <a:t>char</a:t>
            </a:r>
          </a:p>
        </p:txBody>
      </p:sp>
      <p:sp>
        <p:nvSpPr>
          <p:cNvPr id="157765" name="Text Box 69"/>
          <p:cNvSpPr txBox="1"/>
          <p:nvPr/>
        </p:nvSpPr>
        <p:spPr>
          <a:xfrm>
            <a:off x="7634528" y="5689600"/>
            <a:ext cx="1298575" cy="476250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tx1"/>
            </a:outerShdw>
          </a:effectLst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7030A0"/>
                </a:solidFill>
                <a:latin typeface="Courier New" panose="02070309020205020404" pitchFamily="49" charset="0"/>
                <a:ea typeface="楷体_GB2312" pitchFamily="49" charset="-122"/>
              </a:rPr>
              <a:t>char *</a:t>
            </a:r>
          </a:p>
        </p:txBody>
      </p:sp>
      <p:sp>
        <p:nvSpPr>
          <p:cNvPr id="157766" name="Text Box 70"/>
          <p:cNvSpPr txBox="1"/>
          <p:nvPr/>
        </p:nvSpPr>
        <p:spPr>
          <a:xfrm>
            <a:off x="0" y="935038"/>
            <a:ext cx="1476375" cy="1200329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tx1"/>
            </a:outerShdw>
          </a:effectLst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Courier New" panose="02070309020205020404" pitchFamily="49" charset="0"/>
                <a:ea typeface="楷体_GB2312" pitchFamily="49" charset="-122"/>
              </a:rPr>
              <a:t>基类型为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ea typeface="楷体_GB2312" pitchFamily="49" charset="-122"/>
              </a:rPr>
              <a:t>char[4]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Courier New" panose="02070309020205020404" pitchFamily="49" charset="0"/>
                <a:ea typeface="楷体_GB2312" pitchFamily="49" charset="-122"/>
              </a:rPr>
              <a:t>的地址</a:t>
            </a:r>
          </a:p>
        </p:txBody>
      </p:sp>
      <p:sp>
        <p:nvSpPr>
          <p:cNvPr id="157767" name="AutoShape 71"/>
          <p:cNvSpPr/>
          <p:nvPr/>
        </p:nvSpPr>
        <p:spPr>
          <a:xfrm>
            <a:off x="215900" y="2519363"/>
            <a:ext cx="827088" cy="2232025"/>
          </a:xfrm>
          <a:prstGeom prst="wedgeEllipseCallout">
            <a:avLst>
              <a:gd name="adj1" fmla="val 54112"/>
              <a:gd name="adj2" fmla="val -63638"/>
            </a:avLst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tx1"/>
            </a:outerShdw>
          </a:effec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urier New" panose="02070309020205020404" pitchFamily="49" charset="0"/>
              <a:ea typeface="楷体_GB2312" pitchFamily="49" charset="-122"/>
            </a:endParaRPr>
          </a:p>
        </p:txBody>
      </p:sp>
      <p:sp>
        <p:nvSpPr>
          <p:cNvPr id="157768" name="AutoShape 72"/>
          <p:cNvSpPr/>
          <p:nvPr/>
        </p:nvSpPr>
        <p:spPr>
          <a:xfrm>
            <a:off x="1547813" y="792163"/>
            <a:ext cx="5473700" cy="1366837"/>
          </a:xfrm>
          <a:prstGeom prst="wedgeEllipseCallout">
            <a:avLst>
              <a:gd name="adj1" fmla="val 63428"/>
              <a:gd name="adj2" fmla="val -27756"/>
            </a:avLst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tx1"/>
            </a:outerShdw>
          </a:effec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urier New" panose="02070309020205020404" pitchFamily="49" charset="0"/>
              <a:ea typeface="楷体_GB2312" pitchFamily="49" charset="-122"/>
            </a:endParaRPr>
          </a:p>
        </p:txBody>
      </p:sp>
      <p:sp>
        <p:nvSpPr>
          <p:cNvPr id="157769" name="AutoShape 73"/>
          <p:cNvSpPr/>
          <p:nvPr/>
        </p:nvSpPr>
        <p:spPr>
          <a:xfrm>
            <a:off x="6804025" y="2159000"/>
            <a:ext cx="2339975" cy="2879725"/>
          </a:xfrm>
          <a:prstGeom prst="wedgeEllipseCallout">
            <a:avLst>
              <a:gd name="adj1" fmla="val 27884"/>
              <a:gd name="adj2" fmla="val -40847"/>
            </a:avLst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tx1"/>
            </a:outerShdw>
          </a:effec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urier New" panose="02070309020205020404" pitchFamily="49" charset="0"/>
              <a:ea typeface="楷体_GB2312" pitchFamily="49" charset="-122"/>
            </a:endParaRPr>
          </a:p>
        </p:txBody>
      </p:sp>
      <p:sp>
        <p:nvSpPr>
          <p:cNvPr id="51253" name="Text Box 80"/>
          <p:cNvSpPr txBox="1"/>
          <p:nvPr/>
        </p:nvSpPr>
        <p:spPr>
          <a:xfrm>
            <a:off x="323850" y="3311525"/>
            <a:ext cx="71913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urier New" panose="02070309020205020404" pitchFamily="49" charset="0"/>
                <a:ea typeface="宋体" panose="02010600030101010101" pitchFamily="2" charset="-122"/>
              </a:rPr>
              <a:t>a+1</a:t>
            </a:r>
          </a:p>
        </p:txBody>
      </p:sp>
      <p:sp>
        <p:nvSpPr>
          <p:cNvPr id="51254" name="Line 81"/>
          <p:cNvSpPr/>
          <p:nvPr/>
        </p:nvSpPr>
        <p:spPr>
          <a:xfrm>
            <a:off x="900113" y="3527425"/>
            <a:ext cx="576262" cy="1588"/>
          </a:xfrm>
          <a:prstGeom prst="line">
            <a:avLst/>
          </a:prstGeom>
          <a:ln w="412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1255" name="Text Box 83"/>
          <p:cNvSpPr txBox="1"/>
          <p:nvPr/>
        </p:nvSpPr>
        <p:spPr>
          <a:xfrm>
            <a:off x="323850" y="4030663"/>
            <a:ext cx="71913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Courier New" panose="02070309020205020404" pitchFamily="49" charset="0"/>
                <a:ea typeface="宋体" panose="02010600030101010101" pitchFamily="2" charset="-122"/>
              </a:rPr>
              <a:t>a+2</a:t>
            </a:r>
          </a:p>
        </p:txBody>
      </p:sp>
      <p:sp>
        <p:nvSpPr>
          <p:cNvPr id="51256" name="Line 84"/>
          <p:cNvSpPr/>
          <p:nvPr/>
        </p:nvSpPr>
        <p:spPr>
          <a:xfrm>
            <a:off x="900113" y="4246563"/>
            <a:ext cx="576262" cy="1587"/>
          </a:xfrm>
          <a:prstGeom prst="line">
            <a:avLst/>
          </a:prstGeom>
          <a:ln w="412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7781" name="AutoShape 85"/>
          <p:cNvSpPr/>
          <p:nvPr/>
        </p:nvSpPr>
        <p:spPr>
          <a:xfrm>
            <a:off x="0" y="4822825"/>
            <a:ext cx="7092950" cy="1366838"/>
          </a:xfrm>
          <a:prstGeom prst="wedgeEllipseCallout">
            <a:avLst>
              <a:gd name="adj1" fmla="val 55819"/>
              <a:gd name="adj2" fmla="val 40361"/>
            </a:avLst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tx1"/>
            </a:outerShdw>
          </a:effec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Courier New" panose="02070309020205020404" pitchFamily="49" charset="0"/>
              <a:ea typeface="楷体_GB2312" pitchFamily="49" charset="-122"/>
            </a:endParaRPr>
          </a:p>
        </p:txBody>
      </p:sp>
      <p:sp>
        <p:nvSpPr>
          <p:cNvPr id="78" name="日期占位符 77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96FDC47-601E-48F0-8D5A-64196D59ABA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2283" name="灯片编号占位符 78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6BFEC2-8EEC-404A-8530-3B263CF89FB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38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7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mph" presetSubtype="0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 rctx="PPT">
                                        <p:cTn id="22" dur="indefinite"/>
                                        <p:tgtEl>
                                          <p:spTgt spid="1577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3" dur="indefinite"/>
                                        <p:tgtEl>
                                          <p:spTgt spid="157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57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57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57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57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5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57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57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57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157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157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57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15" grpId="0"/>
      <p:bldP spid="157715" grpId="1"/>
      <p:bldP spid="157757" grpId="0"/>
      <p:bldP spid="157761" grpId="0"/>
      <p:bldP spid="157762" grpId="0"/>
      <p:bldP spid="157763" grpId="0" animBg="1"/>
      <p:bldP spid="157764" grpId="0" animBg="1"/>
      <p:bldP spid="157765" grpId="0" animBg="1"/>
      <p:bldP spid="157766" grpId="0" animBg="1"/>
      <p:bldP spid="157767" grpId="0" animBg="1"/>
      <p:bldP spid="157768" grpId="0" animBg="1"/>
      <p:bldP spid="157769" grpId="0" animBg="1"/>
      <p:bldP spid="15778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/>
          <p:cNvSpPr>
            <a:spLocks noGrp="1"/>
          </p:cNvSpPr>
          <p:nvPr>
            <p:ph idx="1"/>
          </p:nvPr>
        </p:nvSpPr>
        <p:spPr>
          <a:xfrm>
            <a:off x="808038" y="1700213"/>
            <a:ext cx="8305800" cy="4752975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-179705" eaLnBrk="1" hangingPunct="1">
              <a:lnSpc>
                <a:spcPct val="80000"/>
              </a:lnSpc>
              <a:buNone/>
            </a:pP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假设有如下数组定义语句： </a:t>
            </a:r>
            <a:r>
              <a:rPr lang="en-US" altLang="zh-CN" sz="2600" dirty="0"/>
              <a:t>int  a [i][j];</a:t>
            </a:r>
          </a:p>
          <a:p>
            <a:pPr marL="0" indent="-179705" eaLnBrk="1" hangingPunct="1">
              <a:lnSpc>
                <a:spcPct val="80000"/>
              </a:lnSpc>
              <a:buNone/>
            </a:pP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r>
              <a:rPr lang="zh-CN" altLang="en-US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数组名</a:t>
            </a:r>
            <a:r>
              <a:rPr lang="en-US" altLang="zh-CN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a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代表一个有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i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个元素数组的起始地址。其每个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-179705" eaLnBrk="1" hangingPunct="1">
              <a:lnSpc>
                <a:spcPct val="80000"/>
              </a:lnSpc>
              <a:buNone/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     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元素又是一个含有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j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个元素的一维数组。</a:t>
            </a:r>
          </a:p>
          <a:p>
            <a:pPr marL="0" indent="-179705" eaLnBrk="1" hangingPunct="1">
              <a:lnSpc>
                <a:spcPct val="80000"/>
              </a:lnSpc>
              <a:buNone/>
            </a:pPr>
            <a:r>
              <a:rPr lang="zh-CN" altLang="en-US" sz="2600" dirty="0"/>
              <a:t>          </a:t>
            </a:r>
            <a:r>
              <a:rPr lang="en-US" altLang="zh-CN" sz="2600" dirty="0">
                <a:solidFill>
                  <a:srgbClr val="FF0000"/>
                </a:solidFill>
              </a:rPr>
              <a:t>a+i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：指向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维数组的第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i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行</a:t>
            </a:r>
            <a:r>
              <a:rPr lang="zh-CN" altLang="en-US" sz="2600" dirty="0"/>
              <a:t>。</a:t>
            </a:r>
          </a:p>
          <a:p>
            <a:pPr marL="0" indent="-179705" eaLnBrk="1" hangingPunct="1">
              <a:lnSpc>
                <a:spcPct val="80000"/>
              </a:lnSpc>
              <a:buNone/>
            </a:pPr>
            <a:r>
              <a:rPr lang="zh-CN" altLang="en-US" sz="2600" dirty="0"/>
              <a:t>         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因此，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a,a+0,a+1,a+2…..,a+j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为行地址。</a:t>
            </a:r>
            <a:b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</a:br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-179705" eaLnBrk="1" hangingPunct="1">
              <a:lnSpc>
                <a:spcPct val="80000"/>
              </a:lnSpc>
              <a:buNone/>
            </a:pPr>
            <a:r>
              <a:rPr lang="zh-CN" altLang="en-US" sz="2600" dirty="0"/>
              <a:t>   </a:t>
            </a:r>
            <a:r>
              <a:rPr lang="zh-CN" altLang="en-US" sz="2600" dirty="0">
                <a:solidFill>
                  <a:srgbClr val="7030A0"/>
                </a:solidFill>
              </a:rPr>
              <a:t>*</a:t>
            </a:r>
            <a:r>
              <a:rPr lang="en-US" altLang="zh-CN" sz="2600" dirty="0">
                <a:solidFill>
                  <a:srgbClr val="7030A0"/>
                </a:solidFill>
              </a:rPr>
              <a:t>(a+i)</a:t>
            </a:r>
            <a:r>
              <a:rPr lang="zh-CN" altLang="en-US" sz="2600" dirty="0">
                <a:solidFill>
                  <a:srgbClr val="7030A0"/>
                </a:solidFill>
              </a:rPr>
              <a:t>：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（列）地址值，指向第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i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行第０列（控制由行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-179705" eaLnBrk="1" hangingPunct="1">
              <a:lnSpc>
                <a:spcPct val="80000"/>
              </a:lnSpc>
              <a:buNone/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          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转为列，但仍为地址）。</a:t>
            </a:r>
            <a:b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</a:br>
            <a:r>
              <a:rPr lang="zh-CN" altLang="en-US" sz="2600" dirty="0"/>
              <a:t>          </a:t>
            </a:r>
          </a:p>
          <a:p>
            <a:pPr marL="0" indent="-179705" eaLnBrk="1" hangingPunct="1">
              <a:lnSpc>
                <a:spcPct val="80000"/>
              </a:lnSpc>
              <a:buNone/>
            </a:pPr>
            <a:r>
              <a:rPr lang="zh-CN" altLang="en-US" sz="2600" dirty="0"/>
              <a:t>   </a:t>
            </a:r>
            <a:r>
              <a:rPr lang="zh-CN" altLang="en-US" sz="2600" dirty="0">
                <a:solidFill>
                  <a:srgbClr val="0070C0"/>
                </a:solidFill>
              </a:rPr>
              <a:t>*</a:t>
            </a:r>
            <a:r>
              <a:rPr lang="en-US" altLang="zh-CN" sz="2600" dirty="0">
                <a:solidFill>
                  <a:srgbClr val="0070C0"/>
                </a:solidFill>
              </a:rPr>
              <a:t>(*(a+i))</a:t>
            </a:r>
            <a:r>
              <a:rPr lang="zh-CN" altLang="en-US" sz="2600" dirty="0">
                <a:solidFill>
                  <a:srgbClr val="0070C0"/>
                </a:solidFill>
              </a:rPr>
              <a:t>：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数组元素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a [i][0]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的值。</a:t>
            </a:r>
            <a:b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</a:b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            用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a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访问数组元素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a [i][j]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的格式：</a:t>
            </a:r>
          </a:p>
          <a:p>
            <a:pPr marL="0" indent="-179705" eaLnBrk="1" hangingPunct="1">
              <a:lnSpc>
                <a:spcPct val="80000"/>
              </a:lnSpc>
              <a:buNone/>
            </a:pP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            *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(*(a+i)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＋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j)</a:t>
            </a:r>
          </a:p>
          <a:p>
            <a:pPr marL="0" indent="-179705" eaLnBrk="1" hangingPunct="1">
              <a:lnSpc>
                <a:spcPct val="80000"/>
              </a:lnSpc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注意：行地址是一个２级地址。</a:t>
            </a: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2D696D6-5E1D-42D4-ACCD-95A115B294B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3252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B5F499-05C0-4116-AE59-50C39105E1E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39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2988" y="1125538"/>
            <a:ext cx="4572000" cy="4365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-1797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1. 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二维数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组的地址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6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65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65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655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55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55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3" name="Rectangle 3"/>
          <p:cNvSpPr>
            <a:spLocks noGrp="1"/>
          </p:cNvSpPr>
          <p:nvPr>
            <p:ph idx="1"/>
          </p:nvPr>
        </p:nvSpPr>
        <p:spPr>
          <a:xfrm>
            <a:off x="323850" y="1773238"/>
            <a:ext cx="8540750" cy="4175125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）从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维数组角度看，数组名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a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和第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维下标的每一个值， 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buNone/>
            </a:pP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共同构成一组新的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维数组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a[0]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24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a[1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]……</a:t>
            </a:r>
            <a:r>
              <a:rPr lang="en-US" altLang="zh-CN" sz="24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a[</a:t>
            </a:r>
            <a:r>
              <a:rPr lang="en-US" altLang="zh-CN" sz="2400" b="1" dirty="0" err="1" smtClean="0">
                <a:latin typeface="仿宋" panose="02010609060101010101" pitchFamily="49" charset="-122"/>
                <a:ea typeface="仿宋" panose="02010609060101010101" pitchFamily="49" charset="-122"/>
              </a:rPr>
              <a:t>i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]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，它们均由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j</a:t>
            </a:r>
          </a:p>
          <a:p>
            <a:pPr eaLnBrk="1" hangingPunct="1">
              <a:buNone/>
            </a:pP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个元素组成。</a:t>
            </a:r>
          </a:p>
          <a:p>
            <a:pPr eaLnBrk="1" hangingPunct="1">
              <a:buNone/>
            </a:pPr>
            <a:endParaRPr lang="en-US" altLang="zh-CN" dirty="0"/>
          </a:p>
          <a:p>
            <a:pPr eaLnBrk="1" hangingPunct="1">
              <a:buNone/>
            </a:pPr>
            <a:r>
              <a:rPr lang="zh-CN" altLang="en-US" dirty="0"/>
              <a:t> 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Ｃ语言规定：数组名代表数组的地址，所以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a[i]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是第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i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行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维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buNone/>
            </a:pP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数组的地址， 它指向该行的第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0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列元素，是一个以数组元素为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buNone/>
            </a:pP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单位进行控制的列地址：</a:t>
            </a:r>
          </a:p>
          <a:p>
            <a:pPr eaLnBrk="1" hangingPunct="1">
              <a:buNone/>
            </a:pP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   </a:t>
            </a:r>
            <a:r>
              <a:rPr lang="en-US" altLang="zh-CN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a[i]+j</a:t>
            </a:r>
            <a:r>
              <a:rPr lang="zh-CN" altLang="en-US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（列）指针值，指向数组元素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a [i][j]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*(a[i]+j)</a:t>
            </a:r>
            <a:r>
              <a:rPr lang="zh-CN" altLang="en-US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： 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数组元素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a[i][j]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的值。</a:t>
            </a:r>
          </a:p>
          <a:p>
            <a:pPr eaLnBrk="1" hangingPunct="1"/>
            <a:endParaRPr lang="en-US" altLang="zh-CN" dirty="0"/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DD2C16-5F6B-4607-94A2-01726A7FF40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4276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5137F8-246D-489D-A45B-0AB4E7138E66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40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42988" y="1125538"/>
            <a:ext cx="4572000" cy="4365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-1797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1. 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二维数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组的地址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5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58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58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8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8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8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8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755650" y="1628775"/>
            <a:ext cx="7772400" cy="31162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a.</a:t>
            </a:r>
            <a:r>
              <a:rPr lang="zh-CN" altLang="en-US" sz="28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指向元素的指针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-17970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如果有“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array[3][4],*p=array[0]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；”，则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p+1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指向下一个元素。</a:t>
            </a:r>
          </a:p>
          <a:p>
            <a:pPr marL="0" marR="0" lvl="0" indent="-17970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用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p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作指针访问数组元素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array[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][j]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的格式：</a:t>
            </a:r>
          </a:p>
          <a:p>
            <a:pPr marL="0" marR="0" lvl="0" indent="-17970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      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*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(p+(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ｉ*每行列数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+j) )</a:t>
            </a:r>
          </a:p>
          <a:p>
            <a:pPr marL="0" marR="0" lvl="0" indent="-17970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6C5DA8-DC72-4348-8791-216847DDEB6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5300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F9EE391-406F-4ACB-AE85-D471A926C47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41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15616" y="1124744"/>
            <a:ext cx="4752255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-179705" eaLnBrk="1" hangingPunct="1">
              <a:lnSpc>
                <a:spcPct val="80000"/>
              </a:lnSpc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800" b="1" kern="0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2.  </a:t>
            </a:r>
            <a:r>
              <a:rPr lang="zh-CN" altLang="en-US" sz="2800" b="1" kern="0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二维数</a:t>
            </a:r>
            <a:r>
              <a:rPr lang="zh-CN" altLang="en-US" sz="2800" b="1" kern="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组</a:t>
            </a:r>
            <a:r>
              <a:rPr lang="zh-CN" altLang="en-US" sz="2800" b="1" kern="0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的指针</a:t>
            </a:r>
            <a:endParaRPr lang="en-US" altLang="zh-CN" sz="2800" b="1" kern="0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2431618"/>
            <a:ext cx="8229600" cy="3772569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-17970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(1)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定义格式</a:t>
            </a:r>
          </a:p>
          <a:p>
            <a:pPr marL="0" marR="0" lvl="0" indent="-17970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   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数据类型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(*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指针变量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)[n];</a:t>
            </a:r>
          </a:p>
          <a:p>
            <a:pPr marL="0" marR="0" lvl="0" indent="-17970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600" b="1" i="1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注意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：“*指针变量”外的括号不能缺，否则成了指针数组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——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数组的每个元素都是一个指针──指针数组。</a:t>
            </a:r>
          </a:p>
          <a:p>
            <a:pPr marL="0" marR="0" lvl="0" indent="-17970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-17970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(2)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赋值</a:t>
            </a:r>
          </a:p>
          <a:p>
            <a:pPr marL="0" marR="0" lvl="0" indent="-17970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行指针变量 ＝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2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维数组名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|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行指针变量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;</a:t>
            </a:r>
          </a:p>
          <a:p>
            <a:pPr marL="0" marR="0" lvl="0" indent="-17970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51C9B2A-3B3B-44F8-A2E5-E4AAEC14C93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6325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91C9C8E-265D-49C1-86E9-0448150359C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42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96008" y="1628800"/>
            <a:ext cx="7848600" cy="90486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-179705" eaLnBrk="1" hangingPunct="1">
              <a:spcBef>
                <a:spcPct val="20000"/>
              </a:spcBef>
              <a:buClr>
                <a:srgbClr val="CC9900"/>
              </a:buClr>
              <a:buSzPct val="60000"/>
              <a:defRPr/>
            </a:pPr>
            <a:r>
              <a:rPr lang="en-US" altLang="zh-CN" sz="24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b.</a:t>
            </a:r>
            <a:r>
              <a:rPr lang="zh-CN" altLang="en-US" sz="24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指向行的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指针</a:t>
            </a:r>
            <a:r>
              <a:rPr lang="en-US" altLang="zh-CN" sz="2400" kern="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  <a:p>
            <a:pPr marL="0" marR="0" lvl="0" indent="-17970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──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指向由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n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个元素组成的一维数组的指针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15616" y="1124744"/>
            <a:ext cx="4752255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-179705" eaLnBrk="1" hangingPunct="1">
              <a:lnSpc>
                <a:spcPct val="80000"/>
              </a:lnSpc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800" b="1" kern="0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2.  </a:t>
            </a:r>
            <a:r>
              <a:rPr lang="zh-CN" altLang="en-US" sz="2800" b="1" kern="0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二维数</a:t>
            </a:r>
            <a:r>
              <a:rPr lang="zh-CN" altLang="en-US" sz="2800" b="1" kern="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组</a:t>
            </a:r>
            <a:r>
              <a:rPr lang="zh-CN" altLang="en-US" sz="2800" b="1" kern="0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的指针</a:t>
            </a:r>
            <a:endParaRPr lang="en-US" altLang="zh-CN" sz="2800" b="1" kern="0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628775"/>
            <a:ext cx="8134350" cy="46799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-17970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 使用行指针</a:t>
            </a:r>
          </a:p>
          <a:p>
            <a:pPr marL="0" marR="0" lvl="0" indent="-17970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/*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程序功能：使用行指针输出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维数组的任一元素*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 main(){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int a [3][4]={{1,2,3,4},{5,6,7,8},{9,10,11,12}};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int (*pointer)[4], row, col;		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pointer=a;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(“Input row = ”);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(“%d”, &amp;row);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(“Input col = ”);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(“%d”, &amp;col);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(“a [%d][%d]=%d\n”,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row,col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,*(*(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pointer+row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)+col));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return 0;  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  <a:p>
            <a:pPr marL="0" marR="0" lvl="0" indent="-17970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5778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089C33F-A870-491E-BE8F-256998C0AC8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7348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2BFD23C-1EA0-4FC8-8664-C90C7E8D02F6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43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300163" y="765175"/>
            <a:ext cx="7272338" cy="904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-17970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[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5.6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]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使用行指针和列指针两种方式输出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华文新魏" panose="02010800040101010101" pitchFamily="2" charset="-122"/>
              <a:cs typeface="+mn-cs"/>
            </a:endParaRPr>
          </a:p>
          <a:p>
            <a:pPr marL="0" marR="0" lvl="0" indent="-17970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2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维数组的任一元素。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9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9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9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696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696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7" name="Rectangle 3"/>
          <p:cNvSpPr>
            <a:spLocks noGrp="1"/>
          </p:cNvSpPr>
          <p:nvPr>
            <p:ph idx="1"/>
          </p:nvPr>
        </p:nvSpPr>
        <p:spPr>
          <a:xfrm>
            <a:off x="720725" y="1916113"/>
            <a:ext cx="7561263" cy="3384550"/>
          </a:xfrm>
          <a:ln/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100" dirty="0"/>
              <a:t>程序运行情况：</a:t>
            </a: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100" dirty="0"/>
              <a:t>    </a:t>
            </a:r>
            <a:r>
              <a:rPr lang="en-US" altLang="zh-CN" sz="2100" dirty="0"/>
              <a:t>Input row = 1←┘</a:t>
            </a: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100" dirty="0"/>
              <a:t>    Input col = 2←┘</a:t>
            </a: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100" dirty="0"/>
              <a:t>    a [1][2] = 7</a:t>
            </a:r>
          </a:p>
          <a:p>
            <a:pPr algn="just" eaLnBrk="1" hangingPunct="1">
              <a:lnSpc>
                <a:spcPct val="90000"/>
              </a:lnSpc>
              <a:buNone/>
            </a:pPr>
            <a:endParaRPr lang="en-US" altLang="zh-CN" sz="2100" dirty="0"/>
          </a:p>
          <a:p>
            <a:pPr algn="just" eaLnBrk="1" hangingPunct="1">
              <a:lnSpc>
                <a:spcPct val="90000"/>
              </a:lnSpc>
              <a:buClr>
                <a:srgbClr val="CC9900"/>
              </a:buClr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思考题：</a:t>
            </a:r>
            <a:endParaRPr lang="en-US" altLang="zh-CN" sz="2400" b="1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just" eaLnBrk="1" hangingPunct="1">
              <a:lnSpc>
                <a:spcPct val="90000"/>
              </a:lnSpc>
              <a:buClr>
                <a:srgbClr val="CC9900"/>
              </a:buClr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1.</a:t>
            </a:r>
            <a:r>
              <a:rPr lang="zh-CN" altLang="en-US" sz="24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本题也可以直接使用数组名</a:t>
            </a:r>
            <a:r>
              <a:rPr lang="en-US" altLang="zh-CN" sz="24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作指针值，应如何修改？</a:t>
            </a:r>
          </a:p>
          <a:p>
            <a:pPr algn="just" eaLnBrk="1" hangingPunct="1">
              <a:lnSpc>
                <a:spcPct val="90000"/>
              </a:lnSpc>
              <a:buNone/>
            </a:pPr>
            <a:endParaRPr lang="en-US" altLang="zh-CN" sz="2100" dirty="0"/>
          </a:p>
          <a:p>
            <a:pPr algn="just" eaLnBrk="1" hangingPunct="1">
              <a:lnSpc>
                <a:spcPct val="90000"/>
              </a:lnSpc>
              <a:buNone/>
            </a:pPr>
            <a:endParaRPr lang="zh-CN" altLang="en-US" sz="2100" dirty="0"/>
          </a:p>
          <a:p>
            <a:pPr eaLnBrk="1" hangingPunct="1">
              <a:lnSpc>
                <a:spcPct val="90000"/>
              </a:lnSpc>
            </a:pPr>
            <a:endParaRPr lang="en-US" altLang="zh-CN" sz="2100" dirty="0"/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68075D-B137-4928-A787-150CE454638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8372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D56ADA9-B131-4762-A2EF-C09CCB69F2A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44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15616" y="1124744"/>
            <a:ext cx="4752255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-179705" eaLnBrk="1" hangingPunct="1">
              <a:lnSpc>
                <a:spcPct val="80000"/>
              </a:lnSpc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800" b="1" kern="0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2.  </a:t>
            </a:r>
            <a:r>
              <a:rPr lang="zh-CN" altLang="en-US" sz="2800" b="1" kern="0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二维数</a:t>
            </a:r>
            <a:r>
              <a:rPr lang="zh-CN" altLang="en-US" sz="2800" b="1" kern="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组</a:t>
            </a:r>
            <a:r>
              <a:rPr lang="zh-CN" altLang="en-US" sz="2800" b="1" kern="0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的指针</a:t>
            </a:r>
            <a:endParaRPr lang="en-US" altLang="zh-CN" sz="2800" b="1" kern="0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9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9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9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9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9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9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9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773238"/>
            <a:ext cx="9144000" cy="43195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-17970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2.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若最后一句为：</a:t>
            </a:r>
          </a:p>
          <a:p>
            <a:pPr marL="0" marR="0" lvl="0" indent="-17970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("a [%d][%d]=%d\n",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row,col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,*(*(pointer+=row)+col));</a:t>
            </a:r>
          </a:p>
          <a:p>
            <a:pPr marL="0" marR="0" lvl="0" indent="-17970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此处的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pointer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是否可以用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来替换？</a:t>
            </a:r>
          </a:p>
          <a:p>
            <a:pPr marL="0" marR="0" lvl="0" indent="-17970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17970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3.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最后一句可否改为：</a:t>
            </a:r>
          </a:p>
          <a:p>
            <a:pPr marL="0" marR="0" lvl="0" indent="-17970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-17970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("a[%d][%d]=%d\n",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row,col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,*(pointer=*(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pointer+row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)+col));</a:t>
            </a:r>
          </a:p>
          <a:p>
            <a:pPr marL="0" marR="0" lvl="0" indent="-17970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-17970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("a[%d][%d]=%d\n",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row,col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,*(*pointer=*(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pointer+row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)+col));</a:t>
            </a:r>
          </a:p>
          <a:p>
            <a:pPr marL="0" marR="0" lvl="0" indent="-17970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28765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28765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28765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</a:t>
            </a: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9FD0B46-8007-4E87-BC48-45CF5970983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9396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62CBF97-CCC2-4699-8372-B7F8925675F9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45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15616" y="1124744"/>
            <a:ext cx="4752255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-179705" eaLnBrk="1" hangingPunct="1">
              <a:lnSpc>
                <a:spcPct val="80000"/>
              </a:lnSpc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800" b="1" kern="0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2.  </a:t>
            </a:r>
            <a:r>
              <a:rPr lang="zh-CN" altLang="en-US" sz="2800" b="1" kern="0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二维数</a:t>
            </a:r>
            <a:r>
              <a:rPr lang="zh-CN" altLang="en-US" sz="2800" b="1" kern="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组</a:t>
            </a:r>
            <a:r>
              <a:rPr lang="zh-CN" altLang="en-US" sz="2800" b="1" kern="0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的指针</a:t>
            </a:r>
            <a:endParaRPr lang="en-US" altLang="zh-CN" sz="2800" b="1" kern="0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1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1" name="Rectangle 3"/>
          <p:cNvSpPr>
            <a:spLocks noGrp="1"/>
          </p:cNvSpPr>
          <p:nvPr>
            <p:ph idx="1"/>
          </p:nvPr>
        </p:nvSpPr>
        <p:spPr>
          <a:xfrm>
            <a:off x="304710" y="2132856"/>
            <a:ext cx="8540750" cy="4398963"/>
          </a:xfrm>
          <a:ln/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buNone/>
            </a:pPr>
            <a:r>
              <a:rPr lang="en-US" altLang="zh-CN" sz="2400" b="1" i="1" dirty="0">
                <a:solidFill>
                  <a:srgbClr val="0070C0"/>
                </a:solidFill>
              </a:rPr>
              <a:t>/*</a:t>
            </a:r>
            <a:r>
              <a:rPr lang="zh-CN" altLang="en-US" sz="2400" b="1" i="1" dirty="0">
                <a:solidFill>
                  <a:srgbClr val="0070C0"/>
                </a:solidFill>
              </a:rPr>
              <a:t>程序功能：使用列地址输出</a:t>
            </a:r>
            <a:r>
              <a:rPr lang="en-US" altLang="zh-CN" sz="2400" b="1" i="1" dirty="0">
                <a:solidFill>
                  <a:srgbClr val="0070C0"/>
                </a:solidFill>
              </a:rPr>
              <a:t>2</a:t>
            </a:r>
            <a:r>
              <a:rPr lang="zh-CN" altLang="en-US" sz="2400" b="1" i="1" dirty="0">
                <a:solidFill>
                  <a:srgbClr val="0070C0"/>
                </a:solidFill>
              </a:rPr>
              <a:t>维数组的任一元素*</a:t>
            </a:r>
            <a:r>
              <a:rPr lang="en-US" altLang="zh-CN" sz="2400" b="1" i="1" dirty="0">
                <a:solidFill>
                  <a:srgbClr val="0070C0"/>
                </a:solidFill>
              </a:rPr>
              <a:t>/</a:t>
            </a:r>
          </a:p>
          <a:p>
            <a:pPr algn="just" eaLnBrk="1" hangingPunct="1">
              <a:buNone/>
            </a:pPr>
            <a:r>
              <a:rPr lang="en-US" altLang="zh-CN" sz="2400" dirty="0"/>
              <a:t>int main(){</a:t>
            </a:r>
          </a:p>
          <a:p>
            <a:pPr algn="just" eaLnBrk="1" hangingPunct="1">
              <a:buNone/>
            </a:pPr>
            <a:r>
              <a:rPr lang="en-US" altLang="zh-CN" sz="2400" dirty="0"/>
              <a:t>      int a[3][4]={{1,2,3,4},{5,6,7,8},{9,10,11,12}};</a:t>
            </a:r>
          </a:p>
          <a:p>
            <a:pPr algn="just" eaLnBrk="1" hangingPunct="1">
              <a:buNone/>
            </a:pPr>
            <a:r>
              <a:rPr lang="en-US" altLang="zh-CN" sz="2400" dirty="0"/>
              <a:t>      int *pointer, row, col; 	</a:t>
            </a:r>
            <a:r>
              <a:rPr lang="en-US" altLang="zh-CN" sz="2400" b="1" i="1" dirty="0">
                <a:solidFill>
                  <a:srgbClr val="0070C0"/>
                </a:solidFill>
              </a:rPr>
              <a:t>/*</a:t>
            </a:r>
            <a:r>
              <a:rPr lang="zh-CN" altLang="en-US" sz="2400" b="1" i="1" dirty="0">
                <a:solidFill>
                  <a:srgbClr val="0070C0"/>
                </a:solidFill>
              </a:rPr>
              <a:t>定义一个</a:t>
            </a:r>
            <a:r>
              <a:rPr lang="en-US" altLang="zh-CN" sz="2400" b="1" i="1" dirty="0">
                <a:solidFill>
                  <a:srgbClr val="0070C0"/>
                </a:solidFill>
              </a:rPr>
              <a:t>(</a:t>
            </a:r>
            <a:r>
              <a:rPr lang="zh-CN" altLang="en-US" sz="2400" b="1" i="1" dirty="0">
                <a:solidFill>
                  <a:srgbClr val="0070C0"/>
                </a:solidFill>
              </a:rPr>
              <a:t>列</a:t>
            </a:r>
            <a:r>
              <a:rPr lang="en-US" altLang="zh-CN" sz="2400" b="1" i="1" dirty="0">
                <a:solidFill>
                  <a:srgbClr val="0070C0"/>
                </a:solidFill>
              </a:rPr>
              <a:t>)</a:t>
            </a:r>
            <a:r>
              <a:rPr lang="zh-CN" altLang="en-US" sz="2400" b="1" i="1" dirty="0">
                <a:solidFill>
                  <a:srgbClr val="0070C0"/>
                </a:solidFill>
              </a:rPr>
              <a:t>指针变量</a:t>
            </a:r>
            <a:r>
              <a:rPr lang="en-US" altLang="zh-CN" sz="2400" b="1" i="1" dirty="0">
                <a:solidFill>
                  <a:srgbClr val="0070C0"/>
                </a:solidFill>
              </a:rPr>
              <a:t>pointer*/</a:t>
            </a:r>
          </a:p>
          <a:p>
            <a:pPr algn="just" eaLnBrk="1" hangingPunct="1">
              <a:buNone/>
            </a:pPr>
            <a:r>
              <a:rPr lang="en-US" altLang="zh-CN" sz="2400" dirty="0"/>
              <a:t>      pointer=a[0]; 	</a:t>
            </a:r>
            <a:r>
              <a:rPr lang="en-US" altLang="zh-CN" sz="2400" b="1" i="1" dirty="0">
                <a:solidFill>
                  <a:srgbClr val="0070C0"/>
                </a:solidFill>
              </a:rPr>
              <a:t>           /*</a:t>
            </a:r>
            <a:r>
              <a:rPr lang="zh-CN" altLang="en-US" sz="2400" b="1" i="1" dirty="0">
                <a:solidFill>
                  <a:srgbClr val="0070C0"/>
                </a:solidFill>
              </a:rPr>
              <a:t>给</a:t>
            </a:r>
            <a:r>
              <a:rPr lang="en-US" altLang="zh-CN" sz="2400" b="1" i="1" dirty="0">
                <a:solidFill>
                  <a:srgbClr val="0070C0"/>
                </a:solidFill>
              </a:rPr>
              <a:t>(</a:t>
            </a:r>
            <a:r>
              <a:rPr lang="zh-CN" altLang="en-US" sz="2400" b="1" i="1" dirty="0">
                <a:solidFill>
                  <a:srgbClr val="0070C0"/>
                </a:solidFill>
              </a:rPr>
              <a:t>列</a:t>
            </a:r>
            <a:r>
              <a:rPr lang="en-US" altLang="zh-CN" sz="2400" b="1" i="1" dirty="0">
                <a:solidFill>
                  <a:srgbClr val="0070C0"/>
                </a:solidFill>
              </a:rPr>
              <a:t>)</a:t>
            </a:r>
            <a:r>
              <a:rPr lang="zh-CN" altLang="en-US" sz="2400" b="1" i="1" dirty="0">
                <a:solidFill>
                  <a:srgbClr val="0070C0"/>
                </a:solidFill>
              </a:rPr>
              <a:t>指针变量</a:t>
            </a:r>
            <a:r>
              <a:rPr lang="en-US" altLang="zh-CN" sz="2400" b="1" i="1" dirty="0">
                <a:solidFill>
                  <a:srgbClr val="0070C0"/>
                </a:solidFill>
              </a:rPr>
              <a:t>pointer</a:t>
            </a:r>
            <a:r>
              <a:rPr lang="zh-CN" altLang="en-US" sz="2400" b="1" i="1" dirty="0">
                <a:solidFill>
                  <a:srgbClr val="0070C0"/>
                </a:solidFill>
              </a:rPr>
              <a:t>赋值*</a:t>
            </a:r>
            <a:r>
              <a:rPr lang="en-US" altLang="zh-CN" sz="2400" b="1" i="1" dirty="0">
                <a:solidFill>
                  <a:srgbClr val="0070C0"/>
                </a:solidFill>
              </a:rPr>
              <a:t>/</a:t>
            </a:r>
          </a:p>
          <a:p>
            <a:pPr algn="just" eaLnBrk="1" hangingPunct="1">
              <a:buNone/>
            </a:pPr>
            <a:r>
              <a:rPr lang="en-US" altLang="zh-CN" sz="2400" dirty="0"/>
              <a:t>      printf(“Input row = ”); scanf(“%d”,&amp;row);</a:t>
            </a:r>
          </a:p>
          <a:p>
            <a:pPr algn="just" eaLnBrk="1" hangingPunct="1">
              <a:buNone/>
            </a:pPr>
            <a:r>
              <a:rPr lang="en-US" altLang="zh-CN" sz="2400" dirty="0"/>
              <a:t>      printf(“Input col = ”); scanf(“%d”,&amp;col);</a:t>
            </a:r>
          </a:p>
          <a:p>
            <a:pPr algn="just" eaLnBrk="1" hangingPunct="1">
              <a:buNone/>
            </a:pPr>
            <a:r>
              <a:rPr lang="en-US" altLang="zh-CN" sz="2400" dirty="0"/>
              <a:t>      printf(“a[%d][%d]= %d\n”, row, col, *(pointer+(row*4+col)));</a:t>
            </a:r>
          </a:p>
          <a:p>
            <a:pPr algn="just" eaLnBrk="1" hangingPunct="1">
              <a:buNone/>
            </a:pPr>
            <a:r>
              <a:rPr lang="en-US" altLang="zh-CN" sz="2400" dirty="0"/>
              <a:t>      return 0; </a:t>
            </a:r>
          </a:p>
          <a:p>
            <a:pPr algn="just" eaLnBrk="1" hangingPunct="1">
              <a:buNone/>
            </a:pPr>
            <a:r>
              <a:rPr lang="en-US" altLang="zh-CN" sz="2400" dirty="0"/>
              <a:t>}				</a:t>
            </a: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E87BCF6-833D-4013-A119-03B9EC2F668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0420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69FF0A2-C1E6-43B6-871B-80DB6E611371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46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8" name="矩形 1"/>
          <p:cNvSpPr/>
          <p:nvPr/>
        </p:nvSpPr>
        <p:spPr>
          <a:xfrm>
            <a:off x="734761" y="1680424"/>
            <a:ext cx="2505814" cy="9048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342900" lvl="0" indent="-342900" algn="just" eaLnBrk="1" hangingPunct="1"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zh-CN" altLang="en-US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）使用</a:t>
            </a:r>
            <a:r>
              <a:rPr lang="zh-CN" altLang="en-US" sz="2400" b="1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列</a:t>
            </a:r>
            <a:r>
              <a:rPr lang="zh-CN" altLang="en-US" sz="2400" b="1" kern="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指针</a:t>
            </a:r>
          </a:p>
          <a:p>
            <a:pPr marL="342900" indent="-342900" algn="just" eaLnBrk="1" hangingPunct="1">
              <a:spcBef>
                <a:spcPct val="20000"/>
              </a:spcBef>
              <a:buClr>
                <a:srgbClr val="3333CC"/>
              </a:buClr>
              <a:buSzPct val="60000"/>
            </a:pPr>
            <a:endParaRPr lang="zh-CN" altLang="en-US" sz="2400" b="1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15616" y="1124744"/>
            <a:ext cx="4752255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-179705" eaLnBrk="1" hangingPunct="1">
              <a:lnSpc>
                <a:spcPct val="80000"/>
              </a:lnSpc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800" b="1" kern="0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2.  </a:t>
            </a:r>
            <a:r>
              <a:rPr lang="zh-CN" altLang="en-US" sz="2800" b="1" kern="0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二维数</a:t>
            </a:r>
            <a:r>
              <a:rPr lang="zh-CN" altLang="en-US" sz="2800" b="1" kern="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组</a:t>
            </a:r>
            <a:r>
              <a:rPr lang="zh-CN" altLang="en-US" sz="2800" b="1" kern="0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的指针</a:t>
            </a:r>
            <a:endParaRPr lang="en-US" altLang="zh-CN" sz="2800" b="1" kern="0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60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160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0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0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0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0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60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60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60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7" name="Rectangle 3"/>
          <p:cNvSpPr>
            <a:spLocks noGrp="1" noChangeArrowheads="1"/>
          </p:cNvSpPr>
          <p:nvPr>
            <p:ph idx="1"/>
          </p:nvPr>
        </p:nvSpPr>
        <p:spPr>
          <a:xfrm>
            <a:off x="827584" y="1706563"/>
            <a:ext cx="5113338" cy="5603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指向二维数组元素的指针变量</a:t>
            </a:r>
          </a:p>
        </p:txBody>
      </p:sp>
      <p:sp>
        <p:nvSpPr>
          <p:cNvPr id="164868" name="Rectangle 4"/>
          <p:cNvSpPr>
            <a:spLocks noChangeArrowheads="1"/>
          </p:cNvSpPr>
          <p:nvPr/>
        </p:nvSpPr>
        <p:spPr bwMode="auto">
          <a:xfrm>
            <a:off x="725488" y="1706563"/>
            <a:ext cx="7273925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使用指向元素的指针变量访问二维数组元素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char a[M][N];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char *p=a[0];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// p=*a;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则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p[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N+j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]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、*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p+i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N+j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a[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][j]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表示二维数组第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i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j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列的元素</a:t>
            </a:r>
          </a:p>
        </p:txBody>
      </p:sp>
      <p:sp>
        <p:nvSpPr>
          <p:cNvPr id="6" name="日期占位符 5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5CF2E56-60C5-4155-9374-E1714BAB2E53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1445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7414F47-4881-4171-86B5-0AA0597F387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47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15616" y="1124744"/>
            <a:ext cx="4752255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-179705" eaLnBrk="1" hangingPunct="1">
              <a:lnSpc>
                <a:spcPct val="80000"/>
              </a:lnSpc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800" b="1" kern="0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2.  </a:t>
            </a:r>
            <a:r>
              <a:rPr lang="zh-CN" altLang="en-US" sz="2800" b="1" kern="0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二维数</a:t>
            </a:r>
            <a:r>
              <a:rPr lang="zh-CN" altLang="en-US" sz="2800" b="1" kern="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组</a:t>
            </a:r>
            <a:r>
              <a:rPr lang="zh-CN" altLang="en-US" sz="2800" b="1" kern="0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的指针</a:t>
            </a:r>
            <a:endParaRPr lang="en-US" altLang="zh-CN" sz="2800" b="1" kern="0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648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1648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1648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648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648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Rectangle 3"/>
          <p:cNvSpPr>
            <a:spLocks noGrp="1" noChangeArrowheads="1"/>
          </p:cNvSpPr>
          <p:nvPr>
            <p:ph idx="1"/>
          </p:nvPr>
        </p:nvSpPr>
        <p:spPr>
          <a:xfrm>
            <a:off x="782344" y="1713562"/>
            <a:ext cx="5256213" cy="5032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指向二维数组的行的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指针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</p:txBody>
      </p:sp>
      <p:sp>
        <p:nvSpPr>
          <p:cNvPr id="163844" name="Rectangle 4"/>
          <p:cNvSpPr>
            <a:spLocks noChangeArrowheads="1"/>
          </p:cNvSpPr>
          <p:nvPr/>
        </p:nvSpPr>
        <p:spPr bwMode="auto">
          <a:xfrm>
            <a:off x="495790" y="2204864"/>
            <a:ext cx="8137525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二维数组的行地址是基类型为一维数组的地址可以使用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二维数组指向行的指针变量访问二维数组元素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int a[M][N];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int (*p)[N]=a;              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// p=a;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则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p[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]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、*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p+i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a[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]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表示数组的第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i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行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且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p[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][j]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、*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(*(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p+i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)+j)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、*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(p[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]+j)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、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(*(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p+i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))[j]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表示二维数组第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i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j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列的元素</a:t>
            </a:r>
          </a:p>
        </p:txBody>
      </p:sp>
      <p:sp>
        <p:nvSpPr>
          <p:cNvPr id="6" name="日期占位符 5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2B938C-E0BD-4FAA-813C-C2A99810CC23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2469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B0F839D-AB11-40C3-8226-3542078B4856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48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15616" y="1124744"/>
            <a:ext cx="4752255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-179705" eaLnBrk="1" hangingPunct="1">
              <a:lnSpc>
                <a:spcPct val="80000"/>
              </a:lnSpc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800" b="1" kern="0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2.  </a:t>
            </a:r>
            <a:r>
              <a:rPr lang="zh-CN" altLang="en-US" sz="2800" b="1" kern="0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二维数</a:t>
            </a:r>
            <a:r>
              <a:rPr lang="zh-CN" altLang="en-US" sz="2800" b="1" kern="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组</a:t>
            </a:r>
            <a:r>
              <a:rPr lang="zh-CN" altLang="en-US" sz="2800" b="1" kern="0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的指针</a:t>
            </a:r>
            <a:endParaRPr lang="en-US" altLang="zh-CN" sz="2800" b="1" kern="0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3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38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1638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1638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38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38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638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638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3"/>
          <p:cNvSpPr>
            <a:spLocks noGrp="1" noChangeArrowheads="1"/>
          </p:cNvSpPr>
          <p:nvPr>
            <p:ph idx="1"/>
          </p:nvPr>
        </p:nvSpPr>
        <p:spPr>
          <a:xfrm>
            <a:off x="900113" y="1700213"/>
            <a:ext cx="8001000" cy="42497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28892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维数组的地址作函数实参时，有列地址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和行地址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两种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28892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形式。相应的，用来接受实参数组地址的形参，必须使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28892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用相应形式的指针变量，如下所示：</a:t>
            </a:r>
          </a:p>
          <a:p>
            <a:pPr marL="0" marR="0" lvl="0" indent="28892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28892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实参：       列地址              行</a:t>
            </a:r>
            <a:r>
              <a:rPr lang="zh-CN" altLang="en-US" dirty="0">
                <a:solidFill>
                  <a:srgbClr val="FF0000"/>
                </a:solidFill>
              </a:rPr>
              <a:t>地址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28892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↓                       ↓</a:t>
            </a:r>
          </a:p>
          <a:p>
            <a:pPr marL="0" marR="0" lvl="0" indent="28892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形参： （列）指针变量   行指针变量</a:t>
            </a:r>
          </a:p>
          <a:p>
            <a:pPr marL="0" marR="0" lvl="0" indent="28892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</a:p>
          <a:p>
            <a:pPr marL="0" marR="0" lvl="0" indent="28892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01B113D-8D59-4F74-9C4E-71E13C52701B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3492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ACAE4B7-19C1-4D34-9FA5-56E953B02D71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49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27088" y="1052513"/>
            <a:ext cx="4824413" cy="5857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28892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3.  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二维数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组指针作函数参数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4"/>
          <p:cNvSpPr>
            <a:spLocks noGrp="1"/>
          </p:cNvSpPr>
          <p:nvPr>
            <p:ph idx="1"/>
          </p:nvPr>
        </p:nvSpPr>
        <p:spPr>
          <a:xfrm>
            <a:off x="603250" y="2060575"/>
            <a:ext cx="8540750" cy="3529013"/>
          </a:xfrm>
          <a:ln w="19050">
            <a:solidFill>
              <a:srgbClr val="FFFFFF">
                <a:alpha val="100000"/>
              </a:srgbClr>
            </a:solidFill>
            <a:miter lim="800000"/>
          </a:ln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es-ES" altLang="zh-CN" b="1" dirty="0"/>
              <a:t>void foo(int *p, int n);</a:t>
            </a:r>
          </a:p>
          <a:p>
            <a:pPr eaLnBrk="1" hangingPunct="1">
              <a:buNone/>
            </a:pPr>
            <a:r>
              <a:rPr lang="es-ES" altLang="zh-CN" b="1" dirty="0"/>
              <a:t>void bar(int (*p)[4], int n);</a:t>
            </a:r>
          </a:p>
          <a:p>
            <a:pPr eaLnBrk="1" hangingPunct="1">
              <a:buNone/>
            </a:pPr>
            <a:r>
              <a:rPr lang="es-ES" altLang="zh-CN" b="1" dirty="0"/>
              <a:t>int a[3][4];       </a:t>
            </a:r>
            <a:r>
              <a:rPr lang="es-ES" altLang="zh-CN" b="1" i="1" dirty="0">
                <a:solidFill>
                  <a:srgbClr val="0070C0"/>
                </a:solidFill>
              </a:rPr>
              <a:t>/* </a:t>
            </a:r>
            <a:r>
              <a:rPr lang="zh-CN" altLang="es-ES" i="1" dirty="0">
                <a:solidFill>
                  <a:srgbClr val="0070C0"/>
                </a:solidFill>
              </a:rPr>
              <a:t>定义二维数组</a:t>
            </a:r>
            <a:r>
              <a:rPr lang="zh-CN" altLang="es-ES" b="1" i="1" dirty="0">
                <a:solidFill>
                  <a:srgbClr val="0070C0"/>
                </a:solidFill>
              </a:rPr>
              <a:t> *</a:t>
            </a:r>
            <a:r>
              <a:rPr lang="es-ES" altLang="zh-CN" b="1" i="1" dirty="0">
                <a:solidFill>
                  <a:srgbClr val="0070C0"/>
                </a:solidFill>
              </a:rPr>
              <a:t>/</a:t>
            </a:r>
          </a:p>
          <a:p>
            <a:pPr eaLnBrk="1" hangingPunct="1">
              <a:buNone/>
            </a:pPr>
            <a:r>
              <a:rPr lang="es-ES" altLang="zh-CN" b="1" dirty="0"/>
              <a:t>foo(*a, 12);     </a:t>
            </a:r>
            <a:r>
              <a:rPr lang="es-ES" altLang="zh-CN" b="1" i="1" dirty="0">
                <a:solidFill>
                  <a:srgbClr val="0070C0"/>
                </a:solidFill>
              </a:rPr>
              <a:t>/* </a:t>
            </a:r>
            <a:r>
              <a:rPr lang="zh-CN" altLang="es-ES" i="1" dirty="0">
                <a:solidFill>
                  <a:srgbClr val="0070C0"/>
                </a:solidFill>
              </a:rPr>
              <a:t>二维数组的列</a:t>
            </a:r>
            <a:r>
              <a:rPr lang="zh-CN" altLang="en-US" i="1" dirty="0">
                <a:solidFill>
                  <a:srgbClr val="0070C0"/>
                </a:solidFill>
              </a:rPr>
              <a:t>地址</a:t>
            </a:r>
            <a:r>
              <a:rPr lang="zh-CN" altLang="es-ES" i="1" dirty="0">
                <a:solidFill>
                  <a:srgbClr val="0070C0"/>
                </a:solidFill>
              </a:rPr>
              <a:t>作为参数</a:t>
            </a:r>
            <a:r>
              <a:rPr lang="zh-CN" altLang="es-ES" b="1" i="1" dirty="0">
                <a:solidFill>
                  <a:srgbClr val="0070C0"/>
                </a:solidFill>
              </a:rPr>
              <a:t> *</a:t>
            </a:r>
            <a:r>
              <a:rPr lang="es-ES" altLang="zh-CN" b="1" i="1" dirty="0">
                <a:solidFill>
                  <a:srgbClr val="0070C0"/>
                </a:solidFill>
              </a:rPr>
              <a:t>/</a:t>
            </a:r>
          </a:p>
          <a:p>
            <a:pPr eaLnBrk="1" hangingPunct="1">
              <a:buNone/>
            </a:pPr>
            <a:r>
              <a:rPr lang="es-ES" altLang="zh-CN" b="1" dirty="0"/>
              <a:t>bar(a, 3);        </a:t>
            </a:r>
            <a:r>
              <a:rPr lang="es-ES" altLang="zh-CN" b="1" i="1" dirty="0">
                <a:solidFill>
                  <a:srgbClr val="0070C0"/>
                </a:solidFill>
              </a:rPr>
              <a:t>/* </a:t>
            </a:r>
            <a:r>
              <a:rPr lang="zh-CN" altLang="es-ES" i="1" dirty="0">
                <a:solidFill>
                  <a:srgbClr val="0070C0"/>
                </a:solidFill>
              </a:rPr>
              <a:t>二维数组行</a:t>
            </a:r>
            <a:r>
              <a:rPr lang="zh-CN" altLang="en-US" i="1" dirty="0">
                <a:solidFill>
                  <a:srgbClr val="0070C0"/>
                </a:solidFill>
              </a:rPr>
              <a:t>地址</a:t>
            </a:r>
            <a:r>
              <a:rPr lang="zh-CN" altLang="es-ES" i="1" dirty="0">
                <a:solidFill>
                  <a:srgbClr val="0070C0"/>
                </a:solidFill>
              </a:rPr>
              <a:t>作为参数</a:t>
            </a:r>
            <a:r>
              <a:rPr lang="zh-CN" altLang="es-ES" b="1" i="1" dirty="0">
                <a:solidFill>
                  <a:srgbClr val="0070C0"/>
                </a:solidFill>
              </a:rPr>
              <a:t> *</a:t>
            </a:r>
            <a:r>
              <a:rPr lang="es-ES" altLang="zh-CN" b="1" i="1" dirty="0">
                <a:solidFill>
                  <a:srgbClr val="0070C0"/>
                </a:solidFill>
              </a:rPr>
              <a:t>/</a:t>
            </a: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9DE8D7-B556-4AD1-9893-F0DA8D9E9563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4516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48D07D3-5BE4-4C9A-B739-C8A0FE5B6532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50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27088" y="1052513"/>
            <a:ext cx="4824413" cy="5857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28892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3.  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二维数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组指针作函数参数</a:t>
            </a:r>
          </a:p>
        </p:txBody>
      </p:sp>
    </p:spTree>
  </p:cSld>
  <p:clrMapOvr>
    <a:masterClrMapping/>
  </p:clrMapOvr>
  <p:transition spd="slow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908050"/>
            <a:ext cx="7772400" cy="6858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5.4   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字符串与指针变量</a:t>
            </a:r>
          </a:p>
        </p:txBody>
      </p:sp>
      <p:sp>
        <p:nvSpPr>
          <p:cNvPr id="88067" name="Rectangle 3"/>
          <p:cNvSpPr>
            <a:spLocks noGrp="1"/>
          </p:cNvSpPr>
          <p:nvPr>
            <p:ph idx="1"/>
          </p:nvPr>
        </p:nvSpPr>
        <p:spPr>
          <a:xfrm>
            <a:off x="684213" y="2276475"/>
            <a:ext cx="7924800" cy="2281238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34925" eaLnBrk="1" hangingPunct="1">
              <a:lnSpc>
                <a:spcPct val="80000"/>
              </a:lnSpc>
              <a:buNone/>
            </a:pP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字符串常量按字符数组处理，在存储器中占有一定的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34925" eaLnBrk="1" hangingPunct="1">
              <a:lnSpc>
                <a:spcPct val="80000"/>
              </a:lnSpc>
              <a:buNone/>
            </a:pP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空间，并有自己的地址。</a:t>
            </a:r>
          </a:p>
          <a:p>
            <a:pPr marL="0" indent="34925" eaLnBrk="1" hangingPunct="1">
              <a:lnSpc>
                <a:spcPct val="80000"/>
              </a:lnSpc>
              <a:buNone/>
            </a:pPr>
            <a:endParaRPr lang="en-US" altLang="zh-CN" sz="2400" dirty="0"/>
          </a:p>
          <a:p>
            <a:pPr marL="0" indent="34925" eaLnBrk="1" hangingPunct="1">
              <a:lnSpc>
                <a:spcPct val="80000"/>
              </a:lnSpc>
              <a:buNone/>
            </a:pP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字符串在内存中的起始地址称为字符串的地址，可以定义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34925" eaLnBrk="1" hangingPunct="1">
              <a:lnSpc>
                <a:spcPct val="80000"/>
              </a:lnSpc>
              <a:buNone/>
            </a:pP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一个字符指针变量指向一个字符串。</a:t>
            </a:r>
          </a:p>
          <a:p>
            <a:pPr marL="0" indent="34925" eaLnBrk="1" hangingPunct="1">
              <a:lnSpc>
                <a:spcPct val="80000"/>
              </a:lnSpc>
              <a:buNone/>
            </a:pPr>
            <a:endParaRPr lang="zh-CN" altLang="en-US" sz="2400" dirty="0"/>
          </a:p>
          <a:p>
            <a:pPr marL="0" indent="34925" eaLnBrk="1" hangingPunct="1">
              <a:lnSpc>
                <a:spcPct val="80000"/>
              </a:lnSpc>
              <a:buNone/>
            </a:pPr>
            <a:r>
              <a:rPr lang="en-US" altLang="zh-CN" sz="2400" dirty="0"/>
              <a:t>		</a:t>
            </a:r>
          </a:p>
        </p:txBody>
      </p:sp>
      <p:sp>
        <p:nvSpPr>
          <p:cNvPr id="6" name="日期占位符 5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33E77A8-2AB5-4914-8B8C-3AF457946A1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6565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19B520-F32C-48BA-A419-900F80A701D2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51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内容占位符 2"/>
          <p:cNvSpPr>
            <a:spLocks noGrp="1"/>
          </p:cNvSpPr>
          <p:nvPr>
            <p:ph idx="1"/>
          </p:nvPr>
        </p:nvSpPr>
        <p:spPr>
          <a:xfrm>
            <a:off x="684213" y="1844675"/>
            <a:ext cx="8229600" cy="4530725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-34925" eaLnBrk="1" hangingPunct="1">
              <a:lnSpc>
                <a:spcPct val="80000"/>
              </a:lnSpc>
              <a:buClr>
                <a:srgbClr val="CC9900"/>
              </a:buClr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在Ｃ语言中，既可以用</a:t>
            </a:r>
            <a:r>
              <a:rPr lang="zh-CN" altLang="en-US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字符数组</a:t>
            </a:r>
            <a:r>
              <a:rPr lang="zh-CN" altLang="en-US" sz="24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表示字符串，也可用</a:t>
            </a:r>
            <a:r>
              <a:rPr lang="zh-CN" altLang="en-US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字符</a:t>
            </a:r>
            <a:endParaRPr lang="en-US" altLang="zh-CN" sz="2400" b="1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-34925" eaLnBrk="1" hangingPunct="1">
              <a:lnSpc>
                <a:spcPct val="80000"/>
              </a:lnSpc>
              <a:buClr>
                <a:srgbClr val="CC9900"/>
              </a:buClr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指针变量</a:t>
            </a:r>
            <a:r>
              <a:rPr lang="zh-CN" altLang="en-US" sz="24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来表示；引用时，既可以逐个字符引用，也可以整</a:t>
            </a:r>
            <a:endParaRPr lang="en-US" altLang="zh-CN" sz="24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-34925" eaLnBrk="1" hangingPunct="1">
              <a:lnSpc>
                <a:spcPct val="80000"/>
              </a:lnSpc>
              <a:buClr>
                <a:srgbClr val="CC9900"/>
              </a:buClr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体引用。</a:t>
            </a:r>
          </a:p>
          <a:p>
            <a:pPr marL="0" indent="-34925" eaLnBrk="1" hangingPunct="1">
              <a:lnSpc>
                <a:spcPct val="80000"/>
              </a:lnSpc>
              <a:buClr>
                <a:srgbClr val="CC9900"/>
              </a:buClr>
              <a:buNone/>
            </a:pPr>
            <a:endParaRPr lang="en-US" altLang="zh-CN" sz="2400" dirty="0">
              <a:solidFill>
                <a:srgbClr val="000000"/>
              </a:solidFill>
            </a:endParaRPr>
          </a:p>
          <a:p>
            <a:pPr marL="0" indent="-34925" eaLnBrk="1" hangingPunct="1">
              <a:lnSpc>
                <a:spcPct val="80000"/>
              </a:lnSpc>
              <a:buClr>
                <a:srgbClr val="CC9900"/>
              </a:buClr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1.</a:t>
            </a:r>
            <a:r>
              <a:rPr lang="zh-CN" altLang="en-US" sz="2400" dirty="0">
                <a:solidFill>
                  <a:srgbClr val="000000"/>
                </a:solidFill>
              </a:rPr>
              <a:t>逐个引用</a:t>
            </a:r>
          </a:p>
          <a:p>
            <a:pPr marL="0" indent="-34925" eaLnBrk="1" hangingPunct="1">
              <a:lnSpc>
                <a:spcPct val="80000"/>
              </a:lnSpc>
              <a:buClr>
                <a:srgbClr val="CC9900"/>
              </a:buClr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[</a:t>
            </a:r>
            <a:r>
              <a:rPr lang="zh-CN" altLang="en-US" sz="2400" b="1" dirty="0" smtClean="0">
                <a:solidFill>
                  <a:srgbClr val="000000"/>
                </a:solidFill>
              </a:rPr>
              <a:t>例</a:t>
            </a:r>
            <a:r>
              <a:rPr lang="en-US" altLang="zh-CN" sz="2400" b="1" dirty="0" smtClean="0">
                <a:solidFill>
                  <a:srgbClr val="000000"/>
                </a:solidFill>
              </a:rPr>
              <a:t>5.8</a:t>
            </a:r>
            <a:r>
              <a:rPr lang="en-US" altLang="zh-CN" sz="2400" dirty="0">
                <a:solidFill>
                  <a:srgbClr val="000000"/>
                </a:solidFill>
              </a:rPr>
              <a:t>] </a:t>
            </a:r>
            <a:r>
              <a:rPr lang="zh-CN" altLang="en-US" sz="2400" dirty="0">
                <a:solidFill>
                  <a:srgbClr val="000000"/>
                </a:solidFill>
              </a:rPr>
              <a:t>使用字符指针变量表示和引用字符串。</a:t>
            </a:r>
          </a:p>
          <a:p>
            <a:pPr marL="0" indent="-34925" eaLnBrk="1" hangingPunct="1">
              <a:lnSpc>
                <a:spcPct val="80000"/>
              </a:lnSpc>
              <a:buClr>
                <a:srgbClr val="CC9900"/>
              </a:buClr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int main(){</a:t>
            </a:r>
          </a:p>
          <a:p>
            <a:pPr marL="0" indent="-34925" eaLnBrk="1" hangingPunct="1">
              <a:lnSpc>
                <a:spcPct val="80000"/>
              </a:lnSpc>
              <a:buClr>
                <a:srgbClr val="CC9900"/>
              </a:buClr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  char *string=”I love USTC.”; </a:t>
            </a:r>
          </a:p>
          <a:p>
            <a:pPr marL="0" indent="-34925" eaLnBrk="1" hangingPunct="1">
              <a:lnSpc>
                <a:spcPct val="80000"/>
              </a:lnSpc>
              <a:buClr>
                <a:srgbClr val="CC9900"/>
              </a:buClr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  for(; *string!=’\0’; string++) printf(“%c”, *string);</a:t>
            </a:r>
          </a:p>
          <a:p>
            <a:pPr marL="0" indent="-34925" eaLnBrk="1" hangingPunct="1">
              <a:lnSpc>
                <a:spcPct val="80000"/>
              </a:lnSpc>
              <a:buClr>
                <a:srgbClr val="CC9900"/>
              </a:buClr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  printf(“\n”);</a:t>
            </a:r>
          </a:p>
          <a:p>
            <a:pPr marL="0" indent="-34925" eaLnBrk="1" hangingPunct="1">
              <a:lnSpc>
                <a:spcPct val="80000"/>
              </a:lnSpc>
              <a:buClr>
                <a:srgbClr val="CC9900"/>
              </a:buClr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  return 0;   </a:t>
            </a:r>
          </a:p>
          <a:p>
            <a:pPr marL="0" indent="-34925" eaLnBrk="1" hangingPunct="1">
              <a:lnSpc>
                <a:spcPct val="80000"/>
              </a:lnSpc>
              <a:buClr>
                <a:srgbClr val="CC9900"/>
              </a:buClr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}				</a:t>
            </a:r>
            <a:endParaRPr lang="zh-CN" altLang="en-US" dirty="0"/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E619BC-1BEA-4235-8CF6-F55BB63B4B1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7589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ECEBF8E-F65E-49CC-BD10-D02A7075F02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52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258888" y="1196975"/>
            <a:ext cx="4213225" cy="387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-3492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5.4.1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字符串的表示与引用</a:t>
            </a:r>
          </a:p>
        </p:txBody>
      </p:sp>
      <p:sp>
        <p:nvSpPr>
          <p:cNvPr id="6" name="矩形 5"/>
          <p:cNvSpPr/>
          <p:nvPr/>
        </p:nvSpPr>
        <p:spPr>
          <a:xfrm>
            <a:off x="2286000" y="5572125"/>
            <a:ext cx="4572000" cy="8032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6635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zh-CN" alt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程序运行结果：</a:t>
            </a:r>
          </a:p>
          <a:p>
            <a:pPr marL="0" marR="0" lvl="0" indent="6635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zh-CN" alt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        </a:t>
            </a: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I love USTC.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3"/>
          <p:cNvSpPr>
            <a:spLocks noGrp="1"/>
          </p:cNvSpPr>
          <p:nvPr>
            <p:ph idx="1"/>
          </p:nvPr>
        </p:nvSpPr>
        <p:spPr>
          <a:xfrm>
            <a:off x="468313" y="1484313"/>
            <a:ext cx="8001000" cy="4897437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663575" algn="just" eaLnBrk="1" hangingPunct="1">
              <a:buNone/>
            </a:pPr>
            <a:endParaRPr lang="en-US" altLang="zh-CN" sz="2100" b="1" dirty="0"/>
          </a:p>
          <a:p>
            <a:pPr marL="0" indent="663575" algn="just" eaLnBrk="1" hangingPunct="1">
              <a:buNone/>
            </a:pP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程序说明：</a:t>
            </a:r>
            <a:r>
              <a:rPr lang="en-US" altLang="zh-CN" sz="2400" dirty="0"/>
              <a:t>char *string="I love USTC.";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语句定义并初始化字符指针变量</a:t>
            </a:r>
            <a:r>
              <a:rPr lang="en-US" altLang="zh-CN" sz="2400" dirty="0"/>
              <a:t>string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：用串常量</a:t>
            </a:r>
            <a:r>
              <a:rPr lang="zh-CN" altLang="en-US" sz="2400" dirty="0"/>
              <a:t>“</a:t>
            </a:r>
            <a:r>
              <a:rPr lang="en-US" altLang="zh-CN" sz="2400" dirty="0"/>
              <a:t>I love USTC.”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的地址</a:t>
            </a:r>
            <a:r>
              <a:rPr lang="zh-CN" altLang="en-US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（由系统自动开辟、存储串常量的内存块的首地址）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给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string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赋初值。</a:t>
            </a:r>
          </a:p>
          <a:p>
            <a:pPr marL="0" indent="663575" algn="just" eaLnBrk="1" hangingPunct="1">
              <a:buNone/>
            </a:pPr>
            <a:r>
              <a:rPr lang="zh-CN" altLang="en-US" sz="2400" dirty="0"/>
              <a:t>该语句也可分成如下所示的两条语句：</a:t>
            </a:r>
          </a:p>
          <a:p>
            <a:pPr marL="0" indent="663575" algn="just" eaLnBrk="1" hangingPunct="1">
              <a:buNone/>
            </a:pPr>
            <a:r>
              <a:rPr lang="zh-CN" altLang="en-US" sz="2400" dirty="0"/>
              <a:t> </a:t>
            </a:r>
            <a:r>
              <a:rPr lang="en-US" altLang="zh-CN" sz="2400" dirty="0"/>
              <a:t>char *string</a:t>
            </a:r>
            <a:r>
              <a:rPr lang="zh-CN" altLang="en-US" sz="2400" dirty="0"/>
              <a:t>；</a:t>
            </a:r>
          </a:p>
          <a:p>
            <a:pPr marL="0" indent="663575" algn="just" eaLnBrk="1" hangingPunct="1">
              <a:buNone/>
            </a:pPr>
            <a:r>
              <a:rPr lang="zh-CN" altLang="en-US" sz="2400" dirty="0"/>
              <a:t> </a:t>
            </a:r>
            <a:r>
              <a:rPr lang="en-US" altLang="zh-CN" sz="2400" dirty="0"/>
              <a:t>string="I love USTC."</a:t>
            </a:r>
            <a:r>
              <a:rPr lang="zh-CN" altLang="en-US" sz="2400" dirty="0"/>
              <a:t>；</a:t>
            </a:r>
          </a:p>
          <a:p>
            <a:pPr marL="0" indent="663575" algn="just" eaLnBrk="1" hangingPunct="1">
              <a:buNone/>
            </a:pPr>
            <a:endParaRPr lang="zh-CN" altLang="en-US" sz="2400" b="1" dirty="0"/>
          </a:p>
          <a:p>
            <a:pPr marL="0" indent="663575" algn="just" eaLnBrk="1" hangingPunct="1">
              <a:buNone/>
            </a:pPr>
            <a:r>
              <a:rPr lang="zh-CN" altLang="en-US" sz="2100" b="1" i="1" u="sng" dirty="0">
                <a:solidFill>
                  <a:srgbClr val="FF0000"/>
                </a:solidFill>
              </a:rPr>
              <a:t>注意</a:t>
            </a:r>
            <a:r>
              <a:rPr lang="zh-CN" altLang="en-US" sz="2100" dirty="0">
                <a:solidFill>
                  <a:srgbClr val="FF0000"/>
                </a:solidFill>
              </a:rPr>
              <a:t>：字符指针变量</a:t>
            </a:r>
            <a:r>
              <a:rPr lang="en-US" altLang="zh-CN" sz="2100" dirty="0">
                <a:solidFill>
                  <a:srgbClr val="FF0000"/>
                </a:solidFill>
              </a:rPr>
              <a:t>string</a:t>
            </a:r>
            <a:r>
              <a:rPr lang="zh-CN" altLang="en-US" sz="2100" dirty="0">
                <a:solidFill>
                  <a:srgbClr val="FF0000"/>
                </a:solidFill>
              </a:rPr>
              <a:t>中，仅存储串常量的地址，而串常量的内容（即字符串本身），是存储在由系统自动开辟的内存块中，并在串尾添加一个结束标志’</a:t>
            </a:r>
            <a:r>
              <a:rPr lang="en-US" altLang="zh-CN" sz="2100" dirty="0">
                <a:solidFill>
                  <a:srgbClr val="FF0000"/>
                </a:solidFill>
              </a:rPr>
              <a:t>\0’</a:t>
            </a:r>
            <a:r>
              <a:rPr lang="zh-CN" altLang="en-US" sz="2100" dirty="0">
                <a:solidFill>
                  <a:srgbClr val="FF0000"/>
                </a:solidFill>
              </a:rPr>
              <a:t>。</a:t>
            </a: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2C6602-8235-4D18-82A2-63F18F614E8B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8612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C9AD76-FE1D-4F9C-BAF3-B0661F9956F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53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58888" y="1196975"/>
            <a:ext cx="4213225" cy="387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-3492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5.4.1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字符串的表示与引用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3" dur="2000"/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6" dur="2000"/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2000"/>
                                        <p:tgtEl>
                                          <p:spTgt spid="93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93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3"/>
          <p:cNvSpPr>
            <a:spLocks noGrp="1"/>
          </p:cNvSpPr>
          <p:nvPr>
            <p:ph idx="1"/>
          </p:nvPr>
        </p:nvSpPr>
        <p:spPr>
          <a:xfrm>
            <a:off x="311150" y="1700213"/>
            <a:ext cx="8077200" cy="5000625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485775" algn="just" eaLnBrk="1" hangingPunct="1">
              <a:lnSpc>
                <a:spcPct val="90000"/>
              </a:lnSpc>
              <a:buNone/>
            </a:pPr>
            <a:r>
              <a:rPr lang="en-US" altLang="zh-CN" sz="2400" dirty="0"/>
              <a:t>[</a:t>
            </a:r>
            <a:r>
              <a:rPr lang="zh-CN" altLang="en-US" sz="2400" b="1" dirty="0" smtClean="0"/>
              <a:t>例</a:t>
            </a:r>
            <a:r>
              <a:rPr lang="en-US" altLang="zh-CN" sz="2400" b="1" dirty="0" smtClean="0"/>
              <a:t>5.9</a:t>
            </a:r>
            <a:r>
              <a:rPr lang="en-US" altLang="zh-CN" sz="2400" dirty="0"/>
              <a:t>] </a:t>
            </a:r>
            <a:r>
              <a:rPr lang="zh-CN" altLang="en-US" sz="2400" dirty="0"/>
              <a:t>采取整体引用的办法，改写</a:t>
            </a:r>
            <a:r>
              <a:rPr lang="en-US" altLang="zh-CN" sz="2400" dirty="0"/>
              <a:t>[</a:t>
            </a:r>
            <a:r>
              <a:rPr lang="zh-CN" altLang="en-US" sz="2400" b="1" dirty="0" smtClean="0"/>
              <a:t>例</a:t>
            </a:r>
            <a:r>
              <a:rPr lang="en-US" altLang="zh-CN" sz="2400" b="1" dirty="0" smtClean="0"/>
              <a:t>5.8</a:t>
            </a:r>
            <a:r>
              <a:rPr lang="en-US" altLang="zh-CN" sz="2400" dirty="0"/>
              <a:t>]</a:t>
            </a:r>
            <a:r>
              <a:rPr lang="zh-CN" altLang="en-US" sz="2400" dirty="0"/>
              <a:t>。</a:t>
            </a:r>
          </a:p>
          <a:p>
            <a:pPr marL="0" indent="485775" algn="just" eaLnBrk="1" hangingPunct="1">
              <a:lnSpc>
                <a:spcPct val="90000"/>
              </a:lnSpc>
              <a:buNone/>
            </a:pPr>
            <a:r>
              <a:rPr lang="en-US" altLang="zh-CN" sz="2000" i="1" dirty="0">
                <a:solidFill>
                  <a:srgbClr val="0070C0"/>
                </a:solidFill>
              </a:rPr>
              <a:t>/*</a:t>
            </a:r>
            <a:r>
              <a:rPr lang="zh-CN" altLang="en-US" sz="2000" i="1" dirty="0">
                <a:solidFill>
                  <a:srgbClr val="0070C0"/>
                </a:solidFill>
              </a:rPr>
              <a:t>程序功能：使用字符指针变量表示和引用字符串*</a:t>
            </a:r>
            <a:r>
              <a:rPr lang="en-US" altLang="zh-CN" sz="2000" i="1" dirty="0">
                <a:solidFill>
                  <a:srgbClr val="0070C0"/>
                </a:solidFill>
              </a:rPr>
              <a:t>/</a:t>
            </a:r>
          </a:p>
          <a:p>
            <a:pPr marL="0" indent="485775" algn="just" eaLnBrk="1" hangingPunct="1">
              <a:lnSpc>
                <a:spcPct val="90000"/>
              </a:lnSpc>
              <a:buNone/>
            </a:pPr>
            <a:r>
              <a:rPr lang="en-US" altLang="zh-CN" sz="2400" dirty="0"/>
              <a:t>int main(){</a:t>
            </a:r>
          </a:p>
          <a:p>
            <a:pPr marL="0" indent="485775" algn="just"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  char *string=”I love USTC.”; </a:t>
            </a:r>
          </a:p>
          <a:p>
            <a:pPr marL="0" indent="485775" algn="just"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   printf(“%s\n”,string);return 0;</a:t>
            </a:r>
          </a:p>
          <a:p>
            <a:pPr marL="0" indent="485775" algn="just"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 }		</a:t>
            </a:r>
            <a:r>
              <a:rPr lang="en-US" altLang="zh-CN" sz="2100" dirty="0"/>
              <a:t>			</a:t>
            </a:r>
            <a:endParaRPr lang="en-US" altLang="zh-CN" sz="2100" b="1" dirty="0"/>
          </a:p>
          <a:p>
            <a:pPr marL="0" indent="485775" algn="just" eaLnBrk="1" hangingPunct="1">
              <a:lnSpc>
                <a:spcPct val="90000"/>
              </a:lnSpc>
              <a:buNone/>
            </a:pPr>
            <a:endParaRPr lang="en-US" altLang="zh-CN" sz="2100" b="1" dirty="0"/>
          </a:p>
          <a:p>
            <a:pPr marL="0" indent="485775" algn="just" eaLnBrk="1" hangingPunct="1">
              <a:lnSpc>
                <a:spcPct val="90000"/>
              </a:lnSpc>
              <a:buNone/>
            </a:pPr>
            <a:r>
              <a:rPr lang="zh-CN" altLang="en-US" sz="2400" b="1" dirty="0"/>
              <a:t>程序说明</a:t>
            </a:r>
            <a:r>
              <a:rPr lang="zh-CN" altLang="en-US" sz="2400" dirty="0"/>
              <a:t>：</a:t>
            </a:r>
            <a:r>
              <a:rPr lang="en-US" altLang="zh-CN" sz="2400" dirty="0"/>
              <a:t>printf("%s\n",string);</a:t>
            </a:r>
            <a:r>
              <a:rPr lang="zh-CN" altLang="en-US" sz="2400" dirty="0"/>
              <a:t>语句</a:t>
            </a:r>
          </a:p>
          <a:p>
            <a:pPr marL="0" indent="485775" algn="just" eaLnBrk="1" hangingPunct="1">
              <a:lnSpc>
                <a:spcPct val="90000"/>
              </a:lnSpc>
              <a:buNone/>
            </a:pP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通过指向字符串的指针变量</a:t>
            </a:r>
            <a:r>
              <a:rPr lang="en-US" altLang="zh-CN" sz="2400" dirty="0"/>
              <a:t>string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，整体引用它所指向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485775" algn="just" eaLnBrk="1" hangingPunct="1">
              <a:lnSpc>
                <a:spcPct val="90000"/>
              </a:lnSpc>
              <a:buNone/>
            </a:pP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的字符串的原理：系统首先输出</a:t>
            </a:r>
            <a:r>
              <a:rPr lang="en-US" altLang="zh-CN" sz="2400" dirty="0"/>
              <a:t>string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指向的第一个字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485775" algn="just" eaLnBrk="1" hangingPunct="1">
              <a:lnSpc>
                <a:spcPct val="90000"/>
              </a:lnSpc>
              <a:buNone/>
            </a:pP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符，然后使</a:t>
            </a:r>
            <a:r>
              <a:rPr lang="en-US" altLang="zh-CN" sz="2400" dirty="0"/>
              <a:t>string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自动加１，使之指向下一个字符；重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485775" algn="just" eaLnBrk="1" hangingPunct="1">
              <a:lnSpc>
                <a:spcPct val="90000"/>
              </a:lnSpc>
              <a:buNone/>
            </a:pP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复上述过程，直至遇到字符串结束标志。</a:t>
            </a: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9D0D36A-135C-483E-AB64-FA08B1C7841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9636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8AB1F26-B46F-41FA-9B13-A4F0C51B783A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54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84213" y="1125538"/>
            <a:ext cx="2259013" cy="450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4857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2.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整体引用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5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" dur="500"/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500"/>
                                        <p:tgtEl>
                                          <p:spTgt spid="95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5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95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95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952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952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Rectangle 3"/>
          <p:cNvSpPr>
            <a:spLocks noGrp="1"/>
          </p:cNvSpPr>
          <p:nvPr>
            <p:ph idx="1"/>
          </p:nvPr>
        </p:nvSpPr>
        <p:spPr>
          <a:xfrm>
            <a:off x="179388" y="1844675"/>
            <a:ext cx="8382000" cy="3916363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574675" algn="just" eaLnBrk="1" hangingPunct="1">
              <a:buNone/>
            </a:pPr>
            <a:r>
              <a:rPr lang="zh-CN" altLang="en-US" sz="2600" b="1" dirty="0">
                <a:solidFill>
                  <a:srgbClr val="FF0000"/>
                </a:solidFill>
              </a:rPr>
              <a:t>注意</a:t>
            </a:r>
            <a:r>
              <a:rPr lang="zh-CN" altLang="en-US" sz="2600" dirty="0">
                <a:solidFill>
                  <a:srgbClr val="FF0000"/>
                </a:solidFill>
              </a:rPr>
              <a:t>：</a:t>
            </a:r>
            <a:r>
              <a:rPr lang="zh-CN" altLang="en-US" sz="2600" dirty="0"/>
              <a:t>其它类型的数组，是不能用数组名来一次性输</a:t>
            </a:r>
            <a:endParaRPr lang="en-US" altLang="zh-CN" sz="2600" dirty="0"/>
          </a:p>
          <a:p>
            <a:pPr marL="0" indent="574675" algn="just" eaLnBrk="1" hangingPunct="1">
              <a:buNone/>
            </a:pPr>
            <a:r>
              <a:rPr lang="zh-CN" altLang="en-US" sz="2600" dirty="0"/>
              <a:t>出它的全部</a:t>
            </a:r>
            <a:endParaRPr lang="en-US" altLang="zh-CN" sz="2600" dirty="0"/>
          </a:p>
          <a:p>
            <a:pPr marL="0" indent="574675" algn="just" eaLnBrk="1" hangingPunct="1">
              <a:buNone/>
            </a:pPr>
            <a:r>
              <a:rPr lang="zh-CN" altLang="en-US" sz="2600" dirty="0"/>
              <a:t>元素的，只能逐个元素输出。</a:t>
            </a:r>
          </a:p>
          <a:p>
            <a:pPr marL="0" indent="574675" algn="just" eaLnBrk="1" hangingPunct="1">
              <a:buNone/>
            </a:pPr>
            <a:r>
              <a:rPr lang="zh-CN" altLang="en-US" sz="2600" dirty="0"/>
              <a:t>例如：</a:t>
            </a:r>
          </a:p>
          <a:p>
            <a:pPr marL="0" indent="574675" algn="just" eaLnBrk="1" hangingPunct="1">
              <a:buNone/>
            </a:pPr>
            <a:r>
              <a:rPr lang="zh-CN" altLang="en-US" sz="2600" dirty="0"/>
              <a:t>    </a:t>
            </a:r>
            <a:r>
              <a:rPr lang="en-US" altLang="zh-CN" sz="2600" dirty="0"/>
              <a:t>int array[10]={……};</a:t>
            </a:r>
          </a:p>
          <a:p>
            <a:pPr marL="0" indent="574675" algn="just" eaLnBrk="1" hangingPunct="1">
              <a:buNone/>
            </a:pPr>
            <a:r>
              <a:rPr lang="en-US" altLang="zh-CN" sz="2600" dirty="0"/>
              <a:t>    ......</a:t>
            </a:r>
          </a:p>
          <a:p>
            <a:pPr marL="0" indent="574675" algn="just" eaLnBrk="1" hangingPunct="1">
              <a:buNone/>
            </a:pPr>
            <a:r>
              <a:rPr lang="en-US" altLang="zh-CN" sz="2600" dirty="0"/>
              <a:t>    printf("%d\n",array); 	</a:t>
            </a:r>
            <a:r>
              <a:rPr lang="en-US" altLang="zh-CN" sz="2600" i="1" dirty="0">
                <a:solidFill>
                  <a:srgbClr val="0070C0"/>
                </a:solidFill>
              </a:rPr>
              <a:t>/*</a:t>
            </a:r>
            <a:r>
              <a:rPr lang="zh-CN" altLang="en-US" sz="2600" i="1" dirty="0">
                <a:solidFill>
                  <a:srgbClr val="0070C0"/>
                </a:solidFill>
              </a:rPr>
              <a:t>这种用法是非法的*</a:t>
            </a:r>
            <a:r>
              <a:rPr lang="en-US" altLang="zh-CN" sz="2600" i="1" dirty="0">
                <a:solidFill>
                  <a:srgbClr val="0070C0"/>
                </a:solidFill>
              </a:rPr>
              <a:t>/</a:t>
            </a:r>
          </a:p>
          <a:p>
            <a:pPr marL="0" indent="574675" algn="just" eaLnBrk="1" hangingPunct="1">
              <a:buNone/>
            </a:pPr>
            <a:r>
              <a:rPr lang="en-US" altLang="zh-CN" sz="2600" dirty="0"/>
              <a:t>    ......</a:t>
            </a:r>
          </a:p>
          <a:p>
            <a:pPr marL="0" indent="574675" algn="just" eaLnBrk="1" hangingPunct="1">
              <a:buNone/>
            </a:pPr>
            <a:endParaRPr lang="en-US" altLang="zh-CN" sz="2600" dirty="0"/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1F59ED-21BB-4730-B837-599D374472C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70660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096B94A-7F1B-479D-A0D5-EE0F2502541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55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58888" y="1196975"/>
            <a:ext cx="4213225" cy="387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-3492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5.4.1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字符串的表示与引用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9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9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97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97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2852936"/>
            <a:ext cx="8229600" cy="3300896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-717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虽然用字符指针变量和字符数组都能实现字符串的存储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717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和处理，但二者是有区别的，不能混为一谈。</a:t>
            </a:r>
          </a:p>
          <a:p>
            <a:pPr marL="0" marR="0" lvl="0" indent="-717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-717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）存储内容不同。</a:t>
            </a:r>
          </a:p>
          <a:p>
            <a:pPr marL="0" marR="0" lvl="0" indent="-717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字符指针变量中存储的是字符串的首地址，而字符数组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717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中存储的是字符串本身（数组的每个元素存放一个字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717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符）。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0F9D3B-E1CE-4BC1-8B15-9F94EDB8B12B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71685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34BABF-D821-4154-B9BB-1C76A62410F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56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83568" y="2073021"/>
            <a:ext cx="5761038" cy="492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-717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Tx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3.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字符指针变量与字符数组之比较</a:t>
            </a:r>
          </a:p>
        </p:txBody>
      </p:sp>
      <p:sp>
        <p:nvSpPr>
          <p:cNvPr id="6" name="矩形 5"/>
          <p:cNvSpPr/>
          <p:nvPr/>
        </p:nvSpPr>
        <p:spPr>
          <a:xfrm>
            <a:off x="1258888" y="1196975"/>
            <a:ext cx="4213225" cy="387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-3492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5.4.1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字符串的表示与引用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Rectangle 3"/>
          <p:cNvSpPr>
            <a:spLocks noGrp="1"/>
          </p:cNvSpPr>
          <p:nvPr>
            <p:ph idx="1"/>
          </p:nvPr>
        </p:nvSpPr>
        <p:spPr>
          <a:xfrm>
            <a:off x="395288" y="1125538"/>
            <a:ext cx="7924800" cy="5327650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574675" algn="just" eaLnBrk="1" hangingPunct="1"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）赋值方式不同。</a:t>
            </a:r>
          </a:p>
          <a:p>
            <a:pPr marL="0" indent="574675" algn="just" eaLnBrk="1" hangingPunct="1">
              <a:buNone/>
            </a:pP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对字符指针变量，可采用下面的赋值语句赋值：</a:t>
            </a:r>
          </a:p>
          <a:p>
            <a:pPr marL="0" indent="574675" algn="just" eaLnBrk="1" hangingPunct="1">
              <a:buNone/>
            </a:pPr>
            <a:r>
              <a:rPr lang="zh-CN" altLang="en-US" sz="2400" dirty="0"/>
              <a:t>       </a:t>
            </a:r>
            <a:r>
              <a:rPr lang="en-US" altLang="zh-CN" sz="2400" dirty="0"/>
              <a:t>char  *pointer;</a:t>
            </a:r>
          </a:p>
          <a:p>
            <a:pPr marL="0" indent="574675" algn="just" eaLnBrk="1" hangingPunct="1">
              <a:buNone/>
            </a:pPr>
            <a:r>
              <a:rPr lang="en-US" altLang="zh-CN" sz="2400" dirty="0"/>
              <a:t>        pointer="This is a example.";</a:t>
            </a:r>
          </a:p>
          <a:p>
            <a:pPr marL="0" indent="574675" algn="just" eaLnBrk="1" hangingPunct="1">
              <a:buNone/>
            </a:pP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而字符数组，虽然可以在定义时初始化，但不能用赋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574675" algn="just" eaLnBrk="1" hangingPunct="1">
              <a:buNone/>
            </a:pP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值语句整体赋值。下面的用法是非法的：</a:t>
            </a:r>
          </a:p>
          <a:p>
            <a:pPr marL="0" indent="574675" algn="just" eaLnBrk="1" hangingPunct="1">
              <a:buNone/>
            </a:pPr>
            <a:r>
              <a:rPr lang="zh-CN" altLang="en-US" sz="2400" dirty="0"/>
              <a:t>       </a:t>
            </a:r>
            <a:r>
              <a:rPr lang="en-US" altLang="zh-CN" sz="2400" dirty="0"/>
              <a:t>char  char_array[20]</a:t>
            </a:r>
            <a:r>
              <a:rPr lang="zh-CN" altLang="en-US" sz="2400" dirty="0"/>
              <a:t>；</a:t>
            </a:r>
          </a:p>
          <a:p>
            <a:pPr marL="0" indent="574675" algn="just" eaLnBrk="1" hangingPunct="1">
              <a:buNone/>
            </a:pPr>
            <a:r>
              <a:rPr lang="zh-CN" altLang="en-US" sz="2400" dirty="0"/>
              <a:t>        </a:t>
            </a:r>
            <a:r>
              <a:rPr lang="en-US" altLang="zh-CN" sz="2400" dirty="0"/>
              <a:t>char_array="This is a example."; </a:t>
            </a:r>
            <a:r>
              <a:rPr lang="en-US" altLang="zh-CN" sz="2400" i="1" dirty="0">
                <a:solidFill>
                  <a:srgbClr val="0070C0"/>
                </a:solidFill>
              </a:rPr>
              <a:t>/*</a:t>
            </a:r>
            <a:r>
              <a:rPr lang="zh-CN" altLang="en-US" sz="2400" i="1" dirty="0">
                <a:solidFill>
                  <a:srgbClr val="0070C0"/>
                </a:solidFill>
              </a:rPr>
              <a:t>非法用法*</a:t>
            </a:r>
            <a:r>
              <a:rPr lang="en-US" altLang="zh-CN" sz="2400" i="1" dirty="0">
                <a:solidFill>
                  <a:srgbClr val="0070C0"/>
                </a:solidFill>
              </a:rPr>
              <a:t>/</a:t>
            </a:r>
          </a:p>
          <a:p>
            <a:pPr marL="0" indent="574675" algn="just" eaLnBrk="1" hangingPunct="1">
              <a:buNone/>
            </a:pPr>
            <a:endParaRPr lang="en-US" altLang="zh-CN" sz="2400" dirty="0">
              <a:solidFill>
                <a:srgbClr val="FF0000"/>
              </a:solidFill>
            </a:endParaRPr>
          </a:p>
          <a:p>
            <a:pPr marL="0" indent="574675" algn="just" eaLnBrk="1" hangingPunct="1"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2400" b="1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r>
              <a:rPr lang="zh-CN" altLang="en-US" sz="2400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字符</a:t>
            </a:r>
            <a:r>
              <a:rPr lang="zh-CN" altLang="en-US" sz="24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指针</a:t>
            </a:r>
            <a:r>
              <a:rPr lang="zh-CN" altLang="en-US" sz="2400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变量所指的字符串是一个常量，不能</a:t>
            </a:r>
            <a:endParaRPr lang="en-US" altLang="zh-CN" sz="2400" dirty="0" smtClean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574675" algn="just" eaLnBrk="1" hangingPunct="1">
              <a:buNone/>
            </a:pPr>
            <a:r>
              <a:rPr lang="zh-CN" altLang="en-US" sz="2400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试图对其改变。</a:t>
            </a:r>
            <a:endParaRPr lang="zh-CN" altLang="en-US" sz="2400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574675" algn="just" eaLnBrk="1" hangingPunct="1">
              <a:buNone/>
            </a:pPr>
            <a:endParaRPr lang="zh-CN" altLang="en-US" sz="2400" dirty="0"/>
          </a:p>
          <a:p>
            <a:pPr marL="0" indent="574675" algn="just" eaLnBrk="1" hangingPunct="1">
              <a:buNone/>
            </a:pPr>
            <a:endParaRPr lang="en-US" altLang="zh-CN" sz="2400" dirty="0"/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95C0C9-3FA6-47BE-8955-687B045742F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72708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EC576-A03B-488F-A273-DC71ABF168B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57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2000"/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2000"/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8" dur="2000"/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9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9" dur="500"/>
                                        <p:tgtEl>
                                          <p:spTgt spid="993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4" dur="500"/>
                                        <p:tgtEl>
                                          <p:spTgt spid="993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3"/>
          <p:cNvSpPr>
            <a:spLocks noGrp="1"/>
          </p:cNvSpPr>
          <p:nvPr>
            <p:ph idx="1"/>
          </p:nvPr>
        </p:nvSpPr>
        <p:spPr>
          <a:xfrm>
            <a:off x="755650" y="1628775"/>
            <a:ext cx="7772400" cy="4767263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lnSpc>
                <a:spcPct val="80000"/>
              </a:lnSpc>
              <a:buNone/>
            </a:pPr>
            <a:endParaRPr lang="en-US" altLang="zh-CN" sz="24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400" dirty="0"/>
              <a:t>[</a:t>
            </a:r>
            <a:r>
              <a:rPr lang="zh-CN" altLang="en-US" sz="2400" b="1" dirty="0" smtClean="0"/>
              <a:t>例</a:t>
            </a:r>
            <a:r>
              <a:rPr lang="en-US" altLang="zh-CN" sz="2400" b="1" dirty="0" smtClean="0"/>
              <a:t>5.10</a:t>
            </a:r>
            <a:r>
              <a:rPr lang="en-US" altLang="zh-CN" sz="2400" dirty="0"/>
              <a:t>] 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用函数调用方式，实现字符串的复制。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1700" i="1" dirty="0">
                <a:solidFill>
                  <a:srgbClr val="0070C0"/>
                </a:solidFill>
              </a:rPr>
              <a:t>/**********************************************************/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1700" i="1" dirty="0">
                <a:solidFill>
                  <a:srgbClr val="0070C0"/>
                </a:solidFill>
              </a:rPr>
              <a:t>/*string_copy()</a:t>
            </a:r>
            <a:r>
              <a:rPr lang="zh-CN" altLang="en-US" sz="1700" i="1" dirty="0">
                <a:solidFill>
                  <a:srgbClr val="0070C0"/>
                </a:solidFill>
              </a:rPr>
              <a:t>函数：复制一个字符串                                                  *</a:t>
            </a:r>
            <a:r>
              <a:rPr lang="en-US" altLang="zh-CN" sz="1700" i="1" dirty="0">
                <a:solidFill>
                  <a:srgbClr val="0070C0"/>
                </a:solidFill>
              </a:rPr>
              <a:t>/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1700" i="1" dirty="0">
                <a:solidFill>
                  <a:srgbClr val="0070C0"/>
                </a:solidFill>
              </a:rPr>
              <a:t>/*</a:t>
            </a:r>
            <a:r>
              <a:rPr lang="zh-CN" altLang="en-US" sz="1700" i="1" dirty="0">
                <a:solidFill>
                  <a:srgbClr val="0070C0"/>
                </a:solidFill>
              </a:rPr>
              <a:t>形参：字符指针</a:t>
            </a:r>
            <a:r>
              <a:rPr lang="en-US" altLang="zh-CN" sz="1700" i="1" dirty="0">
                <a:solidFill>
                  <a:srgbClr val="0070C0"/>
                </a:solidFill>
              </a:rPr>
              <a:t>str_from</a:t>
            </a:r>
            <a:r>
              <a:rPr lang="zh-CN" altLang="en-US" sz="1700" i="1" dirty="0">
                <a:solidFill>
                  <a:srgbClr val="0070C0"/>
                </a:solidFill>
              </a:rPr>
              <a:t>接收源串，字符指针 </a:t>
            </a:r>
            <a:r>
              <a:rPr lang="en-US" altLang="zh-CN" sz="1700" i="1" dirty="0">
                <a:solidFill>
                  <a:srgbClr val="0070C0"/>
                </a:solidFill>
              </a:rPr>
              <a:t>str_to</a:t>
            </a:r>
            <a:r>
              <a:rPr lang="zh-CN" altLang="en-US" sz="1700" i="1" dirty="0">
                <a:solidFill>
                  <a:srgbClr val="0070C0"/>
                </a:solidFill>
              </a:rPr>
              <a:t>存储目标串 *</a:t>
            </a:r>
            <a:r>
              <a:rPr lang="en-US" altLang="zh-CN" sz="1700" i="1" dirty="0">
                <a:solidFill>
                  <a:srgbClr val="0070C0"/>
                </a:solidFill>
              </a:rPr>
              <a:t>/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1700" i="1" dirty="0">
                <a:solidFill>
                  <a:srgbClr val="0070C0"/>
                </a:solidFill>
              </a:rPr>
              <a:t>/*</a:t>
            </a:r>
            <a:r>
              <a:rPr lang="zh-CN" altLang="en-US" sz="1700" i="1" dirty="0">
                <a:solidFill>
                  <a:srgbClr val="0070C0"/>
                </a:solidFill>
              </a:rPr>
              <a:t>返回值：无                                                                                            *</a:t>
            </a:r>
            <a:r>
              <a:rPr lang="en-US" altLang="zh-CN" sz="1700" i="1" dirty="0">
                <a:solidFill>
                  <a:srgbClr val="0070C0"/>
                </a:solidFill>
              </a:rPr>
              <a:t>/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1700" i="1" dirty="0">
                <a:solidFill>
                  <a:srgbClr val="0070C0"/>
                </a:solidFill>
              </a:rPr>
              <a:t>/**********************************************************/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400" dirty="0"/>
              <a:t>void string_copy(char *str_from, char *str_to)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{ int i=0;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   for(; (</a:t>
            </a:r>
            <a:r>
              <a:rPr lang="en-US" altLang="zh-CN" sz="2400" b="1" i="1" u="sng" dirty="0"/>
              <a:t>*(str_to+i)=*(str_from+i)</a:t>
            </a:r>
            <a:r>
              <a:rPr lang="en-US" altLang="zh-CN" sz="2400" dirty="0"/>
              <a:t>)!=’\0’; i++) ;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 </a:t>
            </a:r>
            <a:r>
              <a:rPr lang="en-US" altLang="zh-CN" sz="2400" i="1" dirty="0">
                <a:solidFill>
                  <a:srgbClr val="0070C0"/>
                </a:solidFill>
              </a:rPr>
              <a:t>/*</a:t>
            </a:r>
            <a:r>
              <a:rPr lang="zh-CN" altLang="en-US" sz="2400" i="1" dirty="0">
                <a:solidFill>
                  <a:srgbClr val="0070C0"/>
                </a:solidFill>
              </a:rPr>
              <a:t>循环体为空语句*</a:t>
            </a:r>
            <a:r>
              <a:rPr lang="en-US" altLang="zh-CN" sz="2400" i="1" dirty="0">
                <a:solidFill>
                  <a:srgbClr val="0070C0"/>
                </a:solidFill>
              </a:rPr>
              <a:t>/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400" i="1" dirty="0">
                <a:solidFill>
                  <a:srgbClr val="0070C0"/>
                </a:solidFill>
              </a:rPr>
              <a:t>    /*</a:t>
            </a:r>
            <a:r>
              <a:rPr lang="zh-CN" altLang="en-US" sz="2400" i="1" dirty="0">
                <a:solidFill>
                  <a:srgbClr val="0070C0"/>
                </a:solidFill>
              </a:rPr>
              <a:t>可否改写为： </a:t>
            </a:r>
            <a:r>
              <a:rPr lang="en-US" altLang="zh-CN" sz="2400" i="1" dirty="0">
                <a:solidFill>
                  <a:srgbClr val="0070C0"/>
                </a:solidFill>
              </a:rPr>
              <a:t>for(; </a:t>
            </a:r>
            <a:r>
              <a:rPr lang="en-US" altLang="zh-CN" sz="2400" b="1" i="1" u="sng" dirty="0">
                <a:solidFill>
                  <a:srgbClr val="0070C0"/>
                </a:solidFill>
              </a:rPr>
              <a:t>*(str_to+i)=*(str_from+i)</a:t>
            </a:r>
            <a:r>
              <a:rPr lang="en-US" altLang="zh-CN" sz="2400" i="1" dirty="0">
                <a:solidFill>
                  <a:srgbClr val="0070C0"/>
                </a:solidFill>
              </a:rPr>
              <a:t>; i++) ;*/ 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}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1900" b="1" dirty="0"/>
              <a:t>						</a:t>
            </a: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F8A0BA-B131-44D5-B181-47A9687CD8A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73732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38AF8F-6A53-4F4A-9E1C-E4C940607716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58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71550" y="1125538"/>
            <a:ext cx="561657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14414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5.4.2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字符串指针作函数参数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101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101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1013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1013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13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13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013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5013" y="1941513"/>
            <a:ext cx="8229600" cy="4530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 main(){</a:t>
            </a: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char array_str1[20]=”I am a teacher.”;</a:t>
            </a: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char array_str2[20];</a:t>
            </a: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string_copy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(array_str1, array_str2);  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/*</a:t>
            </a:r>
            <a:r>
              <a:rPr kumimoji="0" lang="zh-CN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数组名作实参*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(“array_str2=%s\n”, array_str2);</a:t>
            </a: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return 0;</a:t>
            </a: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}</a:t>
            </a: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程序运行结果：</a:t>
            </a: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 am a teacher.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D6CE60-7065-4A1D-A815-08D4EFDB1D4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74757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9F06C59-2AB7-41E0-8D90-5319DAA63CE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59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71550" y="1125538"/>
            <a:ext cx="561657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14414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5.4.2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字符串指针作函数参数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Rectangle 3"/>
          <p:cNvSpPr>
            <a:spLocks noGrp="1" noChangeArrowheads="1"/>
          </p:cNvSpPr>
          <p:nvPr>
            <p:ph idx="1"/>
          </p:nvPr>
        </p:nvSpPr>
        <p:spPr>
          <a:xfrm>
            <a:off x="742950" y="1408113"/>
            <a:ext cx="7924800" cy="48355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1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3619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程序说明：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for(; (</a:t>
            </a:r>
            <a:r>
              <a:rPr kumimoji="0" lang="en-US" altLang="zh-CN" sz="2400" b="1" i="1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*(</a:t>
            </a:r>
            <a:r>
              <a:rPr kumimoji="0" lang="en-US" altLang="zh-CN" sz="2400" b="1" i="1" u="sng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str_to+i</a:t>
            </a:r>
            <a:r>
              <a:rPr kumimoji="0" lang="en-US" altLang="zh-CN" sz="2400" b="1" i="1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)=*(</a:t>
            </a:r>
            <a:r>
              <a:rPr kumimoji="0" lang="en-US" altLang="zh-CN" sz="2400" b="1" i="1" u="sng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str_from+i</a:t>
            </a:r>
            <a:r>
              <a:rPr kumimoji="0" lang="en-US" altLang="zh-CN" sz="2400" b="1" i="1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)!=’\0’;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++) ; </a:t>
            </a:r>
          </a:p>
          <a:p>
            <a:pPr marL="0" marR="0" lvl="0" indent="3619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语句的执行过程为：首先将源串中的当前字符，复制到目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3619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标串中；然后判断该字符（即赋值表达式的值）是否是结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3619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束标志。如果不是，则相对位置变量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的值增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，以便复制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3619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下一个字符；如果是结束标志，则结束循环。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其特点是：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3619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先复制、后判断，循环结束前，结束标志已经复制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</a:p>
          <a:p>
            <a:pPr marL="0" marR="0" lvl="0" indent="3619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3619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语言中，用赋值运算符、而不是赋值语句来实现赋值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3619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操作，能给某些处理带来很大的灵活性，该语句（实现字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3619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符串的复制）的用法就是最好的例证。</a:t>
            </a:r>
          </a:p>
          <a:p>
            <a:pPr marL="0" marR="0" lvl="0" indent="3619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5BAE150-53EA-46CF-AE81-52F640DE453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75780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6C76E9B-7E42-4FE6-9C2F-86D5919D3A2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60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71550" y="1125538"/>
            <a:ext cx="561657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14414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5.4.2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字符串指针作函数参数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3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3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3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3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3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3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1034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1034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1034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3" name="Rectangle 3"/>
          <p:cNvSpPr>
            <a:spLocks noGrp="1"/>
          </p:cNvSpPr>
          <p:nvPr>
            <p:ph idx="1"/>
          </p:nvPr>
        </p:nvSpPr>
        <p:spPr>
          <a:xfrm>
            <a:off x="539750" y="1916113"/>
            <a:ext cx="8540750" cy="3816350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zh-CN" altLang="en-US" sz="2600" dirty="0"/>
              <a:t>用指针变量指向一个格式字符串，可以用来代替</a:t>
            </a:r>
            <a:r>
              <a:rPr lang="en-US" altLang="zh-CN" sz="2600" dirty="0"/>
              <a:t>printf</a:t>
            </a:r>
          </a:p>
          <a:p>
            <a:pPr eaLnBrk="1" hangingPunct="1">
              <a:buNone/>
            </a:pPr>
            <a:r>
              <a:rPr lang="zh-CN" altLang="en-US" sz="2600" dirty="0"/>
              <a:t>函数中的格式字符串。</a:t>
            </a:r>
          </a:p>
          <a:p>
            <a:pPr eaLnBrk="1" hangingPunct="1">
              <a:buNone/>
            </a:pPr>
            <a:r>
              <a:rPr lang="zh-CN" altLang="en-US" sz="2600" dirty="0"/>
              <a:t>如：</a:t>
            </a:r>
            <a:r>
              <a:rPr lang="en-US" altLang="zh-CN" sz="2600" dirty="0"/>
              <a:t>char *format;</a:t>
            </a:r>
          </a:p>
          <a:p>
            <a:pPr eaLnBrk="1" hangingPunct="1">
              <a:buNone/>
            </a:pPr>
            <a:r>
              <a:rPr lang="en-US" altLang="zh-CN" sz="2600" dirty="0"/>
              <a:t>       format=“a=%d,b=%f\n”;</a:t>
            </a:r>
          </a:p>
          <a:p>
            <a:pPr eaLnBrk="1" hangingPunct="1">
              <a:buNone/>
            </a:pPr>
            <a:r>
              <a:rPr lang="en-US" altLang="zh-CN" sz="2600" dirty="0"/>
              <a:t>       printf(format,a,b);</a:t>
            </a:r>
          </a:p>
          <a:p>
            <a:pPr eaLnBrk="1" hangingPunct="1">
              <a:buNone/>
            </a:pPr>
            <a:r>
              <a:rPr lang="zh-CN" altLang="en-US" sz="2600" dirty="0"/>
              <a:t>最后一句相当于：</a:t>
            </a:r>
          </a:p>
          <a:p>
            <a:pPr eaLnBrk="1" hangingPunct="1">
              <a:buNone/>
            </a:pPr>
            <a:r>
              <a:rPr lang="zh-CN" altLang="en-US" sz="2600" dirty="0"/>
              <a:t>       </a:t>
            </a:r>
            <a:r>
              <a:rPr lang="en-US" altLang="zh-CN" sz="2600" dirty="0"/>
              <a:t>printf( “a=%d,b=%f\n”,a,b);</a:t>
            </a: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D2EEB62-2338-48C8-892D-D2D3B666010B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76804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DFB744-F718-4910-A222-EC2B3F2968F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61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71550" y="1125538"/>
            <a:ext cx="561657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14414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5.4.2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字符串指针作函数参数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16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16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16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500"/>
                                        <p:tgtEl>
                                          <p:spTgt spid="168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168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981075"/>
            <a:ext cx="7489825" cy="6080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5.5   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返回地址值的函数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idx="1"/>
          </p:nvPr>
        </p:nvSpPr>
        <p:spPr>
          <a:xfrm>
            <a:off x="530225" y="1671638"/>
            <a:ext cx="8305800" cy="5029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4762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一个函数可以返回一个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int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型、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float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型、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char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型的数据，也可以返回一个地址类型的数据。 返回地址值的函数（简称指针函数）的定义格式如下：</a:t>
            </a:r>
          </a:p>
          <a:p>
            <a:pPr marL="0" marR="0" lvl="0" indent="4762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4762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函数类型   *函数名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([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形参表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])</a:t>
            </a:r>
          </a:p>
          <a:p>
            <a:pPr marL="0" marR="0" lvl="0" indent="4762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5.11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某数理化三项竞赛训练组有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个人，找出其中至少有一项成绩不合格者。要求使用指针函数实现。</a:t>
            </a:r>
            <a:b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zh-CN" altLang="en-US" sz="1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9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/*************************************************************/</a:t>
            </a:r>
            <a:br>
              <a:rPr kumimoji="0" lang="en-US" altLang="zh-CN" sz="19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9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/*seek()</a:t>
            </a:r>
            <a:r>
              <a:rPr kumimoji="0" lang="zh-CN" altLang="en-US" sz="19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函数：判断是否有不合格成绩                                                         *</a:t>
            </a:r>
            <a:r>
              <a:rPr kumimoji="0" lang="en-US" altLang="zh-CN" sz="19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br>
              <a:rPr kumimoji="0" lang="en-US" altLang="zh-CN" sz="19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9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/*</a:t>
            </a:r>
            <a:r>
              <a:rPr kumimoji="0" lang="zh-CN" altLang="en-US" sz="19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形参：指向由</a:t>
            </a:r>
            <a:r>
              <a:rPr kumimoji="0" lang="en-US" altLang="zh-CN" sz="19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19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</a:t>
            </a:r>
            <a:r>
              <a:rPr kumimoji="0" lang="en-US" altLang="zh-CN" sz="19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zh-CN" altLang="en-US" sz="19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型元素组成的</a:t>
            </a:r>
            <a:r>
              <a:rPr kumimoji="0" lang="en-US" altLang="zh-CN" sz="19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19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维数组的行指针变量                      *</a:t>
            </a:r>
            <a:r>
              <a:rPr kumimoji="0" lang="en-US" altLang="zh-CN" sz="19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br>
              <a:rPr kumimoji="0" lang="en-US" altLang="zh-CN" sz="19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9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/*</a:t>
            </a:r>
            <a:r>
              <a:rPr kumimoji="0" lang="zh-CN" altLang="en-US" sz="19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返回值：</a:t>
            </a:r>
            <a:r>
              <a:rPr kumimoji="0" lang="en-US" altLang="zh-CN" sz="19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(1)</a:t>
            </a:r>
            <a:r>
              <a:rPr kumimoji="0" lang="zh-CN" altLang="en-US" sz="19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有不合格成绩，则返回指向本行首列的一个</a:t>
            </a:r>
            <a:r>
              <a:rPr kumimoji="0" lang="en-US" altLang="zh-CN" sz="19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19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列</a:t>
            </a:r>
            <a:r>
              <a:rPr kumimoji="0" lang="en-US" altLang="zh-CN" sz="19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19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地址；    *</a:t>
            </a:r>
            <a:r>
              <a:rPr kumimoji="0" lang="en-US" altLang="zh-CN" sz="19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br>
              <a:rPr kumimoji="0" lang="en-US" altLang="zh-CN" sz="19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9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/*               (2)</a:t>
            </a:r>
            <a:r>
              <a:rPr kumimoji="0" lang="zh-CN" altLang="en-US" sz="19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没有有不合格成绩，返回值为指向下一行的一个</a:t>
            </a:r>
            <a:r>
              <a:rPr kumimoji="0" lang="en-US" altLang="zh-CN" sz="19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19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列</a:t>
            </a:r>
            <a:r>
              <a:rPr kumimoji="0" lang="en-US" altLang="zh-CN" sz="19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19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地址 *</a:t>
            </a:r>
            <a:r>
              <a:rPr kumimoji="0" lang="en-US" altLang="zh-CN" sz="19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br>
              <a:rPr kumimoji="0" lang="en-US" altLang="zh-CN" sz="19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9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/*************************************************************/</a:t>
            </a:r>
          </a:p>
        </p:txBody>
      </p:sp>
      <p:sp>
        <p:nvSpPr>
          <p:cNvPr id="6" name="日期占位符 5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324ED4-332D-44A8-AE6A-B8E12DC01CEF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87045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EAD010-FEC9-452A-8A60-CA663FFE706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62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8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1" name="Rectangle 3"/>
          <p:cNvSpPr>
            <a:spLocks noGrp="1"/>
          </p:cNvSpPr>
          <p:nvPr>
            <p:ph idx="1"/>
          </p:nvPr>
        </p:nvSpPr>
        <p:spPr>
          <a:xfrm>
            <a:off x="755650" y="1773238"/>
            <a:ext cx="7772400" cy="4751387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100" dirty="0"/>
              <a:t>int  *seek( int  (*pnt_row)[3] )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100" dirty="0"/>
              <a:t>   { int i=0, *pnt_col;          </a:t>
            </a:r>
            <a:r>
              <a:rPr lang="en-US" altLang="zh-CN" sz="2100" b="1" i="1" dirty="0">
                <a:solidFill>
                  <a:srgbClr val="0070C0"/>
                </a:solidFill>
              </a:rPr>
              <a:t>/*</a:t>
            </a:r>
            <a:r>
              <a:rPr lang="zh-CN" altLang="en-US" sz="2100" b="1" i="1" dirty="0">
                <a:solidFill>
                  <a:srgbClr val="0070C0"/>
                </a:solidFill>
              </a:rPr>
              <a:t>定义一个</a:t>
            </a:r>
            <a:r>
              <a:rPr lang="en-US" altLang="zh-CN" sz="2100" b="1" i="1" dirty="0">
                <a:solidFill>
                  <a:srgbClr val="0070C0"/>
                </a:solidFill>
              </a:rPr>
              <a:t>(</a:t>
            </a:r>
            <a:r>
              <a:rPr lang="zh-CN" altLang="en-US" sz="2100" b="1" i="1" dirty="0">
                <a:solidFill>
                  <a:srgbClr val="0070C0"/>
                </a:solidFill>
              </a:rPr>
              <a:t>列</a:t>
            </a:r>
            <a:r>
              <a:rPr lang="en-US" altLang="zh-CN" sz="2100" b="1" i="1" dirty="0">
                <a:solidFill>
                  <a:srgbClr val="0070C0"/>
                </a:solidFill>
              </a:rPr>
              <a:t>)</a:t>
            </a:r>
            <a:r>
              <a:rPr lang="zh-CN" altLang="en-US" sz="2100" b="1" i="1" dirty="0">
                <a:solidFill>
                  <a:srgbClr val="0070C0"/>
                </a:solidFill>
              </a:rPr>
              <a:t>指针变量</a:t>
            </a:r>
            <a:r>
              <a:rPr lang="en-US" altLang="zh-CN" sz="2100" b="1" i="1" dirty="0">
                <a:solidFill>
                  <a:srgbClr val="0070C0"/>
                </a:solidFill>
              </a:rPr>
              <a:t>pnt_col */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100" dirty="0"/>
              <a:t>      pnt_col=*(pnt_row+1);       </a:t>
            </a:r>
            <a:r>
              <a:rPr lang="en-US" altLang="zh-CN" sz="2100" b="1" i="1" dirty="0">
                <a:solidFill>
                  <a:srgbClr val="0070C0"/>
                </a:solidFill>
              </a:rPr>
              <a:t>/*</a:t>
            </a:r>
            <a:r>
              <a:rPr lang="zh-CN" altLang="en-US" sz="2100" b="1" i="1" dirty="0">
                <a:solidFill>
                  <a:srgbClr val="0070C0"/>
                </a:solidFill>
              </a:rPr>
              <a:t>使</a:t>
            </a:r>
            <a:r>
              <a:rPr lang="en-US" altLang="zh-CN" sz="2100" b="1" i="1" dirty="0">
                <a:solidFill>
                  <a:srgbClr val="0070C0"/>
                </a:solidFill>
              </a:rPr>
              <a:t>pnt_col</a:t>
            </a:r>
            <a:r>
              <a:rPr lang="zh-CN" altLang="en-US" sz="2100" b="1" i="1" dirty="0">
                <a:solidFill>
                  <a:srgbClr val="0070C0"/>
                </a:solidFill>
              </a:rPr>
              <a:t>指向下一行之首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zh-CN" altLang="en-US" sz="2100" b="1" i="1" dirty="0">
                <a:solidFill>
                  <a:srgbClr val="0070C0"/>
                </a:solidFill>
              </a:rPr>
              <a:t>                                                             </a:t>
            </a:r>
            <a:r>
              <a:rPr lang="en-US" altLang="zh-CN" sz="2100" b="1" i="1" dirty="0">
                <a:solidFill>
                  <a:srgbClr val="0070C0"/>
                </a:solidFill>
              </a:rPr>
              <a:t>(</a:t>
            </a:r>
            <a:r>
              <a:rPr lang="zh-CN" altLang="en-US" sz="2100" b="1" i="1" dirty="0">
                <a:solidFill>
                  <a:srgbClr val="0070C0"/>
                </a:solidFill>
              </a:rPr>
              <a:t>作标志用</a:t>
            </a:r>
            <a:r>
              <a:rPr lang="en-US" altLang="zh-CN" sz="2100" b="1" i="1" dirty="0">
                <a:solidFill>
                  <a:srgbClr val="0070C0"/>
                </a:solidFill>
              </a:rPr>
              <a:t>)*/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100" dirty="0"/>
              <a:t>      for(; i&lt;3; i++)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100" dirty="0"/>
              <a:t>          if(*(*pnt_row+i)&lt;60)   </a:t>
            </a:r>
            <a:r>
              <a:rPr lang="en-US" altLang="zh-CN" sz="2100" b="1" i="1" dirty="0">
                <a:solidFill>
                  <a:srgbClr val="0070C0"/>
                </a:solidFill>
              </a:rPr>
              <a:t>/*</a:t>
            </a:r>
            <a:r>
              <a:rPr lang="zh-CN" altLang="en-US" sz="2100" b="1" i="1" dirty="0">
                <a:solidFill>
                  <a:srgbClr val="0070C0"/>
                </a:solidFill>
              </a:rPr>
              <a:t>某项成绩不合格*</a:t>
            </a:r>
            <a:r>
              <a:rPr lang="en-US" altLang="zh-CN" sz="2100" b="1" i="1" dirty="0">
                <a:solidFill>
                  <a:srgbClr val="0070C0"/>
                </a:solidFill>
              </a:rPr>
              <a:t>/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100" dirty="0"/>
              <a:t>             { pnt_col=*pnt_row;          </a:t>
            </a:r>
            <a:r>
              <a:rPr lang="en-US" altLang="zh-CN" sz="2100" b="1" i="1" dirty="0">
                <a:solidFill>
                  <a:srgbClr val="0070C0"/>
                </a:solidFill>
              </a:rPr>
              <a:t>/*</a:t>
            </a:r>
            <a:r>
              <a:rPr lang="zh-CN" altLang="en-US" sz="2100" b="1" i="1" dirty="0">
                <a:solidFill>
                  <a:srgbClr val="0070C0"/>
                </a:solidFill>
              </a:rPr>
              <a:t>使</a:t>
            </a:r>
            <a:r>
              <a:rPr lang="en-US" altLang="zh-CN" sz="2100" b="1" i="1" dirty="0">
                <a:solidFill>
                  <a:srgbClr val="0070C0"/>
                </a:solidFill>
              </a:rPr>
              <a:t>pnt_col</a:t>
            </a:r>
            <a:r>
              <a:rPr lang="zh-CN" altLang="en-US" sz="2100" b="1" i="1" dirty="0">
                <a:solidFill>
                  <a:srgbClr val="0070C0"/>
                </a:solidFill>
              </a:rPr>
              <a:t>指向本行之首*</a:t>
            </a:r>
            <a:r>
              <a:rPr lang="en-US" altLang="zh-CN" sz="2100" b="1" i="1" dirty="0">
                <a:solidFill>
                  <a:srgbClr val="0070C0"/>
                </a:solidFill>
              </a:rPr>
              <a:t>/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100" dirty="0"/>
              <a:t>                break; 		</a:t>
            </a:r>
            <a:r>
              <a:rPr lang="en-US" altLang="zh-CN" sz="2100" b="1" i="1" dirty="0">
                <a:solidFill>
                  <a:srgbClr val="0070C0"/>
                </a:solidFill>
              </a:rPr>
              <a:t>     /*</a:t>
            </a:r>
            <a:r>
              <a:rPr lang="zh-CN" altLang="en-US" sz="2100" b="1" i="1" dirty="0">
                <a:solidFill>
                  <a:srgbClr val="0070C0"/>
                </a:solidFill>
              </a:rPr>
              <a:t>退出循环*</a:t>
            </a:r>
            <a:r>
              <a:rPr lang="en-US" altLang="zh-CN" sz="2100" b="1" i="1" dirty="0">
                <a:solidFill>
                  <a:srgbClr val="0070C0"/>
                </a:solidFill>
              </a:rPr>
              <a:t>/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100" dirty="0"/>
              <a:t>             }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100" dirty="0"/>
              <a:t>      return(pnt_col);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100" dirty="0"/>
              <a:t>  }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100" dirty="0"/>
              <a:t>int main(){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100" dirty="0"/>
              <a:t>       int grade[3][3]={{55,65,75},{65,75,85},{75,80,90}};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100" dirty="0"/>
              <a:t>       int i,j,*pointer; 	</a:t>
            </a:r>
            <a:r>
              <a:rPr lang="en-US" altLang="zh-CN" sz="2100" b="1" i="1" dirty="0">
                <a:solidFill>
                  <a:srgbClr val="0070C0"/>
                </a:solidFill>
              </a:rPr>
              <a:t>/*</a:t>
            </a:r>
            <a:r>
              <a:rPr lang="zh-CN" altLang="en-US" sz="2100" b="1" i="1" dirty="0">
                <a:solidFill>
                  <a:srgbClr val="0070C0"/>
                </a:solidFill>
              </a:rPr>
              <a:t>定义一个</a:t>
            </a:r>
            <a:r>
              <a:rPr lang="en-US" altLang="zh-CN" sz="2100" b="1" i="1" dirty="0">
                <a:solidFill>
                  <a:srgbClr val="0070C0"/>
                </a:solidFill>
              </a:rPr>
              <a:t>(</a:t>
            </a:r>
            <a:r>
              <a:rPr lang="zh-CN" altLang="en-US" sz="2100" b="1" i="1" dirty="0">
                <a:solidFill>
                  <a:srgbClr val="0070C0"/>
                </a:solidFill>
              </a:rPr>
              <a:t>列</a:t>
            </a:r>
            <a:r>
              <a:rPr lang="en-US" altLang="zh-CN" sz="2100" b="1" i="1" dirty="0">
                <a:solidFill>
                  <a:srgbClr val="0070C0"/>
                </a:solidFill>
              </a:rPr>
              <a:t>)</a:t>
            </a:r>
            <a:r>
              <a:rPr lang="zh-CN" altLang="en-US" sz="2100" b="1" i="1" dirty="0">
                <a:solidFill>
                  <a:srgbClr val="0070C0"/>
                </a:solidFill>
              </a:rPr>
              <a:t>指针变量</a:t>
            </a:r>
            <a:r>
              <a:rPr lang="en-US" altLang="zh-CN" sz="2100" b="1" i="1" dirty="0">
                <a:solidFill>
                  <a:srgbClr val="0070C0"/>
                </a:solidFill>
              </a:rPr>
              <a:t>pointer */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endParaRPr lang="en-US" altLang="zh-CN" sz="2100" dirty="0"/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99D325F-18E6-4ED7-83AB-EDECFB6EC37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88068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0900FE-2D5B-47DE-90DC-C8B5DA035A7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63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981075"/>
            <a:ext cx="7489825" cy="6080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5.5   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返回地址值的函数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9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9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9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9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95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095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095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95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95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95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95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95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95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95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9" name="Rectangle 3"/>
          <p:cNvSpPr>
            <a:spLocks noGrp="1"/>
          </p:cNvSpPr>
          <p:nvPr>
            <p:ph idx="1"/>
          </p:nvPr>
        </p:nvSpPr>
        <p:spPr>
          <a:xfrm>
            <a:off x="741363" y="1628775"/>
            <a:ext cx="7924800" cy="4824413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0" algn="just" eaLnBrk="1" hangingPunct="1">
              <a:buNone/>
            </a:pPr>
            <a:r>
              <a:rPr lang="en-US" altLang="zh-CN" sz="2100" dirty="0"/>
              <a:t>       </a:t>
            </a:r>
            <a:r>
              <a:rPr lang="en-US" altLang="zh-CN" sz="2000" dirty="0"/>
              <a:t>for(i=0; i&lt;3; i++) 		</a:t>
            </a:r>
            <a:r>
              <a:rPr lang="en-US" altLang="zh-CN" sz="2000" b="1" i="1" dirty="0">
                <a:solidFill>
                  <a:srgbClr val="0070C0"/>
                </a:solidFill>
              </a:rPr>
              <a:t>/*</a:t>
            </a:r>
            <a:r>
              <a:rPr lang="zh-CN" altLang="en-US" sz="2000" b="1" i="1" dirty="0">
                <a:solidFill>
                  <a:srgbClr val="0070C0"/>
                </a:solidFill>
              </a:rPr>
              <a:t>控制每个学生*</a:t>
            </a:r>
            <a:r>
              <a:rPr lang="en-US" altLang="zh-CN" sz="2000" b="1" i="1" dirty="0">
                <a:solidFill>
                  <a:srgbClr val="0070C0"/>
                </a:solidFill>
              </a:rPr>
              <a:t>/</a:t>
            </a:r>
          </a:p>
          <a:p>
            <a:pPr marL="0" indent="0" algn="just" eaLnBrk="1" hangingPunct="1">
              <a:buNone/>
            </a:pPr>
            <a:r>
              <a:rPr lang="en-US" altLang="zh-CN" sz="2000" dirty="0"/>
              <a:t>            { pointer=seek(grade+i); 	</a:t>
            </a:r>
            <a:r>
              <a:rPr lang="en-US" altLang="zh-CN" sz="2000" b="1" i="1" dirty="0">
                <a:solidFill>
                  <a:srgbClr val="0070C0"/>
                </a:solidFill>
              </a:rPr>
              <a:t>/*</a:t>
            </a:r>
            <a:r>
              <a:rPr lang="zh-CN" altLang="en-US" sz="2000" b="1" i="1" dirty="0">
                <a:solidFill>
                  <a:srgbClr val="0070C0"/>
                </a:solidFill>
              </a:rPr>
              <a:t>用行地址作实参，调用</a:t>
            </a:r>
            <a:r>
              <a:rPr lang="en-US" altLang="zh-CN" sz="2000" b="1" i="1" dirty="0">
                <a:solidFill>
                  <a:srgbClr val="0070C0"/>
                </a:solidFill>
              </a:rPr>
              <a:t>seek()</a:t>
            </a:r>
            <a:r>
              <a:rPr lang="zh-CN" altLang="en-US" sz="2000" b="1" i="1" dirty="0">
                <a:solidFill>
                  <a:srgbClr val="0070C0"/>
                </a:solidFill>
              </a:rPr>
              <a:t>函数*</a:t>
            </a:r>
            <a:r>
              <a:rPr lang="en-US" altLang="zh-CN" sz="2000" b="1" i="1" dirty="0">
                <a:solidFill>
                  <a:srgbClr val="0070C0"/>
                </a:solidFill>
              </a:rPr>
              <a:t>/</a:t>
            </a:r>
          </a:p>
          <a:p>
            <a:pPr marL="0" indent="0" algn="just" eaLnBrk="1" hangingPunct="1">
              <a:buNone/>
            </a:pPr>
            <a:r>
              <a:rPr lang="en-US" altLang="zh-CN" sz="2000" dirty="0"/>
              <a:t>               if(pointer==*(grade+i)) 	</a:t>
            </a:r>
            <a:r>
              <a:rPr lang="en-US" altLang="zh-CN" sz="2000" b="1" i="1" dirty="0">
                <a:solidFill>
                  <a:srgbClr val="0070C0"/>
                </a:solidFill>
              </a:rPr>
              <a:t>/*</a:t>
            </a:r>
            <a:r>
              <a:rPr lang="zh-CN" altLang="en-US" sz="2000" b="1" i="1" dirty="0">
                <a:solidFill>
                  <a:srgbClr val="0070C0"/>
                </a:solidFill>
              </a:rPr>
              <a:t>该学生至少有一项成绩不合格*</a:t>
            </a:r>
            <a:r>
              <a:rPr lang="en-US" altLang="zh-CN" sz="2000" b="1" i="1" dirty="0">
                <a:solidFill>
                  <a:srgbClr val="0070C0"/>
                </a:solidFill>
              </a:rPr>
              <a:t>/</a:t>
            </a:r>
          </a:p>
          <a:p>
            <a:pPr marL="0" indent="0" algn="just" eaLnBrk="1" hangingPunct="1">
              <a:buNone/>
            </a:pPr>
            <a:r>
              <a:rPr lang="en-US" altLang="zh-CN" sz="2000" dirty="0"/>
              <a:t>                    { </a:t>
            </a:r>
            <a:r>
              <a:rPr lang="en-US" altLang="zh-CN" sz="2000" b="1" i="1" dirty="0">
                <a:solidFill>
                  <a:srgbClr val="0070C0"/>
                </a:solidFill>
              </a:rPr>
              <a:t>/*</a:t>
            </a:r>
            <a:r>
              <a:rPr lang="zh-CN" altLang="en-US" sz="2000" b="1" i="1" dirty="0">
                <a:solidFill>
                  <a:srgbClr val="0070C0"/>
                </a:solidFill>
              </a:rPr>
              <a:t>输出该学生的序号和各项成绩*</a:t>
            </a:r>
            <a:r>
              <a:rPr lang="en-US" altLang="zh-CN" sz="2000" b="1" i="1" dirty="0">
                <a:solidFill>
                  <a:srgbClr val="0070C0"/>
                </a:solidFill>
              </a:rPr>
              <a:t>/</a:t>
            </a:r>
          </a:p>
          <a:p>
            <a:pPr marL="0" indent="0" algn="just" eaLnBrk="1" hangingPunct="1">
              <a:buNone/>
            </a:pPr>
            <a:r>
              <a:rPr lang="en-US" altLang="zh-CN" sz="2000" dirty="0"/>
              <a:t>                       printf(“No.%d grade list: ”, i+1); </a:t>
            </a:r>
          </a:p>
          <a:p>
            <a:pPr marL="0" indent="0" algn="just" eaLnBrk="1" hangingPunct="1">
              <a:buNone/>
            </a:pPr>
            <a:r>
              <a:rPr lang="en-US" altLang="zh-CN" sz="2000" dirty="0"/>
              <a:t>                       for(j=0; j&lt;3; j++) printf(“%d  ”,*(pointer+j));</a:t>
            </a:r>
          </a:p>
          <a:p>
            <a:pPr marL="0" indent="0" algn="just" eaLnBrk="1" hangingPunct="1">
              <a:buNone/>
            </a:pPr>
            <a:r>
              <a:rPr lang="en-US" altLang="zh-CN" sz="2000" dirty="0"/>
              <a:t>                       printf(“\n”);</a:t>
            </a:r>
          </a:p>
          <a:p>
            <a:pPr marL="0" indent="0" algn="just" eaLnBrk="1" hangingPunct="1">
              <a:buNone/>
            </a:pPr>
            <a:r>
              <a:rPr lang="en-US" altLang="zh-CN" sz="2000" dirty="0"/>
              <a:t>                    }</a:t>
            </a:r>
          </a:p>
          <a:p>
            <a:pPr marL="0" indent="0" algn="just" eaLnBrk="1" hangingPunct="1">
              <a:buNone/>
            </a:pPr>
            <a:r>
              <a:rPr lang="en-US" altLang="zh-CN" sz="2000" dirty="0"/>
              <a:t>             }</a:t>
            </a:r>
          </a:p>
          <a:p>
            <a:pPr marL="0" indent="0" algn="just" eaLnBrk="1" hangingPunct="1">
              <a:buNone/>
            </a:pPr>
            <a:r>
              <a:rPr lang="en-US" altLang="zh-CN" sz="2000" dirty="0"/>
              <a:t>       return 0;</a:t>
            </a:r>
          </a:p>
          <a:p>
            <a:pPr marL="0" indent="0" algn="just" eaLnBrk="1" hangingPunct="1">
              <a:buNone/>
            </a:pPr>
            <a:r>
              <a:rPr lang="en-US" altLang="zh-CN" sz="2000" dirty="0"/>
              <a:t>      }			</a:t>
            </a:r>
            <a:r>
              <a:rPr lang="en-US" altLang="zh-CN" sz="2100" dirty="0"/>
              <a:t>			</a:t>
            </a:r>
          </a:p>
          <a:p>
            <a:pPr marL="0" indent="0" algn="just" eaLnBrk="1" hangingPunct="1">
              <a:buNone/>
            </a:pPr>
            <a:r>
              <a:rPr lang="zh-CN" altLang="en-US" sz="2000" dirty="0">
                <a:solidFill>
                  <a:srgbClr val="002060"/>
                </a:solidFill>
              </a:rPr>
              <a:t>程序运行结果：</a:t>
            </a:r>
            <a:r>
              <a:rPr lang="en-US" altLang="zh-CN" sz="2000" dirty="0"/>
              <a:t>No.1 grade list: 55  65  75</a:t>
            </a:r>
          </a:p>
          <a:p>
            <a:pPr marL="0" indent="0" algn="just" eaLnBrk="1" hangingPunct="1">
              <a:buNone/>
            </a:pPr>
            <a:r>
              <a:rPr lang="zh-CN" altLang="en-US" sz="2000" dirty="0">
                <a:solidFill>
                  <a:srgbClr val="002060"/>
                </a:solidFill>
              </a:rPr>
              <a:t>思考：</a:t>
            </a:r>
            <a:r>
              <a:rPr lang="zh-CN" altLang="en-US" sz="2000" dirty="0"/>
              <a:t>如何改为函数返回行地址？</a:t>
            </a:r>
          </a:p>
          <a:p>
            <a:pPr marL="0" indent="0" algn="just" eaLnBrk="1" hangingPunct="1">
              <a:buNone/>
            </a:pPr>
            <a:endParaRPr lang="en-US" altLang="zh-CN" sz="2100" dirty="0"/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8A7114-B61A-4994-82A3-C3EFDA495FC5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89092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A99E3D-CBD8-4418-A796-E48748ED30A6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64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981075"/>
            <a:ext cx="7489825" cy="6080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5.5   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返回地址值的函数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111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111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111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111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1116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1116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9" dur="500"/>
                                        <p:tgtEl>
                                          <p:spTgt spid="1116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1116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1116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2000"/>
                                        <p:tgtEl>
                                          <p:spTgt spid="1116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3"/>
          <p:cNvSpPr>
            <a:spLocks noGrp="1" noChangeArrowheads="1"/>
          </p:cNvSpPr>
          <p:nvPr>
            <p:ph idx="1"/>
          </p:nvPr>
        </p:nvSpPr>
        <p:spPr>
          <a:xfrm>
            <a:off x="971550" y="1628775"/>
            <a:ext cx="7993063" cy="46799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-717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程序说明：</a:t>
            </a:r>
          </a:p>
          <a:p>
            <a:pPr marL="0" marR="0" lvl="0" indent="-717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 主函数中的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pointer=seek(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grade+i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);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语句调用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717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seek()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函数时，将实参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grade+i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（行地址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的值，复制到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717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形参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pnt_row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（行指针变量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中，使形参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pnt_row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指向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grade</a:t>
            </a:r>
          </a:p>
          <a:p>
            <a:pPr marL="0" marR="0" lvl="0" indent="-717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数组的第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行。</a:t>
            </a:r>
          </a:p>
          <a:p>
            <a:pPr marL="0" marR="0" lvl="0" indent="-717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-717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）在指针函数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seek()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中：</a:t>
            </a:r>
          </a:p>
          <a:p>
            <a:pPr marL="0" marR="0" lvl="0" indent="-717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pnt_col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=*(pnt_row+1);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语句*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(pnt_row+1)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将行地址转换为列地址，指向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grade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数组的第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i+1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行第０列，并赋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717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值给（列）指针变量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pnt_col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。</a:t>
            </a:r>
          </a:p>
          <a:p>
            <a:pPr marL="0" marR="0" lvl="0" indent="-717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B0D3C0-0374-4532-929B-46B5A4ACD23F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90116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58E77BA-B760-403A-9F67-864A2896B472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65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981075"/>
            <a:ext cx="7489825" cy="6080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5.5   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返回地址值的函数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3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3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3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3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3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3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13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1136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1136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2060575"/>
            <a:ext cx="8229600" cy="28813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-717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if(*(*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pnt_row+i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)&lt;60)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行</a:t>
            </a:r>
          </a:p>
          <a:p>
            <a:pPr marL="0" marR="0" lvl="0" indent="-717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pnt_row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是一个行地址，指向数组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grade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的第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行；*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pnt_row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717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使地址由行转换为列，指向数组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grade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的第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行０列；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717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*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pnt_row+j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的值还是一个地址，指向数组的第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行第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j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列；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717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*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(*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pnt_row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j)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是一个数据（数组元素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grade[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i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][j]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的值）。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1E1485-4CC5-45E1-9C0A-372AC4001FA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91141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CCAD413-68A9-4DA8-8DC4-C7CDD080DC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66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981075"/>
            <a:ext cx="7489825" cy="6080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5.5   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返回地址值的函数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624" y="1020762"/>
            <a:ext cx="7489825" cy="6080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5.6  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指针数组与主函数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main()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的形参</a:t>
            </a:r>
          </a:p>
        </p:txBody>
      </p:sp>
      <p:sp>
        <p:nvSpPr>
          <p:cNvPr id="93187" name="Rectangle 3"/>
          <p:cNvSpPr>
            <a:spLocks noGrp="1"/>
          </p:cNvSpPr>
          <p:nvPr>
            <p:ph idx="1"/>
          </p:nvPr>
        </p:nvSpPr>
        <p:spPr>
          <a:xfrm>
            <a:off x="684213" y="1773238"/>
            <a:ext cx="8280400" cy="4319587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-71755" eaLnBrk="1" hangingPunct="1">
              <a:lnSpc>
                <a:spcPct val="80000"/>
              </a:lnSpc>
              <a:buNone/>
            </a:pPr>
            <a:r>
              <a:rPr lang="en-US" altLang="zh-CN" sz="2400" b="1" dirty="0" smtClean="0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5.6.1  </a:t>
            </a:r>
            <a:r>
              <a:rPr lang="zh-CN" altLang="en-US" sz="2400" b="1" dirty="0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指针数组</a:t>
            </a:r>
            <a:br>
              <a:rPr lang="zh-CN" altLang="en-US" sz="2400" b="1" dirty="0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</a:br>
            <a:r>
              <a:rPr lang="zh-CN" altLang="en-US" sz="2600" dirty="0"/>
              <a:t>  </a:t>
            </a:r>
            <a:endParaRPr lang="en-US" altLang="zh-CN" sz="2600" dirty="0"/>
          </a:p>
          <a:p>
            <a:pPr marL="0" indent="-71755" eaLnBrk="1" hangingPunct="1">
              <a:lnSpc>
                <a:spcPct val="80000"/>
              </a:lnSpc>
              <a:buNone/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1.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概念</a:t>
            </a:r>
            <a:b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</a:b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-71755" eaLnBrk="1" hangingPunct="1">
              <a:lnSpc>
                <a:spcPct val="80000"/>
              </a:lnSpc>
              <a:buNone/>
            </a:pP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数组的每个元素都是一个指针数据。指针数组比较适合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-71755" eaLnBrk="1" hangingPunct="1">
              <a:lnSpc>
                <a:spcPct val="80000"/>
              </a:lnSpc>
              <a:buNone/>
            </a:pP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用于指向多个字符串，使字符串处理更加方便、灵活。</a:t>
            </a:r>
            <a:b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</a:b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-71755" eaLnBrk="1" hangingPunct="1">
              <a:lnSpc>
                <a:spcPct val="80000"/>
              </a:lnSpc>
              <a:buNone/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2.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定义格式</a:t>
            </a:r>
          </a:p>
          <a:p>
            <a:pPr marL="0" indent="-71755" eaLnBrk="1" hangingPunct="1">
              <a:lnSpc>
                <a:spcPct val="80000"/>
              </a:lnSpc>
              <a:buNone/>
            </a:pP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        数据类型  *数组名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[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元素个数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]</a:t>
            </a:r>
            <a:b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</a:b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-71755" eaLnBrk="1" hangingPunct="1">
              <a:lnSpc>
                <a:spcPct val="80000"/>
              </a:lnSpc>
              <a:buNone/>
            </a:pPr>
            <a:r>
              <a:rPr lang="en-US" altLang="zh-CN" sz="2600" dirty="0"/>
              <a:t> 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注意：与行指针变量定义格式“数据类型 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(*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行指针变量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</a:p>
          <a:p>
            <a:pPr marL="0" indent="-71755" eaLnBrk="1" hangingPunct="1">
              <a:lnSpc>
                <a:spcPct val="80000"/>
              </a:lnSpc>
              <a:buNone/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[&lt;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元素个数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&gt;]”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的差别。</a:t>
            </a:r>
          </a:p>
        </p:txBody>
      </p:sp>
      <p:sp>
        <p:nvSpPr>
          <p:cNvPr id="6" name="日期占位符 5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143C71-CCC7-4F21-B5B7-60E92D563123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92165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6440172-DA98-4FE0-848B-98304EA8C2C9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67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1916113"/>
            <a:ext cx="8229600" cy="30972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-3619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[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5.12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]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有若干计算机图书，请按字母顺序，从小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3619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到大输出书名。解题要求：使用排序函数完成排序，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3619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在主函数中进行输入输出。</a:t>
            </a:r>
            <a:b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</a:b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3619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/*</a:t>
            </a:r>
            <a:r>
              <a:rPr kumimoji="0" lang="zh-CN" alt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程序功能：指针数组应用示例*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51A4BC3-967B-40EB-A8D0-4E4ADAA9693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93189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756034-0C0B-48F0-A181-5BD4695012D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68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624" y="1020762"/>
            <a:ext cx="7489825" cy="6080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5.6  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指针数组与主函数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main()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的形参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3"/>
          <p:cNvSpPr>
            <a:spLocks noGrp="1"/>
          </p:cNvSpPr>
          <p:nvPr>
            <p:ph idx="1"/>
          </p:nvPr>
        </p:nvSpPr>
        <p:spPr>
          <a:xfrm>
            <a:off x="611188" y="1773238"/>
            <a:ext cx="8153400" cy="4608512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000" b="1" i="1" dirty="0">
                <a:solidFill>
                  <a:srgbClr val="0070C0"/>
                </a:solidFill>
              </a:rPr>
              <a:t>/***********************************************/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000" b="1" i="1" dirty="0">
                <a:solidFill>
                  <a:srgbClr val="0070C0"/>
                </a:solidFill>
              </a:rPr>
              <a:t>/* sort()</a:t>
            </a:r>
            <a:r>
              <a:rPr lang="zh-CN" altLang="en-US" sz="2000" b="1" i="1" dirty="0">
                <a:solidFill>
                  <a:srgbClr val="0070C0"/>
                </a:solidFill>
              </a:rPr>
              <a:t>函数：对字符指针数组进行排序                       *</a:t>
            </a:r>
            <a:r>
              <a:rPr lang="en-US" altLang="zh-CN" sz="2000" b="1" i="1" dirty="0">
                <a:solidFill>
                  <a:srgbClr val="0070C0"/>
                </a:solidFill>
              </a:rPr>
              <a:t>/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000" b="1" i="1" dirty="0">
                <a:solidFill>
                  <a:srgbClr val="0070C0"/>
                </a:solidFill>
              </a:rPr>
              <a:t>/*</a:t>
            </a:r>
            <a:r>
              <a:rPr lang="zh-CN" altLang="en-US" sz="2000" b="1" i="1" dirty="0">
                <a:solidFill>
                  <a:srgbClr val="0070C0"/>
                </a:solidFill>
              </a:rPr>
              <a:t>形参：</a:t>
            </a:r>
            <a:r>
              <a:rPr lang="en-US" altLang="zh-CN" sz="2000" b="1" i="1" dirty="0">
                <a:solidFill>
                  <a:srgbClr val="0070C0"/>
                </a:solidFill>
              </a:rPr>
              <a:t>name——</a:t>
            </a:r>
            <a:r>
              <a:rPr lang="zh-CN" altLang="en-US" sz="2000" b="1" i="1" dirty="0">
                <a:solidFill>
                  <a:srgbClr val="0070C0"/>
                </a:solidFill>
              </a:rPr>
              <a:t>字符指针数组，</a:t>
            </a:r>
            <a:r>
              <a:rPr lang="en-US" altLang="zh-CN" sz="2000" b="1" i="1" dirty="0">
                <a:solidFill>
                  <a:srgbClr val="0070C0"/>
                </a:solidFill>
              </a:rPr>
              <a:t>count——</a:t>
            </a:r>
            <a:r>
              <a:rPr lang="zh-CN" altLang="en-US" sz="2000" b="1" i="1" dirty="0">
                <a:solidFill>
                  <a:srgbClr val="0070C0"/>
                </a:solidFill>
              </a:rPr>
              <a:t>元素个数*</a:t>
            </a:r>
            <a:r>
              <a:rPr lang="en-US" altLang="zh-CN" sz="2000" b="1" i="1" dirty="0">
                <a:solidFill>
                  <a:srgbClr val="0070C0"/>
                </a:solidFill>
              </a:rPr>
              <a:t>/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000" b="1" i="1" dirty="0">
                <a:solidFill>
                  <a:srgbClr val="0070C0"/>
                </a:solidFill>
              </a:rPr>
              <a:t>/*</a:t>
            </a:r>
            <a:r>
              <a:rPr lang="zh-CN" altLang="en-US" sz="2000" b="1" i="1" dirty="0">
                <a:solidFill>
                  <a:srgbClr val="0070C0"/>
                </a:solidFill>
              </a:rPr>
              <a:t>返回值：无                                                                    *</a:t>
            </a:r>
            <a:r>
              <a:rPr lang="en-US" altLang="zh-CN" sz="2000" b="1" i="1" dirty="0">
                <a:solidFill>
                  <a:srgbClr val="0070C0"/>
                </a:solidFill>
              </a:rPr>
              <a:t>/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000" b="1" i="1" dirty="0">
                <a:solidFill>
                  <a:srgbClr val="0070C0"/>
                </a:solidFill>
              </a:rPr>
              <a:t>/***********************************************/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400" b="1" dirty="0"/>
              <a:t>void  sort(char *name[ ], int count)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400" b="1" dirty="0"/>
              <a:t>   { char *temp_p;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400" b="1" dirty="0"/>
              <a:t>      int i,j,min;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100" b="1" dirty="0"/>
              <a:t>        </a:t>
            </a:r>
            <a:r>
              <a:rPr lang="en-US" altLang="zh-CN" sz="2400" b="1" dirty="0"/>
              <a:t>for(i=0; i&lt;count-1; i++)        </a:t>
            </a:r>
            <a:r>
              <a:rPr lang="en-US" altLang="zh-CN" sz="2100" b="1" i="1" dirty="0">
                <a:solidFill>
                  <a:srgbClr val="0070C0"/>
                </a:solidFill>
              </a:rPr>
              <a:t>/*</a:t>
            </a:r>
            <a:r>
              <a:rPr lang="zh-CN" altLang="en-US" sz="2100" b="1" i="1" dirty="0">
                <a:solidFill>
                  <a:srgbClr val="0070C0"/>
                </a:solidFill>
              </a:rPr>
              <a:t>外循环：控制选择次数*</a:t>
            </a:r>
            <a:r>
              <a:rPr lang="en-US" altLang="zh-CN" sz="2100" b="1" i="1" dirty="0">
                <a:solidFill>
                  <a:srgbClr val="0070C0"/>
                </a:solidFill>
              </a:rPr>
              <a:t>/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400" b="1" dirty="0"/>
              <a:t>        { min=i; </a:t>
            </a:r>
            <a:r>
              <a:rPr lang="en-US" altLang="zh-CN" sz="2100" b="1" dirty="0"/>
              <a:t>		                </a:t>
            </a:r>
            <a:r>
              <a:rPr lang="en-US" altLang="zh-CN" sz="2100" b="1" i="1" dirty="0">
                <a:solidFill>
                  <a:srgbClr val="0070C0"/>
                </a:solidFill>
              </a:rPr>
              <a:t>/*</a:t>
            </a:r>
            <a:r>
              <a:rPr lang="zh-CN" altLang="en-US" sz="2100" b="1" i="1" dirty="0">
                <a:solidFill>
                  <a:srgbClr val="0070C0"/>
                </a:solidFill>
              </a:rPr>
              <a:t>预置本次最小串的位置*</a:t>
            </a:r>
            <a:r>
              <a:rPr lang="en-US" altLang="zh-CN" sz="2100" b="1" i="1" dirty="0">
                <a:solidFill>
                  <a:srgbClr val="0070C0"/>
                </a:solidFill>
              </a:rPr>
              <a:t>/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100" b="1" dirty="0"/>
              <a:t>          </a:t>
            </a:r>
            <a:r>
              <a:rPr lang="en-US" altLang="zh-CN" sz="2400" b="1" dirty="0"/>
              <a:t>for(j=i+1; j&lt;count; j++)</a:t>
            </a:r>
            <a:r>
              <a:rPr lang="en-US" altLang="zh-CN" sz="2100" b="1" dirty="0"/>
              <a:t>   </a:t>
            </a:r>
            <a:r>
              <a:rPr lang="en-US" altLang="zh-CN" sz="2100" b="1" i="1" dirty="0">
                <a:solidFill>
                  <a:srgbClr val="0070C0"/>
                </a:solidFill>
              </a:rPr>
              <a:t>/*</a:t>
            </a:r>
            <a:r>
              <a:rPr lang="zh-CN" altLang="en-US" sz="2100" b="1" i="1" dirty="0">
                <a:solidFill>
                  <a:srgbClr val="0070C0"/>
                </a:solidFill>
              </a:rPr>
              <a:t>内循环：选出本次的最小串*</a:t>
            </a:r>
            <a:r>
              <a:rPr lang="en-US" altLang="zh-CN" sz="2100" b="1" i="1" dirty="0">
                <a:solidFill>
                  <a:srgbClr val="0070C0"/>
                </a:solidFill>
              </a:rPr>
              <a:t>/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100" b="1" dirty="0"/>
              <a:t>               </a:t>
            </a:r>
            <a:r>
              <a:rPr lang="en-US" altLang="zh-CN" sz="2400" b="1" dirty="0"/>
              <a:t>if(strcmp(name[min],name[j])&gt;0) </a:t>
            </a:r>
            <a:r>
              <a:rPr lang="en-US" altLang="zh-CN" sz="2100" b="1" i="1" dirty="0">
                <a:solidFill>
                  <a:srgbClr val="0070C0"/>
                </a:solidFill>
              </a:rPr>
              <a:t>/*</a:t>
            </a:r>
            <a:r>
              <a:rPr lang="zh-CN" altLang="en-US" sz="2100" b="1" i="1" dirty="0">
                <a:solidFill>
                  <a:srgbClr val="0070C0"/>
                </a:solidFill>
              </a:rPr>
              <a:t>存在更小的串*</a:t>
            </a:r>
            <a:r>
              <a:rPr lang="en-US" altLang="zh-CN" sz="2100" b="1" i="1" dirty="0">
                <a:solidFill>
                  <a:srgbClr val="0070C0"/>
                </a:solidFill>
              </a:rPr>
              <a:t>/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100" b="1" dirty="0"/>
              <a:t>                   </a:t>
            </a:r>
            <a:r>
              <a:rPr lang="en-US" altLang="zh-CN" sz="2400" b="1" dirty="0"/>
              <a:t>min=j; </a:t>
            </a:r>
            <a:r>
              <a:rPr lang="en-US" altLang="zh-CN" sz="2100" b="1" dirty="0"/>
              <a:t>			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100" b="1" dirty="0"/>
              <a:t>           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endParaRPr lang="en-US" altLang="zh-CN" sz="2100" b="1" dirty="0"/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62EF55-49C3-4982-9A9B-61059392F3B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94212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3A1F98-986C-47C8-BA35-6A0B23BAAA4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69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624" y="1020762"/>
            <a:ext cx="7489825" cy="6080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5.6  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指针数组与主函数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main()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的形参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3"/>
          <p:cNvSpPr>
            <a:spLocks noGrp="1"/>
          </p:cNvSpPr>
          <p:nvPr>
            <p:ph idx="1"/>
          </p:nvPr>
        </p:nvSpPr>
        <p:spPr>
          <a:xfrm>
            <a:off x="1258888" y="1628775"/>
            <a:ext cx="8077200" cy="4968875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000" b="1" dirty="0"/>
              <a:t>if(min!=i) 		</a:t>
            </a:r>
            <a:r>
              <a:rPr lang="en-US" altLang="zh-CN" sz="2000" b="1" i="1" dirty="0">
                <a:solidFill>
                  <a:srgbClr val="0070C0"/>
                </a:solidFill>
              </a:rPr>
              <a:t>/*</a:t>
            </a:r>
            <a:r>
              <a:rPr lang="zh-CN" altLang="en-US" sz="2000" b="1" i="1" dirty="0">
                <a:solidFill>
                  <a:srgbClr val="0070C0"/>
                </a:solidFill>
              </a:rPr>
              <a:t>存在更小的串，交换位置*</a:t>
            </a:r>
            <a:r>
              <a:rPr lang="en-US" altLang="zh-CN" sz="2000" b="1" i="1" dirty="0">
                <a:solidFill>
                  <a:srgbClr val="0070C0"/>
                </a:solidFill>
              </a:rPr>
              <a:t>/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000" b="1" dirty="0"/>
              <a:t>                temp_p=name[i],name[i]=name[min],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000" b="1" dirty="0"/>
              <a:t>                name[min]=temp_p;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000" b="1" dirty="0"/>
              <a:t>          }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000" b="1" dirty="0"/>
              <a:t>     }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endParaRPr lang="en-US" altLang="zh-CN" sz="2000" dirty="0"/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000" dirty="0"/>
              <a:t>int main(){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000" dirty="0"/>
              <a:t>      char *name[5]={“BASIC”,”FORTRAN”,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000" dirty="0"/>
              <a:t>                               ”PASCAL”,”C”,”FoxBASE”};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000" dirty="0"/>
              <a:t>      int i=0;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000" dirty="0"/>
              <a:t>       sort(name,5);  </a:t>
            </a:r>
            <a:r>
              <a:rPr lang="en-US" altLang="zh-CN" sz="2000" b="1" i="1" dirty="0">
                <a:solidFill>
                  <a:srgbClr val="0070C0"/>
                </a:solidFill>
              </a:rPr>
              <a:t>/*</a:t>
            </a:r>
            <a:r>
              <a:rPr lang="zh-CN" altLang="en-US" sz="2000" b="1" i="1" dirty="0">
                <a:solidFill>
                  <a:srgbClr val="0070C0"/>
                </a:solidFill>
              </a:rPr>
              <a:t>使用字符指针数组名作实参，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zh-CN" altLang="en-US" sz="2000" b="1" i="1" dirty="0">
                <a:solidFill>
                  <a:srgbClr val="0070C0"/>
                </a:solidFill>
              </a:rPr>
              <a:t>                                            调用排序函数</a:t>
            </a:r>
            <a:r>
              <a:rPr lang="en-US" altLang="zh-CN" sz="2000" b="1" i="1" dirty="0">
                <a:solidFill>
                  <a:srgbClr val="0070C0"/>
                </a:solidFill>
              </a:rPr>
              <a:t>sort()*/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000" dirty="0"/>
              <a:t>       for(; i&lt;5; i++) printf(“%s\n”,name[i]);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000" dirty="0"/>
              <a:t>      return 0;    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000" dirty="0"/>
              <a:t>}	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endParaRPr lang="en-US" altLang="zh-CN" sz="2000" dirty="0"/>
          </a:p>
          <a:p>
            <a:pPr marL="0" indent="0" algn="just" eaLnBrk="1" hangingPunct="1">
              <a:lnSpc>
                <a:spcPct val="80000"/>
              </a:lnSpc>
              <a:buNone/>
            </a:pPr>
            <a:endParaRPr lang="en-US" altLang="zh-CN" sz="1500" dirty="0"/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1500" dirty="0"/>
              <a:t>		</a:t>
            </a:r>
            <a:r>
              <a:rPr lang="en-US" altLang="zh-CN" sz="700" dirty="0"/>
              <a:t>				</a:t>
            </a:r>
            <a:endParaRPr lang="en-US" altLang="zh-CN" sz="700" b="1" dirty="0"/>
          </a:p>
          <a:p>
            <a:pPr marL="0" indent="0" algn="just" eaLnBrk="1" hangingPunct="1">
              <a:lnSpc>
                <a:spcPct val="80000"/>
              </a:lnSpc>
              <a:buNone/>
            </a:pPr>
            <a:endParaRPr lang="en-US" altLang="zh-CN" sz="700" dirty="0"/>
          </a:p>
          <a:p>
            <a:pPr marL="0" indent="0" algn="just" eaLnBrk="1" hangingPunct="1">
              <a:lnSpc>
                <a:spcPct val="80000"/>
              </a:lnSpc>
              <a:buNone/>
            </a:pPr>
            <a:endParaRPr lang="en-US" altLang="zh-CN" sz="700" dirty="0"/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FDD8106-EF88-4B36-B1D9-43F9D1B69273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95236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00AE7E2-E8FE-41E0-A1CB-95443E4845F1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70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3"/>
          <p:cNvSpPr>
            <a:spLocks noGrp="1"/>
          </p:cNvSpPr>
          <p:nvPr>
            <p:ph idx="1"/>
          </p:nvPr>
        </p:nvSpPr>
        <p:spPr>
          <a:xfrm>
            <a:off x="684213" y="1773238"/>
            <a:ext cx="7924800" cy="3311525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577850" algn="just" eaLnBrk="1" hangingPunct="1">
              <a:lnSpc>
                <a:spcPct val="90000"/>
              </a:lnSpc>
              <a:buNone/>
            </a:pPr>
            <a:r>
              <a:rPr lang="zh-CN" altLang="en-US" sz="2100" dirty="0"/>
              <a:t>程序运行结果：</a:t>
            </a:r>
          </a:p>
          <a:p>
            <a:pPr marL="0" indent="577850" algn="just" eaLnBrk="1" hangingPunct="1">
              <a:lnSpc>
                <a:spcPct val="90000"/>
              </a:lnSpc>
              <a:buNone/>
            </a:pPr>
            <a:r>
              <a:rPr lang="en-US" altLang="zh-CN" sz="2100" dirty="0"/>
              <a:t>BASIC</a:t>
            </a:r>
          </a:p>
          <a:p>
            <a:pPr marL="0" indent="577850" algn="just" eaLnBrk="1" hangingPunct="1">
              <a:lnSpc>
                <a:spcPct val="90000"/>
              </a:lnSpc>
              <a:buNone/>
            </a:pPr>
            <a:r>
              <a:rPr lang="en-US" altLang="zh-CN" sz="2100" dirty="0"/>
              <a:t>C</a:t>
            </a:r>
          </a:p>
          <a:p>
            <a:pPr marL="0" indent="577850" algn="just" eaLnBrk="1" hangingPunct="1">
              <a:lnSpc>
                <a:spcPct val="90000"/>
              </a:lnSpc>
              <a:buNone/>
            </a:pPr>
            <a:r>
              <a:rPr lang="en-US" altLang="zh-CN" sz="2100" dirty="0"/>
              <a:t>FORTRAN</a:t>
            </a:r>
          </a:p>
          <a:p>
            <a:pPr marL="0" indent="577850" algn="just" eaLnBrk="1" hangingPunct="1">
              <a:lnSpc>
                <a:spcPct val="90000"/>
              </a:lnSpc>
              <a:buNone/>
            </a:pPr>
            <a:r>
              <a:rPr lang="en-US" altLang="zh-CN" sz="2100" dirty="0"/>
              <a:t>FoxBASE</a:t>
            </a:r>
          </a:p>
          <a:p>
            <a:pPr marL="0" indent="577850" algn="just" eaLnBrk="1" hangingPunct="1">
              <a:lnSpc>
                <a:spcPct val="90000"/>
              </a:lnSpc>
              <a:buNone/>
            </a:pPr>
            <a:r>
              <a:rPr lang="en-US" altLang="zh-CN" sz="2100" dirty="0"/>
              <a:t>PASCAL</a:t>
            </a:r>
            <a:endParaRPr lang="en-US" altLang="zh-CN" sz="2100" b="1" dirty="0"/>
          </a:p>
          <a:p>
            <a:pPr marL="0" indent="577850" algn="just" eaLnBrk="1" hangingPunct="1">
              <a:lnSpc>
                <a:spcPct val="90000"/>
              </a:lnSpc>
              <a:buNone/>
            </a:pPr>
            <a:endParaRPr lang="en-US" altLang="zh-CN" sz="2100" b="1" dirty="0"/>
          </a:p>
          <a:p>
            <a:pPr marL="0" indent="577850" algn="just" eaLnBrk="1" hangingPunct="1">
              <a:lnSpc>
                <a:spcPct val="90000"/>
              </a:lnSpc>
              <a:buNone/>
            </a:pPr>
            <a:endParaRPr lang="en-US" altLang="zh-CN" sz="2100" dirty="0"/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EFA1EFD-ADAB-4FE0-B6FB-1A6DFD3F9185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96260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41D5DDB-DC9E-4248-B44A-3A4E59C015E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71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624" y="1020762"/>
            <a:ext cx="7489825" cy="6080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5.6  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指针数组与主函数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main()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的形参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D7841F9-7502-41A6-8DF7-A4770235D61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15283C-7D90-47C0-A986-CF07A662094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72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55650" y="2060575"/>
            <a:ext cx="7488238" cy="347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5778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程序说明：</a:t>
            </a:r>
          </a:p>
          <a:p>
            <a:pPr marL="0" marR="0" lvl="0" indent="5778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）实参对形参的值传递：</a:t>
            </a:r>
          </a:p>
          <a:p>
            <a:pPr marL="0" marR="0" lvl="0" indent="5778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zh-CN" alt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               </a:t>
            </a: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sort(  name  ,     5 )</a:t>
            </a:r>
            <a:r>
              <a:rPr kumimoji="0" lang="zh-CN" alt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；</a:t>
            </a:r>
          </a:p>
          <a:p>
            <a:pPr marL="0" marR="0" lvl="0" indent="5778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zh-CN" alt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                          ↓          ↓</a:t>
            </a:r>
          </a:p>
          <a:p>
            <a:pPr marL="0" marR="0" lvl="0" indent="5778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void sort(char *name[ ], int count)</a:t>
            </a:r>
          </a:p>
          <a:p>
            <a:pPr marL="0" marR="0" lvl="0" indent="5778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endParaRPr kumimoji="0" lang="en-US" altLang="zh-CN" sz="2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华文新魏" panose="02010800040101010101" pitchFamily="2" charset="-122"/>
              <a:cs typeface="+mn-cs"/>
            </a:endParaRPr>
          </a:p>
          <a:p>
            <a:pPr marL="0" marR="0" lvl="0" indent="5778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）字符串的比较只能使用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strcmp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函数。形参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5778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字符指针数组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name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的每个元素，都是一个指向字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5778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符串的地址，所以有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strcmp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(name[min],name[j])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。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624" y="1020762"/>
            <a:ext cx="7489825" cy="6080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5.6  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指针数组与主函数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main()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的形参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773238"/>
            <a:ext cx="8077200" cy="46085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-7175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在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[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例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5.12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]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的主函数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main()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中，数组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name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是一个字符指针数组，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7175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即数组的每一个元素都是一个指向字符串的指针。既然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name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是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7175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一个数组，则它的每一个元素也同样有相应的地址，因此可以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7175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设置一个指针变量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pointer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，使其指向指针数组的元素（元素的值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7175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还是一个地址），称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pointer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为指向地址的指针变量。显然，指向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7175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地址的指针变量是一个两级的指针变量。</a:t>
            </a:r>
          </a:p>
          <a:p>
            <a:pPr marL="0" marR="0" lvl="0" indent="-7175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-7175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1.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指向地址的指针变量的定义</a:t>
            </a:r>
          </a:p>
          <a:p>
            <a:pPr marL="0" marR="0" lvl="0" indent="-7175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   数据类型  **指针变量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[, **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指针变量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2……]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；</a:t>
            </a:r>
          </a:p>
          <a:p>
            <a:pPr marL="0" marR="0" lvl="0" indent="-7175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-7175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2.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指向指针的指针变量的赋值</a:t>
            </a:r>
          </a:p>
          <a:p>
            <a:pPr marL="0" marR="0" lvl="0" indent="-7175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   指针变量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=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指针数组名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+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i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	</a:t>
            </a:r>
          </a:p>
          <a:p>
            <a:pPr marL="0" marR="0" lvl="0" indent="5778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2984F1B-438B-450F-89C2-608C1DF2D93F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97284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FF689-6EBB-4E1F-BFB6-0D07F5F316A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73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16013" y="1125538"/>
            <a:ext cx="6335713" cy="479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-7175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5.6.1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指向地址的指针变量简介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450" y="765175"/>
            <a:ext cx="8540750" cy="863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指向地址的指针举例</a:t>
            </a:r>
          </a:p>
        </p:txBody>
      </p:sp>
      <p:sp>
        <p:nvSpPr>
          <p:cNvPr id="100355" name="Rectangle 3"/>
          <p:cNvSpPr>
            <a:spLocks noGrp="1"/>
          </p:cNvSpPr>
          <p:nvPr>
            <p:ph idx="1"/>
          </p:nvPr>
        </p:nvSpPr>
        <p:spPr>
          <a:xfrm>
            <a:off x="827088" y="1844675"/>
            <a:ext cx="7561262" cy="4754563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80000"/>
              </a:lnSpc>
              <a:buNone/>
            </a:pPr>
            <a:r>
              <a:rPr lang="en-US" altLang="zh-CN" sz="2600" i="1" dirty="0">
                <a:solidFill>
                  <a:srgbClr val="0070C0"/>
                </a:solidFill>
              </a:rPr>
              <a:t>/* </a:t>
            </a:r>
            <a:r>
              <a:rPr lang="zh-CN" altLang="en-US" sz="2600" i="1" dirty="0">
                <a:solidFill>
                  <a:srgbClr val="0070C0"/>
                </a:solidFill>
              </a:rPr>
              <a:t>利用指向字符指针的指针打印字符串数组 *</a:t>
            </a:r>
            <a:r>
              <a:rPr lang="en-US" altLang="zh-CN" sz="2600" i="1" dirty="0">
                <a:solidFill>
                  <a:srgbClr val="0070C0"/>
                </a:solidFill>
              </a:rPr>
              <a:t>/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600" b="1" dirty="0"/>
              <a:t>int main(){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600" b="1" dirty="0"/>
              <a:t>    char *name[ ]={"Tom", "John", "Kate"};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600" b="1" dirty="0"/>
              <a:t>    char **p;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600" b="1" dirty="0"/>
              <a:t>    int i;</a:t>
            </a:r>
          </a:p>
          <a:p>
            <a:pPr eaLnBrk="1" hangingPunct="1">
              <a:lnSpc>
                <a:spcPct val="80000"/>
              </a:lnSpc>
              <a:buNone/>
            </a:pPr>
            <a:endParaRPr lang="en-US" altLang="zh-CN" sz="2600" b="1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600" b="1" dirty="0"/>
              <a:t>    p = name;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600" b="1" dirty="0"/>
              <a:t>    for (i=0; i&lt;3; i++)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600" b="1" dirty="0"/>
              <a:t>        printf("%s\n", *p++);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600" b="1" dirty="0"/>
              <a:t>}</a:t>
            </a:r>
          </a:p>
          <a:p>
            <a:pPr eaLnBrk="1" hangingPunct="1">
              <a:lnSpc>
                <a:spcPct val="80000"/>
              </a:lnSpc>
              <a:buNone/>
            </a:pPr>
            <a:endParaRPr lang="en-US" altLang="zh-CN" sz="2600" dirty="0"/>
          </a:p>
        </p:txBody>
      </p:sp>
      <p:sp>
        <p:nvSpPr>
          <p:cNvPr id="6" name="日期占位符 5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B027A5-0035-492E-A3A6-3D980E30C53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98309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379439-D7B0-4A24-BBAF-26D70251BC59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74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773238"/>
            <a:ext cx="8540750" cy="43195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在以往的程序中，主函数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main()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都使用其无参形式。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实际上，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主函数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main()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也是可以指定形参的。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[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5.13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]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用同一程序实现文件的加密和解密。约定：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程序的可执行文件名为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lock.exe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， 其用法为：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lock +|-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&lt;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被处理的文件名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&gt;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，其中“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+”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为加密，“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-”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为解密。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/*</a:t>
            </a:r>
            <a:r>
              <a:rPr kumimoji="0" lang="zh-CN" alt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程序功能：带参主函数的应用示例*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7B5933-9F9B-49AC-9B94-2A24F17407DF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99332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942D4A6-E419-4074-8CDF-80391A2E286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75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87624" y="1106488"/>
            <a:ext cx="4884738" cy="5222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5.6.2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主函数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main()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的形参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3"/>
          <p:cNvSpPr>
            <a:spLocks noGrp="1"/>
          </p:cNvSpPr>
          <p:nvPr>
            <p:ph idx="1"/>
          </p:nvPr>
        </p:nvSpPr>
        <p:spPr>
          <a:xfrm>
            <a:off x="755650" y="1773238"/>
            <a:ext cx="7772400" cy="4470400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400" dirty="0"/>
              <a:t>int main(int argc, char *argv[])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400" dirty="0"/>
              <a:t>   { char c;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  if (argc != 3) printf("</a:t>
            </a:r>
            <a:r>
              <a:rPr lang="zh-CN" altLang="en-US" sz="2400" dirty="0"/>
              <a:t>参数个数不对！</a:t>
            </a:r>
            <a:r>
              <a:rPr lang="en-US" altLang="zh-CN" sz="2400" dirty="0"/>
              <a:t>\n");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  else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     { c=*argv[1];		</a:t>
            </a:r>
            <a:r>
              <a:rPr lang="en-US" altLang="zh-CN" sz="2400" b="1" i="1" dirty="0">
                <a:solidFill>
                  <a:srgbClr val="0070C0"/>
                </a:solidFill>
              </a:rPr>
              <a:t>/*</a:t>
            </a:r>
            <a:r>
              <a:rPr lang="zh-CN" altLang="en-US" sz="2400" b="1" i="1" dirty="0">
                <a:solidFill>
                  <a:srgbClr val="0070C0"/>
                </a:solidFill>
              </a:rPr>
              <a:t>截取第二个实参字符串的</a:t>
            </a:r>
            <a:endParaRPr lang="en-US" altLang="zh-CN" sz="2400" b="1" i="1" dirty="0">
              <a:solidFill>
                <a:srgbClr val="0070C0"/>
              </a:solidFill>
            </a:endParaRP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400" b="1" i="1" dirty="0">
                <a:solidFill>
                  <a:srgbClr val="0070C0"/>
                </a:solidFill>
              </a:rPr>
              <a:t>                                             </a:t>
            </a:r>
            <a:r>
              <a:rPr lang="zh-CN" altLang="en-US" sz="2400" b="1" i="1" dirty="0">
                <a:solidFill>
                  <a:srgbClr val="0070C0"/>
                </a:solidFill>
              </a:rPr>
              <a:t>第一个字符*</a:t>
            </a:r>
            <a:r>
              <a:rPr lang="en-US" altLang="zh-CN" sz="2400" b="1" i="1" dirty="0">
                <a:solidFill>
                  <a:srgbClr val="0070C0"/>
                </a:solidFill>
              </a:rPr>
              <a:t>/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        switch(c)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400" dirty="0"/>
              <a:t>	{ case '+': 		</a:t>
            </a:r>
            <a:r>
              <a:rPr lang="en-US" altLang="zh-CN" sz="2400" b="1" i="1" dirty="0">
                <a:solidFill>
                  <a:srgbClr val="0070C0"/>
                </a:solidFill>
              </a:rPr>
              <a:t>/*</a:t>
            </a:r>
            <a:r>
              <a:rPr lang="zh-CN" altLang="en-US" sz="2400" b="1" i="1" dirty="0">
                <a:solidFill>
                  <a:srgbClr val="0070C0"/>
                </a:solidFill>
              </a:rPr>
              <a:t>执行加密*</a:t>
            </a:r>
            <a:r>
              <a:rPr lang="en-US" altLang="zh-CN" sz="2400" b="1" i="1" dirty="0">
                <a:solidFill>
                  <a:srgbClr val="0070C0"/>
                </a:solidFill>
              </a:rPr>
              <a:t>/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400" dirty="0"/>
              <a:t>	          { </a:t>
            </a:r>
            <a:r>
              <a:rPr lang="en-US" altLang="zh-CN" sz="2400" b="1" i="1" dirty="0">
                <a:solidFill>
                  <a:srgbClr val="0070C0"/>
                </a:solidFill>
              </a:rPr>
              <a:t>/*</a:t>
            </a:r>
            <a:r>
              <a:rPr lang="zh-CN" altLang="en-US" sz="2400" b="1" i="1" dirty="0">
                <a:solidFill>
                  <a:srgbClr val="0070C0"/>
                </a:solidFill>
              </a:rPr>
              <a:t>加密程序段*</a:t>
            </a:r>
            <a:r>
              <a:rPr lang="en-US" altLang="zh-CN" sz="2400" b="1" i="1" dirty="0">
                <a:solidFill>
                  <a:srgbClr val="0070C0"/>
                </a:solidFill>
              </a:rPr>
              <a:t>/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400" dirty="0"/>
              <a:t>	             printf("</a:t>
            </a:r>
            <a:r>
              <a:rPr lang="zh-CN" altLang="en-US" sz="2400" dirty="0"/>
              <a:t>执行加密程序段。</a:t>
            </a:r>
            <a:r>
              <a:rPr lang="en-US" altLang="zh-CN" sz="2400" dirty="0"/>
              <a:t>\n");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400" dirty="0"/>
              <a:t>	           }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400" dirty="0"/>
              <a:t>	           break;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zh-CN" sz="2600" dirty="0"/>
              <a:t>	     			</a:t>
            </a: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6205A67-819C-4489-9C7C-692E86115F45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00356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DA353F-7106-4BB0-B0B4-CCED94466A5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76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87624" y="1106488"/>
            <a:ext cx="4884738" cy="5222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5.6.2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主函数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main()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的形参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3"/>
          <p:cNvSpPr>
            <a:spLocks noGrp="1"/>
          </p:cNvSpPr>
          <p:nvPr>
            <p:ph idx="1"/>
          </p:nvPr>
        </p:nvSpPr>
        <p:spPr>
          <a:xfrm>
            <a:off x="755650" y="1773238"/>
            <a:ext cx="8540750" cy="3816350"/>
          </a:xfrm>
          <a:ln/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        case '-': 		</a:t>
            </a:r>
            <a:r>
              <a:rPr lang="en-US" altLang="zh-CN" sz="2400" b="1" i="1" dirty="0">
                <a:solidFill>
                  <a:srgbClr val="0070C0"/>
                </a:solidFill>
              </a:rPr>
              <a:t>/*</a:t>
            </a:r>
            <a:r>
              <a:rPr lang="zh-CN" altLang="en-US" sz="2400" b="1" i="1" dirty="0">
                <a:solidFill>
                  <a:srgbClr val="0070C0"/>
                </a:solidFill>
              </a:rPr>
              <a:t>执行解密*</a:t>
            </a:r>
            <a:r>
              <a:rPr lang="en-US" altLang="zh-CN" sz="2400" b="1" i="1" dirty="0">
                <a:solidFill>
                  <a:srgbClr val="0070C0"/>
                </a:solidFill>
              </a:rPr>
              <a:t>/</a:t>
            </a: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 dirty="0"/>
              <a:t>	           { </a:t>
            </a:r>
            <a:r>
              <a:rPr lang="en-US" altLang="zh-CN" sz="2400" b="1" i="1" dirty="0">
                <a:solidFill>
                  <a:srgbClr val="0070C0"/>
                </a:solidFill>
              </a:rPr>
              <a:t>/*</a:t>
            </a:r>
            <a:r>
              <a:rPr lang="zh-CN" altLang="en-US" sz="2400" b="1" i="1" dirty="0">
                <a:solidFill>
                  <a:srgbClr val="0070C0"/>
                </a:solidFill>
              </a:rPr>
              <a:t>解密程序段*</a:t>
            </a:r>
            <a:r>
              <a:rPr lang="en-US" altLang="zh-CN" sz="2400" b="1" i="1" dirty="0">
                <a:solidFill>
                  <a:srgbClr val="0070C0"/>
                </a:solidFill>
              </a:rPr>
              <a:t>/</a:t>
            </a: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 dirty="0"/>
              <a:t>	              printf("</a:t>
            </a:r>
            <a:r>
              <a:rPr lang="zh-CN" altLang="en-US" sz="2400" dirty="0"/>
              <a:t>执行解密程序段。</a:t>
            </a:r>
            <a:r>
              <a:rPr lang="en-US" altLang="zh-CN" sz="2400" dirty="0"/>
              <a:t>\n");</a:t>
            </a: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 dirty="0"/>
              <a:t>	            }</a:t>
            </a: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 dirty="0"/>
              <a:t>	            break;</a:t>
            </a: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         default: printf("</a:t>
            </a:r>
            <a:r>
              <a:rPr lang="zh-CN" altLang="en-US" sz="2400" dirty="0"/>
              <a:t>第二个参数错误！</a:t>
            </a:r>
            <a:r>
              <a:rPr lang="en-US" altLang="zh-CN" sz="2400" dirty="0"/>
              <a:t>\n");</a:t>
            </a: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        }</a:t>
            </a: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      }</a:t>
            </a: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      return 0;</a:t>
            </a: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   } 			</a:t>
            </a: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FEC8A5-9646-4848-85ED-7EA34374E56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01380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40F2341-91EA-4C01-903A-46CF948B6FF2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77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87624" y="1106488"/>
            <a:ext cx="4884738" cy="5222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5.6.2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主函数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main()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的形参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3"/>
          <p:cNvSpPr>
            <a:spLocks noGrp="1" noChangeArrowheads="1"/>
          </p:cNvSpPr>
          <p:nvPr>
            <p:ph idx="1"/>
          </p:nvPr>
        </p:nvSpPr>
        <p:spPr>
          <a:xfrm>
            <a:off x="900113" y="1628775"/>
            <a:ext cx="8064500" cy="46148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-7175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1.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主函数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main()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的有参形式</a:t>
            </a:r>
          </a:p>
          <a:p>
            <a:pPr marL="0" marR="0" lvl="0" indent="-7175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main(int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argc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char *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argv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[])</a:t>
            </a:r>
          </a:p>
          <a:p>
            <a:pPr marL="0" marR="0" lvl="0" indent="-7175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{ … …}</a:t>
            </a:r>
          </a:p>
          <a:p>
            <a:pPr marL="0" marR="0" lvl="0" indent="-7175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2.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实参的来源</a:t>
            </a:r>
          </a:p>
          <a:p>
            <a:pPr marL="0" marR="0" lvl="0" indent="-7175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运行带形参的主函数，必须在操作系统状态下，输入主函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7175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数所在的可执行文件名，以及所需的实参，然后回车即可。</a:t>
            </a:r>
          </a:p>
          <a:p>
            <a:pPr marL="0" marR="0" lvl="0" indent="-7175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-7175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命令行的一般格式为：</a:t>
            </a:r>
          </a:p>
          <a:p>
            <a:pPr marL="0" marR="0" lvl="0" indent="-7175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       可执行文件名 实参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[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实参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2……]</a:t>
            </a:r>
          </a:p>
          <a:p>
            <a:pPr marL="0" marR="0" lvl="0" indent="-7175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例如，本案例程序的用法：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7175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lock  +|-  &lt;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被处理的文件名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&gt;←┘</a:t>
            </a: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9F92A5-EBFD-4B08-A08C-8783F4CE3C8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02404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69C0498-5CAE-4761-B0D4-30E9CA8B6CD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78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87624" y="1106488"/>
            <a:ext cx="4884738" cy="5222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5.6.2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主函数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main()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的形参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3"/>
          <p:cNvSpPr>
            <a:spLocks noGrp="1" noChangeArrowheads="1"/>
          </p:cNvSpPr>
          <p:nvPr>
            <p:ph idx="1"/>
          </p:nvPr>
        </p:nvSpPr>
        <p:spPr>
          <a:xfrm>
            <a:off x="528638" y="1700213"/>
            <a:ext cx="8147050" cy="42497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-717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（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）形参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argc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是命令行中参数的个数（可执行文件名本身也算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717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一个）。在本例中，形参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argc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的值为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（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lock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、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+|-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、文件名）。</a:t>
            </a:r>
          </a:p>
          <a:p>
            <a:pPr marL="0" marR="0" lvl="0" indent="-717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-717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（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2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）形参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argv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是一个字符指针数组，即形参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argv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首先是一个数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717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组（元素个数为形参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argc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的值），其元素值都是指向实参字符串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717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的地址。</a:t>
            </a:r>
          </a:p>
          <a:p>
            <a:pPr marL="0" marR="0" lvl="0" indent="-717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-717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在本例中，元素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argv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[0]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指向第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个实参字符串“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lock”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，元素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717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argv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[1] 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指向第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2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个实参字符串“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+|-”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，元素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argv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[2]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指向第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个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-717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实参字符串“被处理的文件名”。</a:t>
            </a:r>
          </a:p>
          <a:p>
            <a:pPr marL="0" marR="0" lvl="0" indent="5778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CB7F6B-2A8F-4E74-8A7B-A053977E4EC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03428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17804BA-20DA-4D26-85D0-F27D259E927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79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16013" y="1125538"/>
            <a:ext cx="173355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-717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3.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形参说明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836613"/>
            <a:ext cx="8229600" cy="74295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命令行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参数举例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—echo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命令</a:t>
            </a:r>
          </a:p>
        </p:txBody>
      </p:sp>
      <p:sp>
        <p:nvSpPr>
          <p:cNvPr id="106499" name="Rectangle 3"/>
          <p:cNvSpPr>
            <a:spLocks noGrp="1"/>
          </p:cNvSpPr>
          <p:nvPr>
            <p:ph idx="1"/>
          </p:nvPr>
        </p:nvSpPr>
        <p:spPr>
          <a:xfrm>
            <a:off x="611188" y="1803400"/>
            <a:ext cx="8540750" cy="4897438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/>
              <a:t>#include &lt;stdio.h&gt;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/>
              <a:t>int main(int argc, char *argv[]){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/>
              <a:t>   while(--argc &gt; 0)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  printf("%s%c", *++argv, (argc&gt;1)?' ':'\n');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return 0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/>
              <a:t>}</a:t>
            </a:r>
          </a:p>
          <a:p>
            <a:pPr eaLnBrk="1" hangingPunct="1">
              <a:lnSpc>
                <a:spcPct val="90000"/>
              </a:lnSpc>
              <a:buNone/>
            </a:pPr>
            <a:endParaRPr lang="en-US" altLang="zh-CN" sz="2400" dirty="0"/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US" altLang="zh-CN" sz="2400" dirty="0"/>
              <a:t>&gt;echo C Language</a:t>
            </a: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US" altLang="zh-CN" sz="2400" dirty="0"/>
              <a:t>argc == 3;</a:t>
            </a: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US" altLang="zh-CN" sz="2400" dirty="0"/>
              <a:t>argv[0] == "echo";</a:t>
            </a: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US" altLang="zh-CN" sz="2400" dirty="0"/>
              <a:t>argv[1] == "C";</a:t>
            </a: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US" altLang="zh-CN" sz="2400" dirty="0"/>
              <a:t>argv[2] == "Language";</a:t>
            </a:r>
          </a:p>
          <a:p>
            <a:pPr eaLnBrk="1" hangingPunct="1">
              <a:lnSpc>
                <a:spcPct val="90000"/>
              </a:lnSpc>
            </a:pPr>
            <a:endParaRPr lang="en-US" altLang="zh-CN" sz="2400" dirty="0"/>
          </a:p>
        </p:txBody>
      </p:sp>
      <p:sp>
        <p:nvSpPr>
          <p:cNvPr id="6" name="日期占位符 5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D4FF10-76B5-4DA9-B13A-DBC6F98F738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04453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AADAF34-31BF-4A13-BE50-6B0A877AC2B5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80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981075"/>
            <a:ext cx="8229600" cy="598488"/>
          </a:xfrm>
        </p:spPr>
        <p:txBody>
          <a:bodyPr vert="horz" wrap="square" lIns="91440" tIns="45720" rIns="91440" bIns="45720" numCol="1" anchor="b" anchorCtr="0" compatLnSpc="1"/>
          <a:lstStyle/>
          <a:p>
            <a:pPr lvl="0" eaLnBrk="1" hangingPunct="1">
              <a:defRPr/>
            </a:pPr>
            <a:r>
              <a:rPr lang="en-US" altLang="zh-CN" sz="2800" b="1" kern="1200" dirty="0" smtClean="0">
                <a:solidFill>
                  <a:schemeClr val="tx2">
                    <a:lumMod val="7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5.6.3 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void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类型指针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628775"/>
            <a:ext cx="8540750" cy="49704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定义形式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</a:rPr>
              <a:t>void *p;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表示指针变量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P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不指向一个确定的类型数据。它的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作用仅仅是用来存放一个地址，而不能指向非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void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类型变量。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</a:rPr>
              <a:t>如：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</a:rPr>
              <a:t>int *p1;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</a:rPr>
              <a:t>        void *p2;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</a:rPr>
              <a:t>        int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</a:rPr>
              <a:t>i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</a:rPr>
              <a:t>;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</a:rPr>
              <a:t>         p2=(void *)&amp;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</a:rPr>
              <a:t>i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</a:rPr>
              <a:t>;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</a:rPr>
              <a:t>/* p2=&amp;I;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</a:rPr>
              <a:t>错误 *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</a:rPr>
              <a:t>/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</a:rPr>
              <a:t>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</a:rPr>
              <a:t>p1=(int *)p2;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</a:rPr>
              <a:t>/* p1=p2;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</a:rPr>
              <a:t>错误 *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</a:rPr>
              <a:t>/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ourier New" panose="02070309020205020404" pitchFamily="49" charset="0"/>
              <a:ea typeface="+mn-ea"/>
            </a:endParaRPr>
          </a:p>
        </p:txBody>
      </p:sp>
      <p:sp>
        <p:nvSpPr>
          <p:cNvPr id="6" name="日期占位符 5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4DC9646-8C0A-4153-80DF-9FF5C048F50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05477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8496F89-01FC-42F7-9DDE-C089DDE70BB2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81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3"/>
          <p:cNvSpPr>
            <a:spLocks noGrp="1"/>
          </p:cNvSpPr>
          <p:nvPr>
            <p:ph idx="1"/>
          </p:nvPr>
        </p:nvSpPr>
        <p:spPr>
          <a:xfrm>
            <a:off x="774700" y="1700213"/>
            <a:ext cx="7974013" cy="4392612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也可以定义一个返回</a:t>
            </a:r>
            <a:r>
              <a:rPr lang="en-US" altLang="zh-CN" sz="24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void</a:t>
            </a:r>
            <a:r>
              <a:rPr lang="zh-CN" altLang="en-US" sz="24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类型的地址的函数：</a:t>
            </a:r>
          </a:p>
          <a:p>
            <a:pPr eaLnBrk="1" hangingPunct="1">
              <a:buNone/>
            </a:pPr>
            <a:r>
              <a:rPr lang="en-US" altLang="zh-CN" sz="2600" dirty="0"/>
              <a:t>void *f(int x,int y)</a:t>
            </a:r>
          </a:p>
          <a:p>
            <a:pPr eaLnBrk="1" hangingPunct="1"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如果想在主调函数中引用此地址，也需根据需要进行</a:t>
            </a:r>
          </a:p>
          <a:p>
            <a:pPr eaLnBrk="1" hangingPunct="1"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强制类型转换。如：</a:t>
            </a:r>
          </a:p>
          <a:p>
            <a:pPr eaLnBrk="1" hangingPunct="1">
              <a:buNone/>
            </a:pPr>
            <a:r>
              <a:rPr lang="en-US" altLang="zh-CN" sz="2600" dirty="0"/>
              <a:t>int      a,b;</a:t>
            </a:r>
          </a:p>
          <a:p>
            <a:pPr eaLnBrk="1" hangingPunct="1">
              <a:buNone/>
            </a:pPr>
            <a:r>
              <a:rPr lang="en-US" altLang="zh-CN" sz="2600" dirty="0"/>
              <a:t>char  *p;</a:t>
            </a:r>
          </a:p>
          <a:p>
            <a:pPr eaLnBrk="1" hangingPunct="1">
              <a:buNone/>
            </a:pPr>
            <a:r>
              <a:rPr lang="en-US" altLang="zh-CN" sz="2600" dirty="0"/>
              <a:t>void  *f(int x,int y);</a:t>
            </a:r>
          </a:p>
          <a:p>
            <a:pPr eaLnBrk="1" hangingPunct="1">
              <a:buNone/>
            </a:pPr>
            <a:r>
              <a:rPr lang="en-US" altLang="zh-CN" sz="2600" dirty="0"/>
              <a:t>……</a:t>
            </a:r>
          </a:p>
          <a:p>
            <a:pPr eaLnBrk="1" hangingPunct="1">
              <a:buNone/>
            </a:pPr>
            <a:r>
              <a:rPr lang="en-US" altLang="zh-CN" sz="2600" dirty="0"/>
              <a:t>p=(char *)f(a,b);</a:t>
            </a: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>
          <a:ln/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D638F2-A5EC-463A-8276-37CB3F758EC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2025/11/4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06500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6F6770B-F739-40D1-ADC3-EFD29EFA1DE1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82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981075"/>
            <a:ext cx="8229600" cy="598488"/>
          </a:xfrm>
        </p:spPr>
        <p:txBody>
          <a:bodyPr vert="horz" wrap="square" lIns="91440" tIns="45720" rIns="91440" bIns="45720" numCol="1" anchor="b" anchorCtr="0" compatLnSpc="1"/>
          <a:lstStyle/>
          <a:p>
            <a:pPr lvl="0" eaLnBrk="1" hangingPunct="1">
              <a:defRPr/>
            </a:pPr>
            <a:r>
              <a:rPr lang="en-US" altLang="zh-CN" sz="2800" b="1" kern="1200" dirty="0" smtClean="0">
                <a:solidFill>
                  <a:schemeClr val="tx2">
                    <a:lumMod val="7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5.6.3 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void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类型指针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d9ea6cdd-05c1-4460-8694-8007ce57bffb"/>
  <p:tag name="COMMONDATA" val="eyJoZGlkIjoiZDEyMDM1NmFkZGU5YWZlYTUwZmFlMTIzZWNlYmY5Y2MifQ==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华文新魏"/>
        <a:cs typeface=""/>
      </a:majorFont>
      <a:minorFont>
        <a:latin typeface="Times New Roman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stealth" w="lg" len="lg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stealth" w="lg" len="lg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00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</TotalTime>
  <Words>6133</Words>
  <Application>Microsoft Office PowerPoint</Application>
  <PresentationFormat>全屏显示(4:3)</PresentationFormat>
  <Paragraphs>1081</Paragraphs>
  <Slides>82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82</vt:i4>
      </vt:variant>
    </vt:vector>
  </HeadingPairs>
  <TitlesOfParts>
    <vt:vector size="97" baseType="lpstr">
      <vt:lpstr>方正姚体</vt:lpstr>
      <vt:lpstr>仿宋</vt:lpstr>
      <vt:lpstr>华文隶书</vt:lpstr>
      <vt:lpstr>华文新魏</vt:lpstr>
      <vt:lpstr>华文行楷</vt:lpstr>
      <vt:lpstr>楷体</vt:lpstr>
      <vt:lpstr>楷体_GB2312</vt:lpstr>
      <vt:lpstr>宋体</vt:lpstr>
      <vt:lpstr>Arial</vt:lpstr>
      <vt:lpstr>Courier New</vt:lpstr>
      <vt:lpstr>Garamond</vt:lpstr>
      <vt:lpstr>Tahoma</vt:lpstr>
      <vt:lpstr>Times New Roman</vt:lpstr>
      <vt:lpstr>Wingdings</vt:lpstr>
      <vt:lpstr>Blends</vt:lpstr>
      <vt:lpstr>第5章    系统级编程初探-指   针</vt:lpstr>
      <vt:lpstr>5.1  指针变量的概念</vt:lpstr>
      <vt:lpstr>5.1  指针变量的概念</vt:lpstr>
      <vt:lpstr>5.1  指针变量的概念</vt:lpstr>
      <vt:lpstr>5.1  指针变量的概念</vt:lpstr>
      <vt:lpstr>5.1  指针变量的概念</vt:lpstr>
      <vt:lpstr>5.1  指针变量的概念</vt:lpstr>
      <vt:lpstr>5.2   指针变量的定义与应用</vt:lpstr>
      <vt:lpstr>5.2   指针变量的定义与应用</vt:lpstr>
      <vt:lpstr>PowerPoint 演示文稿</vt:lpstr>
      <vt:lpstr>5.2   指针变量的定义与应用</vt:lpstr>
      <vt:lpstr>5.2   指针变量的定义与应用</vt:lpstr>
      <vt:lpstr>5.2   指针变量的定义与应用</vt:lpstr>
      <vt:lpstr>5.2   指针变量的定义与应用</vt:lpstr>
      <vt:lpstr>5.2   指针变量的定义与应用</vt:lpstr>
      <vt:lpstr>5.2   指针变量的定义与应用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5.3   一维数组与指针变量</vt:lpstr>
      <vt:lpstr>5.3   数组与指针变量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5.4   字符串与指针变量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5.5   返回地址值的函数</vt:lpstr>
      <vt:lpstr>5.5   返回地址值的函数</vt:lpstr>
      <vt:lpstr>5.5   返回地址值的函数</vt:lpstr>
      <vt:lpstr>5.5   返回地址值的函数</vt:lpstr>
      <vt:lpstr>5.5   返回地址值的函数</vt:lpstr>
      <vt:lpstr>5.6  指针数组与主函数main()的形参</vt:lpstr>
      <vt:lpstr>5.6  指针数组与主函数main()的形参</vt:lpstr>
      <vt:lpstr>5.6  指针数组与主函数main()的形参</vt:lpstr>
      <vt:lpstr>PowerPoint 演示文稿</vt:lpstr>
      <vt:lpstr>5.6  指针数组与主函数main()的形参</vt:lpstr>
      <vt:lpstr>5.6  指针数组与主函数main()的形参</vt:lpstr>
      <vt:lpstr>PowerPoint 演示文稿</vt:lpstr>
      <vt:lpstr>指向地址的指针举例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命令行参数举例—echo命令</vt:lpstr>
      <vt:lpstr>5.6.3 void类型指针</vt:lpstr>
      <vt:lpstr>5.6.3 void类型指针</vt:lpstr>
    </vt:vector>
  </TitlesOfParts>
  <Company>ustc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zhengzhong</dc:creator>
  <cp:lastModifiedBy>zheng</cp:lastModifiedBy>
  <cp:revision>1109</cp:revision>
  <dcterms:created xsi:type="dcterms:W3CDTF">2003-08-26T10:11:20Z</dcterms:created>
  <dcterms:modified xsi:type="dcterms:W3CDTF">2025-11-04T05:08:15Z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858F641F4A234DBE99615089E2711611</vt:lpwstr>
  </property>
  <property fmtid="{D5CDD505-2E9C-101B-9397-08002B2CF9AE}" pid="3" name="KSOProductBuildVer">
    <vt:lpwstr>2052-11.1.0.12358</vt:lpwstr>
  </property>
</Properties>
</file>