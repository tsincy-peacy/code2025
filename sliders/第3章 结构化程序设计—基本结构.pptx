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538" r:id="rId2"/>
    <p:sldId id="497" r:id="rId3"/>
    <p:sldId id="501" r:id="rId4"/>
    <p:sldId id="513" r:id="rId5"/>
    <p:sldId id="514" r:id="rId6"/>
    <p:sldId id="515" r:id="rId7"/>
    <p:sldId id="516" r:id="rId8"/>
    <p:sldId id="517" r:id="rId9"/>
    <p:sldId id="518" r:id="rId10"/>
    <p:sldId id="519" r:id="rId11"/>
    <p:sldId id="521" r:id="rId12"/>
    <p:sldId id="539" r:id="rId13"/>
    <p:sldId id="522" r:id="rId14"/>
    <p:sldId id="523" r:id="rId15"/>
    <p:sldId id="524" r:id="rId16"/>
    <p:sldId id="525" r:id="rId17"/>
    <p:sldId id="526" r:id="rId18"/>
    <p:sldId id="527" r:id="rId19"/>
    <p:sldId id="528" r:id="rId20"/>
    <p:sldId id="529" r:id="rId21"/>
    <p:sldId id="530" r:id="rId22"/>
    <p:sldId id="531" r:id="rId23"/>
    <p:sldId id="532" r:id="rId24"/>
    <p:sldId id="533" r:id="rId25"/>
    <p:sldId id="534" r:id="rId26"/>
    <p:sldId id="535" r:id="rId27"/>
    <p:sldId id="536" r:id="rId28"/>
    <p:sldId id="537" r:id="rId29"/>
    <p:sldId id="439" r:id="rId30"/>
    <p:sldId id="440" r:id="rId31"/>
    <p:sldId id="441" r:id="rId32"/>
    <p:sldId id="444" r:id="rId33"/>
    <p:sldId id="446" r:id="rId34"/>
    <p:sldId id="447" r:id="rId35"/>
    <p:sldId id="448" r:id="rId36"/>
    <p:sldId id="449" r:id="rId37"/>
    <p:sldId id="450" r:id="rId38"/>
    <p:sldId id="452" r:id="rId39"/>
    <p:sldId id="453" r:id="rId40"/>
    <p:sldId id="454" r:id="rId41"/>
    <p:sldId id="488" r:id="rId42"/>
    <p:sldId id="491" r:id="rId43"/>
    <p:sldId id="489" r:id="rId44"/>
    <p:sldId id="490" r:id="rId45"/>
    <p:sldId id="456" r:id="rId46"/>
    <p:sldId id="457" r:id="rId47"/>
    <p:sldId id="493" r:id="rId48"/>
    <p:sldId id="494" r:id="rId49"/>
    <p:sldId id="458" r:id="rId50"/>
    <p:sldId id="459" r:id="rId51"/>
    <p:sldId id="460" r:id="rId52"/>
    <p:sldId id="461" r:id="rId53"/>
    <p:sldId id="462" r:id="rId54"/>
    <p:sldId id="463" r:id="rId55"/>
    <p:sldId id="464" r:id="rId56"/>
    <p:sldId id="476" r:id="rId57"/>
    <p:sldId id="475" r:id="rId58"/>
    <p:sldId id="465" r:id="rId59"/>
    <p:sldId id="466" r:id="rId60"/>
    <p:sldId id="467" r:id="rId61"/>
    <p:sldId id="468" r:id="rId62"/>
    <p:sldId id="469" r:id="rId63"/>
    <p:sldId id="470" r:id="rId64"/>
    <p:sldId id="471" r:id="rId65"/>
    <p:sldId id="472" r:id="rId66"/>
    <p:sldId id="473" r:id="rId67"/>
    <p:sldId id="474" r:id="rId68"/>
    <p:sldId id="540" r:id="rId69"/>
  </p:sldIdLst>
  <p:sldSz cx="9144000" cy="6858000" type="screen4x3"/>
  <p:notesSz cx="6858000" cy="9144000"/>
  <p:custDataLst>
    <p:tags r:id="rId7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336600"/>
    <a:srgbClr val="447D19"/>
    <a:srgbClr val="333333"/>
    <a:srgbClr val="5F5F5F"/>
    <a:srgbClr val="808080"/>
    <a:srgbClr val="993366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0"/>
    <p:restoredTop sz="97450"/>
  </p:normalViewPr>
  <p:slideViewPr>
    <p:cSldViewPr showGuides="1">
      <p:cViewPr varScale="1">
        <p:scale>
          <a:sx n="115" d="100"/>
          <a:sy n="115" d="100"/>
        </p:scale>
        <p:origin x="148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9A285A-2CA3-47A2-88DD-8B136F86C0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2024/10/18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906ACB-2D99-4BFC-A5CA-35B45F13CC4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51590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EB4EE1-9226-4C57-A629-52393F4D406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61496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1814513"/>
            <a:ext cx="9009063" cy="1052512"/>
            <a:chOff x="0" y="1536"/>
            <a:chExt cx="5675" cy="663"/>
          </a:xfrm>
        </p:grpSpPr>
        <p:grpSp>
          <p:nvGrpSpPr>
            <p:cNvPr id="205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6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051" name="Picture 17" descr="ust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Text Box 1"/>
          <p:cNvSpPr txBox="1">
            <a:spLocks noChangeArrowheads="1"/>
          </p:cNvSpPr>
          <p:nvPr/>
        </p:nvSpPr>
        <p:spPr bwMode="auto">
          <a:xfrm>
            <a:off x="0" y="4076700"/>
            <a:ext cx="91440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郑重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ahoma" panose="020B0604030504040204" pitchFamily="34" charset="0"/>
                <a:ea typeface="华文行楷" panose="02010800040101010101" pitchFamily="2" charset="-122"/>
                <a:cs typeface="+mn-cs"/>
              </a:rPr>
              <a:t>中国科学技术大学微电子学院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ahoma" panose="020B0604030504040204" pitchFamily="34" charset="0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School of Microelectronics, USTC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Fall, 2022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1052513"/>
            <a:ext cx="9144000" cy="1462087"/>
          </a:xfrm>
        </p:spPr>
        <p:txBody>
          <a:bodyPr/>
          <a:lstStyle>
            <a:lvl1pPr algn="ctr">
              <a:defRPr sz="5000" b="1" baseline="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0" y="3141663"/>
            <a:ext cx="9144000" cy="863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隶书" panose="02010800040101010101" pitchFamily="2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5FA5E3-B704-4E1A-8794-86DF1B4BE9B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D1108A-F95C-42CC-A8CD-B8856004FB8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6013" y="1844675"/>
            <a:ext cx="3843337" cy="4392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844675"/>
            <a:ext cx="3843338" cy="4392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96113" y="620713"/>
            <a:ext cx="1958975" cy="5616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6013" y="620713"/>
            <a:ext cx="5727700" cy="5616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620713"/>
            <a:ext cx="7827962" cy="9366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16013" y="1844675"/>
            <a:ext cx="3843337" cy="43926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844675"/>
            <a:ext cx="3843338" cy="43926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DFA3BF3-602C-4F85-96C0-B762630966E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F70DC4-B82A-46E1-80B7-12E4F3D3944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cover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90011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90011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32238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32238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2493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79216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5827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620713"/>
            <a:ext cx="7827963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/>
          </p:cNvSpPr>
          <p:nvPr>
            <p:ph type="body" idx="1"/>
          </p:nvPr>
        </p:nvSpPr>
        <p:spPr>
          <a:xfrm>
            <a:off x="1116013" y="1844675"/>
            <a:ext cx="7839075" cy="43926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方正姚体" panose="02010601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4EBF4-1F59-4148-BCC1-4A370E21C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方正姚体" panose="02010601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方正姚体" panose="02010601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892F37-749E-4F6A-87E6-9BEDDA396D3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1038" name="Picture 18" descr="ustc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9144000" cy="6731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1056323" y="1808798"/>
            <a:ext cx="7772400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3.4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顺序结构程序设计</a:t>
            </a: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787400" y="2342198"/>
            <a:ext cx="8001000" cy="2078038"/>
          </a:xfrm>
        </p:spPr>
        <p:txBody>
          <a:bodyPr vert="horz" wrap="square" lIns="91440" tIns="45720" rIns="91440" bIns="45720" anchor="t" anchorCtr="0"/>
          <a:lstStyle/>
          <a:p>
            <a:pPr marL="0" indent="288925" eaLnBrk="1" hangingPunct="1"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在顺序结构程序中，各语句（或命令）是按照位置的先后次序，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eaLnBrk="1" hangingPunct="1"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顺序执行的，且每个语句都会被执行到。</a:t>
            </a:r>
            <a:b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lang="en-US" altLang="zh-CN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D11A4A-BB0C-4BDA-8CC2-2FF9F0C88398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2024/10/18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32FE8D-CE27-4DFC-8191-F8CA2C6C72D9}" type="slidenum"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方正姚体" panose="02010601030101010101" pitchFamily="2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9163" y="2989263"/>
            <a:ext cx="8189913" cy="414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288925" defTabSz="914400" eaLnBrk="1" hangingPunct="1">
              <a:spcBef>
                <a:spcPct val="20000"/>
              </a:spcBef>
              <a:buClr>
                <a:srgbClr val="CC9900"/>
              </a:buClr>
              <a:buSzPct val="65000"/>
              <a:buFontTx/>
              <a:buNone/>
              <a:defRPr/>
            </a:pPr>
            <a:r>
              <a:rPr kumimoji="0" lang="en-US" altLang="zh-CN" sz="2100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  <a:cs typeface="+mn-cs"/>
              </a:rPr>
              <a:t>		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042988" y="971550"/>
            <a:ext cx="7489825" cy="531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章  结构化程序设计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基本结构</a:t>
            </a:r>
          </a:p>
        </p:txBody>
      </p:sp>
    </p:spTree>
    <p:extLst>
      <p:ext uri="{BB962C8B-B14F-4D97-AF65-F5344CB8AC3E}">
        <p14:creationId xmlns:p14="http://schemas.microsoft.com/office/powerpoint/2010/main" val="14771153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064A7E-7523-4A62-944D-287DB5AE0F7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2024/10/18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1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7A3CD5-D272-487C-BA52-A237045A5582}" type="slidenum"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方正姚体" panose="02010601030101010101" pitchFamily="2" charset="-122"/>
                <a:cs typeface="+mn-cs"/>
              </a:rPr>
              <a:t>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3608" y="1750820"/>
            <a:ext cx="70586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[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例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3.15]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求方程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ax2+bx+c=0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的实数根。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c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由键盘输入，     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    a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≠0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b2-4ac&gt;0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</a:p>
        </p:txBody>
      </p:sp>
      <p:sp>
        <p:nvSpPr>
          <p:cNvPr id="6" name="Rectangle 2"/>
          <p:cNvSpPr>
            <a:spLocks noGrp="1"/>
          </p:cNvSpPr>
          <p:nvPr>
            <p:ph type="title"/>
          </p:nvPr>
        </p:nvSpPr>
        <p:spPr>
          <a:xfrm>
            <a:off x="1115616" y="1112010"/>
            <a:ext cx="3672408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3.4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顺序结构程序设计</a:t>
            </a:r>
          </a:p>
        </p:txBody>
      </p:sp>
      <p:sp>
        <p:nvSpPr>
          <p:cNvPr id="5" name="矩形 4"/>
          <p:cNvSpPr/>
          <p:nvPr/>
        </p:nvSpPr>
        <p:spPr>
          <a:xfrm>
            <a:off x="683693" y="2371255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3366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为使用求平方根函数</a:t>
            </a:r>
            <a:r>
              <a:rPr lang="en-US" altLang="zh-CN" i="1" dirty="0" err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sqrt</a:t>
            </a:r>
            <a: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，包含</a:t>
            </a:r>
            <a:r>
              <a:rPr lang="en-US" altLang="zh-CN" i="1" dirty="0" err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math.h</a:t>
            </a:r>
            <a:r>
              <a:rPr lang="zh-CN" altLang="en-US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头文件 *</a:t>
            </a:r>
            <a: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b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disc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"Input  a, b, c: 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f,%f,%f"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输入方程的三个系数的值*</a:t>
            </a:r>
            <a: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/>
            </a:r>
            <a:b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disc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求判别式的值赋给</a:t>
            </a:r>
            <a: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disc*/</a:t>
            </a:r>
            <a:br>
              <a:rPr lang="en-US" altLang="zh-CN" i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=(-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sqrt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disc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))/(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=(-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sqrt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disc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))/(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x1=%6.2f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x2=%6.2f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11" y="4050443"/>
            <a:ext cx="743902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3311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6DA6BA-E76C-4D58-8152-BD5DB2F211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5695" y="1628800"/>
            <a:ext cx="7490460" cy="3463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577850" eaLnBrk="1" hangingPunct="1">
              <a:lnSpc>
                <a:spcPct val="150000"/>
              </a:lnSpc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语言中表示条件，一般用关系表达式或逻辑表达式，实现选择结构用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if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语句或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switch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语句。</a:t>
            </a:r>
          </a:p>
        </p:txBody>
      </p:sp>
      <p:sp>
        <p:nvSpPr>
          <p:cNvPr id="35842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87133" y="1052513"/>
            <a:ext cx="3816915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313516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E34A12-B8B6-4C76-B3BC-B940B619C36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4342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4F01C-A5A8-40C4-AEE3-E05D42C0174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87133" y="1052513"/>
            <a:ext cx="3816915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</a:p>
        </p:txBody>
      </p:sp>
      <p:sp>
        <p:nvSpPr>
          <p:cNvPr id="2" name="矩形 1"/>
          <p:cNvSpPr/>
          <p:nvPr/>
        </p:nvSpPr>
        <p:spPr>
          <a:xfrm>
            <a:off x="755650" y="1772816"/>
            <a:ext cx="7992888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a.if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</a:t>
            </a:r>
            <a:endParaRPr lang="en-US" altLang="zh-CN" sz="2000" b="1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74650" eaLnBrk="1" hangingPunct="1">
              <a:lnSpc>
                <a:spcPct val="80000"/>
              </a:lnSpc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3.16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]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输入任意三个整数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num1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num2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num3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，求三个数中的最大值。</a:t>
            </a:r>
            <a:b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</a:t>
            </a:r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功能：说明</a:t>
            </a:r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if </a:t>
            </a:r>
            <a:r>
              <a:rPr lang="zh-CN" altLang="en-US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语句的格式。*</a:t>
            </a:r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 </a:t>
            </a:r>
            <a:endParaRPr lang="en-US" altLang="zh-CN" b="1" i="1" dirty="0" smtClean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374650" eaLnBrk="1" hangingPunct="1">
              <a:lnSpc>
                <a:spcPct val="80000"/>
              </a:lnSpc>
            </a:pPr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 smtClean="0">
                <a:solidFill>
                  <a:srgbClr val="BABABA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 err="1" smtClean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"Please input three numbers:"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"%d,%d,%d"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"The three numbers are:%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d,%d,%d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"max=%d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   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31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359569" y="3140968"/>
            <a:ext cx="8424863" cy="3168352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lnSpc>
                <a:spcPct val="80000"/>
              </a:lnSpc>
              <a:buNone/>
            </a:pPr>
            <a:endParaRPr lang="en-US" altLang="zh-CN" sz="2000" dirty="0"/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本例中的第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语句，可优化为如下不带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else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子句的形式：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max=num1;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if(num2&gt;max) max=num2;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这种优化形式的基本思想是：首先取一个数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预置为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（最大值），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然后再用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依次与其余的数逐个比较，如果发现有比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大的，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就用它给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重新赋值，比较完所有的数后，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max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中的数就是最大值。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这种方法，对从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个或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个以上的数中找最大值的处理，非常有效。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2AFACF-E782-479B-8F3A-6D0209E56D2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5365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4DBD1A-FAF7-4966-9053-D1989867569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772816"/>
            <a:ext cx="6972300" cy="1666875"/>
          </a:xfrm>
          <a:prstGeom prst="rect">
            <a:avLst/>
          </a:prstGeom>
        </p:spPr>
      </p:pic>
      <p:sp>
        <p:nvSpPr>
          <p:cNvPr id="6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87133" y="1052513"/>
            <a:ext cx="3816915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65363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6AA23F2-37F8-4F33-AA75-6E461E2BD72B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6389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1B8EB4-162B-447D-ADCD-7BE41CBC8FA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31913" y="4869160"/>
            <a:ext cx="5457825" cy="14763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95536" y="1735141"/>
            <a:ext cx="87484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3.17]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输入任意三个数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num1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num2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num3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，按从小到大的顺序排序输出。</a:t>
            </a: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"Please input three numbers:"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"%d,%d,%d"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"Three numbers after sorted: 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d,%d,%d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87133" y="1052513"/>
            <a:ext cx="3816915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161315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577686" y="1651273"/>
            <a:ext cx="8053388" cy="48434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indent="476250" algn="just" eaLnBrk="1" hangingPunct="1">
              <a:lnSpc>
                <a:spcPct val="90000"/>
              </a:lnSpc>
              <a:buNone/>
              <a:defRPr/>
            </a:pP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语句的一般格式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if(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  {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语句组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1;}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[else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  {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语句组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2;} ]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语句中的“表达式”必须用“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(”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和“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)”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括起来。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else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子句（可选）是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语句的一部分，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必须与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配对使用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不能单独使用。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）当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else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下面的语句组，相当于一条语句。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1" i="1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语句的执行过程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）缺省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else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子句时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当“表达式”的值不等于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（即判定为“逻辑真”）时，则执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行语句组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，否则直接转向执行下一条。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BABA8A-1B89-42E9-A2CA-395417C5EAE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413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BE6BD7-CA2B-41B5-9530-1EED6A7EE73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87624" y="1117873"/>
            <a:ext cx="3816915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360008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53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536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350705" y="1824567"/>
            <a:ext cx="8596313" cy="48244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indent="577850" algn="just" eaLnBrk="1" hangingPunct="1">
              <a:buNone/>
              <a:defRPr/>
            </a:pPr>
            <a:r>
              <a:rPr lang="zh-CN" altLang="en-US" sz="2000" b="1" dirty="0">
                <a:solidFill>
                  <a:srgbClr val="66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solidFill>
                  <a:srgbClr val="66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solidFill>
                  <a:srgbClr val="66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）指定</a:t>
            </a:r>
            <a:r>
              <a:rPr lang="en-US" altLang="zh-CN" sz="2000" b="1" dirty="0">
                <a:solidFill>
                  <a:srgbClr val="66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else</a:t>
            </a:r>
            <a:r>
              <a:rPr lang="zh-CN" altLang="en-US" sz="2000" b="1" dirty="0">
                <a:solidFill>
                  <a:srgbClr val="6600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子句时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“表达式”的值不等于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（即判定为“逻辑真”）时，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则执行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组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，然后转向下一条语句；否则，执行语句组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语句的嵌套与嵌套匹配原则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语句允许嵌套。所谓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语句的嵌套是指，在“语句组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（和）“语句组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2”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中，又包含有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语句的情况。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语句嵌套时，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else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子句与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匹配原则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0" lang="zh-CN" altLang="en-US" sz="20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与在它上面、距</a:t>
            </a:r>
            <a:endParaRPr kumimoji="0" lang="en-US" altLang="zh-CN" sz="2000" b="1" i="0" u="sng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它最近、且尚未匹配的</a:t>
            </a:r>
            <a:r>
              <a:rPr kumimoji="0" lang="en-US" altLang="zh-CN" sz="20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配对。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为明确匹配关系，避免匹配错误，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强烈建议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0" lang="zh-CN" altLang="en-US" sz="20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将内嵌的</a:t>
            </a:r>
            <a:r>
              <a:rPr kumimoji="0" lang="en-US" altLang="zh-CN" sz="20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kumimoji="0" lang="zh-CN" altLang="en-US" sz="20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语句，</a:t>
            </a:r>
            <a:endParaRPr kumimoji="0" lang="en-US" altLang="zh-CN" sz="2000" b="1" i="0" u="sng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一律用花括号括起来。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E4A02-8088-4DF9-9ED5-F8A88A40664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8437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86713F-1A61-47E8-BB8A-C68F7E1E371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8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87624" y="1117873"/>
            <a:ext cx="3816915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16267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539750" y="1628775"/>
            <a:ext cx="7632700" cy="4752975"/>
          </a:xfrm>
        </p:spPr>
        <p:txBody>
          <a:bodyPr vert="horz" wrap="square" lIns="91440" tIns="45720" rIns="91440" bIns="45720" anchor="t" anchorCtr="0"/>
          <a:lstStyle/>
          <a:p>
            <a:pPr marL="0" indent="577850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3.18]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写一程序，从键盘上输入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年份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year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位十进制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数），判断其是否闰年。闰年的条件是：能被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整除、但不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能被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整除，或者能被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400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整除。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endParaRPr lang="zh-CN" altLang="en-US" sz="2400" b="1" dirty="0"/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算法设计要点：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）如果Ｘ能被Ｙ整除，则余数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即如果Ｘ％Ｙ的值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等于</a:t>
            </a:r>
            <a:r>
              <a:rPr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则表示Ｘ能被Ｙ整除！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）首先将是否闰年的标志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leap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预置为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（非闰年），这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样仅当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year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为闰年时将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leap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置为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即可。这种处理两  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种状态值的方法，对优化算法和提高程序可读性非常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有效，请大家仔细体会。参考程序如下：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endParaRPr lang="en-US" altLang="zh-CN" sz="2400" b="1" dirty="0">
              <a:solidFill>
                <a:srgbClr val="0070C0"/>
              </a:solidFill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845ADD-AFBE-4A75-9E5B-868DCD40372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9461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5E2C8B-3DDF-4B3E-8193-8EEF2C48DBA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9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87624" y="1117873"/>
            <a:ext cx="3816915" cy="533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</a:p>
        </p:txBody>
      </p:sp>
    </p:spTree>
    <p:extLst>
      <p:ext uri="{BB962C8B-B14F-4D97-AF65-F5344CB8AC3E}">
        <p14:creationId xmlns:p14="http://schemas.microsoft.com/office/powerpoint/2010/main" val="401665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66AB25-0C52-44CA-92E8-23CBD194F353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048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C565B7-739A-4EA2-B7AA-03AB5C6B805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1699235"/>
            <a:ext cx="7200800" cy="430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功能：说明</a:t>
            </a:r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语句的嵌套格式和用法。*</a:t>
            </a:r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year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leap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 leap=0</a:t>
            </a:r>
            <a:r>
              <a:rPr lang="zh-CN" altLang="en-US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：预置为非闰年*</a:t>
            </a:r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b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"Please input the year:"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d"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year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year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%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year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%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!=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leap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b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year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%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400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leap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leap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"%d is a leap year.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year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"%d is not a leap year.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year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            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62" y="4521234"/>
            <a:ext cx="73056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6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/>
          </p:cNvSpPr>
          <p:nvPr>
            <p:ph idx="1"/>
          </p:nvPr>
        </p:nvSpPr>
        <p:spPr>
          <a:xfrm>
            <a:off x="395536" y="1916832"/>
            <a:ext cx="8408987" cy="3815878"/>
          </a:xfrm>
        </p:spPr>
        <p:txBody>
          <a:bodyPr vert="horz" wrap="square" lIns="91440" tIns="45720" rIns="91440" bIns="45720" anchor="t" anchorCtr="0"/>
          <a:lstStyle/>
          <a:p>
            <a:pPr marL="0" indent="374650" algn="just" eaLnBrk="1" hangingPunct="1"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4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．说明</a:t>
            </a:r>
          </a:p>
          <a:p>
            <a:pPr marL="0" indent="374650" algn="just" eaLnBrk="1" hangingPunct="1"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后面的“表达式”，除常见的关系表达式或逻辑表达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74650" algn="just" eaLnBrk="1" hangingPunct="1"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式外，也允许是其它类型的数据，如整型、实型、字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74650" algn="just" eaLnBrk="1" hangingPunct="1"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符型等。</a:t>
            </a:r>
          </a:p>
          <a:p>
            <a:pPr marL="0" indent="374650" algn="just" eaLnBrk="1" hangingPunct="1"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74650" algn="just" eaLnBrk="1" hangingPunct="1"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语句允许嵌套，但嵌套的层数不宜太多。在实际编程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74650" algn="just" eaLnBrk="1" hangingPunct="1"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时，应适当控制嵌套层数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(2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层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indent="374650" algn="just" eaLnBrk="1" hangingPunct="1"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74650" algn="just" eaLnBrk="1" hangingPunct="1"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）“语句组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和“语句组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2”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，可以只包含一个简单语句，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74650" algn="just" eaLnBrk="1" hangingPunct="1"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也可以是复合语句。</a:t>
            </a:r>
          </a:p>
          <a:p>
            <a:pPr marL="0" indent="374650" algn="just" eaLnBrk="1" hangingPunct="1">
              <a:buNone/>
            </a:pP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74650" algn="just" eaLnBrk="1" hangingPunct="1">
              <a:buNone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655251-6241-4B72-B77C-B30207B9202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2533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5CF9D9-2466-4A42-989B-0672CF79105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49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4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04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5FA5E3-B704-4E1A-8794-86DF1B4BE9B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0292" y="1559986"/>
            <a:ext cx="38042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b="1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else-if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语句处理多分支结构</a:t>
            </a:r>
          </a:p>
        </p:txBody>
      </p:sp>
      <p:sp>
        <p:nvSpPr>
          <p:cNvPr id="7" name="矩形 6"/>
          <p:cNvSpPr/>
          <p:nvPr/>
        </p:nvSpPr>
        <p:spPr>
          <a:xfrm>
            <a:off x="1385971" y="1851328"/>
            <a:ext cx="757851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height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bmi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weight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输入身高（米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):"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f"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height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输入体重（千克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):"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d"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weight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bmi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weight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/(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height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height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"BMI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指数为：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%.2f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bmi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bmi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18.5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   </a:t>
            </a:r>
            <a:r>
              <a:rPr lang="en-US" altLang="zh-CN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//else-if</a:t>
            </a:r>
            <a:r>
              <a:rPr lang="zh-CN" altLang="en-US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形式构成多路选择</a:t>
            </a:r>
            <a:br>
              <a:rPr lang="zh-CN" altLang="en-US" b="1" i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体重过轻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bmi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18.5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&amp;&amp;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bmi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24.9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正常范围，注意保持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bmi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24.9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&amp;&amp;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bmi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29.9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体重偏重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b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太重了！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50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1601787"/>
            <a:ext cx="2519883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b.switch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</a:t>
            </a: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360680" y="2133600"/>
            <a:ext cx="8380095" cy="2016125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语言提供了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switch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语句直接处理多分支选择。</a:t>
            </a:r>
          </a:p>
          <a:p>
            <a:pPr marL="0" indent="476250" eaLnBrk="1" hangingPunct="1">
              <a:lnSpc>
                <a:spcPct val="90000"/>
              </a:lnSpc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3.19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]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从键盘上输入一个百分制成绩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score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，按下列原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则输出其等级：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score≥90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，等级为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；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80≤score&lt;90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等级为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；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70≤score&lt;80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，等级为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；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60≤score&lt;70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，等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级为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；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score&lt;60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，等级为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r>
              <a:rPr lang="zh-CN" altLang="en-US" sz="2400" dirty="0"/>
              <a:t/>
            </a:r>
            <a:br>
              <a:rPr lang="zh-CN" altLang="en-US" sz="2400" dirty="0"/>
            </a:br>
            <a:endParaRPr lang="en-US" altLang="zh-CN" sz="2400" dirty="0"/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120493-03FE-4B74-9B68-9F0B02B979E6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6630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00CD97-88D7-42B2-A07D-FC2C60D8694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323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363" y="1844675"/>
            <a:ext cx="8424863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main(){</a:t>
            </a: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score, grade;</a:t>
            </a:r>
            <a:b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 a score(0~100):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b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&amp;score);</a:t>
            </a:r>
            <a:b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grade = score/10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将成绩整除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，转化成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语句中的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标号*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b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switch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(grade)</a:t>
            </a: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{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 10:</a:t>
            </a: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case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9: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grade=A\n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break;	</a:t>
            </a:r>
          </a:p>
          <a:p>
            <a:pPr marL="0" marR="0" lvl="0" indent="28892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case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8: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("grade=B\n"); break;</a:t>
            </a:r>
          </a:p>
          <a:p>
            <a:pPr marL="0" marR="0" lvl="0" indent="28892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case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7: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("grade=C\n"); break;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038BF4-48A8-48FE-AB49-9F2D64222F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7653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C8E1C0-A8AC-4C32-887C-59678E2223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14</a:t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56318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1476375" y="1700213"/>
            <a:ext cx="7543800" cy="4537075"/>
          </a:xfrm>
        </p:spPr>
        <p:txBody>
          <a:bodyPr vert="horz" wrap="square" lIns="91440" tIns="45720" rIns="91440" bIns="45720" anchor="t" anchorCtr="0"/>
          <a:lstStyle/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  case    6: printf("grade=D\n"); break;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  case    5: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  case    4: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  case    3: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  case    2: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  case    1: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  case    0: printf(</a:t>
            </a:r>
            <a:r>
              <a:rPr lang="en-US" altLang="zh-CN" sz="2400" dirty="0">
                <a:latin typeface="Courier New" panose="02070309020205020404" pitchFamily="49" charset="0"/>
              </a:rPr>
              <a:t>“</a:t>
            </a:r>
            <a:r>
              <a:rPr lang="en-US" altLang="zh-CN" sz="2400" dirty="0"/>
              <a:t>grade=E\n</a:t>
            </a:r>
            <a:r>
              <a:rPr lang="en-US" altLang="zh-CN" sz="2400" dirty="0">
                <a:latin typeface="Courier New" panose="02070309020205020404" pitchFamily="49" charset="0"/>
              </a:rPr>
              <a:t>”</a:t>
            </a:r>
            <a:r>
              <a:rPr lang="en-US" altLang="zh-CN" sz="2400" dirty="0"/>
              <a:t>); break;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  default: printf(</a:t>
            </a:r>
            <a:r>
              <a:rPr lang="en-US" altLang="zh-CN" sz="2400" dirty="0">
                <a:latin typeface="Courier New" panose="02070309020205020404" pitchFamily="49" charset="0"/>
              </a:rPr>
              <a:t>“</a:t>
            </a:r>
            <a:r>
              <a:rPr lang="en-US" altLang="zh-CN" sz="2400" dirty="0"/>
              <a:t>The  score  is  out  of  range!\n</a:t>
            </a:r>
            <a:r>
              <a:rPr lang="en-US" altLang="zh-CN" sz="2400" dirty="0">
                <a:latin typeface="Courier New" panose="02070309020205020404" pitchFamily="49" charset="0"/>
              </a:rPr>
              <a:t>”</a:t>
            </a:r>
            <a:r>
              <a:rPr lang="en-US" altLang="zh-CN" sz="2400" dirty="0"/>
              <a:t>);	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}</a:t>
            </a:r>
          </a:p>
          <a:p>
            <a:pPr marL="0" indent="288925" eaLnBrk="1" hangingPunct="1">
              <a:lnSpc>
                <a:spcPct val="90000"/>
              </a:lnSpc>
              <a:buNone/>
            </a:pPr>
            <a:r>
              <a:rPr lang="en-US" altLang="zh-CN" sz="2400" dirty="0"/>
              <a:t>return 0;</a:t>
            </a:r>
            <a:br>
              <a:rPr lang="en-US" altLang="zh-CN" sz="2400" dirty="0"/>
            </a:br>
            <a:r>
              <a:rPr lang="en-US" altLang="zh-CN" sz="2400" dirty="0"/>
              <a:t>}		</a:t>
            </a:r>
            <a:r>
              <a:rPr lang="en-US" altLang="zh-CN" sz="2000" dirty="0"/>
              <a:t>	</a:t>
            </a:r>
            <a:r>
              <a:rPr lang="en-US" altLang="zh-CN" sz="2400" dirty="0"/>
              <a:t>		</a:t>
            </a:r>
            <a:r>
              <a:rPr lang="en-US" altLang="zh-CN" sz="2600" dirty="0"/>
              <a:t>	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DFFD8C-178C-47FC-A876-956E98340BF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8677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BB4EE2-8F16-4570-BFEE-DD47022ADFB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71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1187450" y="1557338"/>
            <a:ext cx="6769100" cy="48958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程序运行情况如下：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 a score(0~100): 85↙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grade=B</a:t>
            </a:r>
            <a:b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语句的一般形式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switch(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表达式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{ case 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常量表达式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：语句组；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 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常量表达式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：语句组；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break;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......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case 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常量表达式ｎ：语句组；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default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：语句组；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[break; ]] 	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E6F546-D2A6-4D72-BDCF-7C318BFC6F0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9701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B9F52A-64F6-4462-8EB5-EB70F22847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92534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6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6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66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66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395288" y="1773238"/>
            <a:ext cx="8496300" cy="4608512"/>
          </a:xfrm>
        </p:spPr>
        <p:txBody>
          <a:bodyPr vert="horz" wrap="square" lIns="91440" tIns="45720" rIns="91440" bIns="45720" anchor="t" anchorCtr="0"/>
          <a:lstStyle/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．执行过程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switch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后面“表达式”的值，与某个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case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面的“常量表达式”的值相同时，就执行该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case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后面的语句（组）；当执行到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break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语句时，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跳出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switch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语句，转向执行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switch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语句的下一条。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）如果没有任何一个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case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后面的“常量表达式”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的值，与“表达式”的值匹配，则执行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default 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后面的语句（组）。然后，再执行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switch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的下一条。</a:t>
            </a:r>
          </a:p>
          <a:p>
            <a:pPr marL="0" indent="476250" algn="just" eaLnBrk="1" hangingPunct="1">
              <a:lnSpc>
                <a:spcPct val="90000"/>
              </a:lnSpc>
              <a:buNone/>
            </a:pP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7C3EFD-38E0-4E5A-A42D-10CE6329D31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0725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B7CFB09-C36B-4227-9010-98916B9B23E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750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319088" y="1628775"/>
            <a:ext cx="8507412" cy="4608513"/>
          </a:xfrm>
        </p:spPr>
        <p:txBody>
          <a:bodyPr vert="horz" wrap="square" lIns="91440" tIns="45720" rIns="91440" bIns="45720" anchor="t" anchorCtr="0"/>
          <a:lstStyle/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．说明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switch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后面的“表达式”，可以是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int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char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举型中的一种。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）每个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case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后面“常量表达式”的值，必须各不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相同，否则会出现相互矛盾的现象（即对表达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式的同一值，有两种或两种以上的执行方案）。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case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后面的常量表达式仅起语句标号作用，并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不进行条件判断。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系统一旦找到入口标号，就从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此标号开始执行，不再进行标号判断，所以必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须加上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break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语句，以便结束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switch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语句。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endParaRPr lang="zh-CN" altLang="en-US" sz="26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2FE12F-ADD6-44F0-A3F8-CDA1298AD4B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1749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C1DB5C-EFA2-4DC3-B3E9-BC24692EC9D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18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122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539552" y="1556792"/>
            <a:ext cx="8507412" cy="3219747"/>
          </a:xfrm>
        </p:spPr>
        <p:txBody>
          <a:bodyPr vert="horz" wrap="square" lIns="91440" tIns="45720" rIns="91440" bIns="45720" anchor="t" anchorCtr="0"/>
          <a:lstStyle/>
          <a:p>
            <a:pPr marL="0" indent="476250" algn="just" eaLnBrk="1" hangingPunct="1">
              <a:lnSpc>
                <a:spcPct val="80000"/>
              </a:lnSpc>
              <a:buNone/>
            </a:pPr>
            <a:endParaRPr lang="en-US" altLang="zh-CN" sz="2600" dirty="0"/>
          </a:p>
          <a:p>
            <a:pPr marL="0" indent="476250" algn="just" eaLnBrk="1" hangingPunct="1">
              <a:lnSpc>
                <a:spcPct val="8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）多个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case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子句，可共用同一语句（组）。</a:t>
            </a:r>
          </a:p>
          <a:p>
            <a:pPr marL="0" indent="476250" algn="just" eaLnBrk="1" hangingPunct="1">
              <a:lnSpc>
                <a:spcPct val="80000"/>
              </a:lnSpc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例如，在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3.8]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中的“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case  10: 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case  9: 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共用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printf("grade=A\n"); break;”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8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case  5: ”~“case  0: 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共用语句“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printf("grade=E\n"); </a:t>
            </a:r>
          </a:p>
          <a:p>
            <a:pPr marL="0" indent="476250" algn="just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break;”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  <a:p>
            <a:pPr marL="0" indent="476250" algn="just" eaLnBrk="1" hangingPunct="1">
              <a:lnSpc>
                <a:spcPct val="80000"/>
              </a:lnSpc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80000"/>
              </a:lnSpc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switch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语句实现的多分支结构程序，完全可以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476250" algn="just" eaLnBrk="1" hangingPunct="1">
              <a:lnSpc>
                <a:spcPct val="80000"/>
              </a:lnSpc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if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语句或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if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语句的嵌套来实现。</a:t>
            </a:r>
          </a:p>
          <a:p>
            <a:pPr marL="0" indent="476250" algn="just" eaLnBrk="1" hangingPunct="1">
              <a:lnSpc>
                <a:spcPct val="80000"/>
              </a:lnSpc>
              <a:buNone/>
            </a:pPr>
            <a:endParaRPr lang="zh-CN" altLang="en-US" sz="2600" dirty="0"/>
          </a:p>
          <a:p>
            <a:pPr marL="0" indent="476250" eaLnBrk="1" hangingPunct="1">
              <a:lnSpc>
                <a:spcPct val="80000"/>
              </a:lnSpc>
              <a:buNone/>
            </a:pPr>
            <a:endParaRPr lang="en-US" altLang="zh-CN" sz="2600" b="1" dirty="0"/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665092-F2C9-4873-B0F1-3839B5BE400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2773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462BD-F9F6-42AE-8147-005636D308F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19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616" y="4941168"/>
            <a:ext cx="7056438" cy="8102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思考题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：如果去掉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3.19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]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程序中的所有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break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语句，且输入的成绩为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75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，输出会如何？</a:t>
            </a:r>
          </a:p>
        </p:txBody>
      </p:sp>
      <p:sp>
        <p:nvSpPr>
          <p:cNvPr id="6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613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755650" y="1871663"/>
            <a:ext cx="7772400" cy="4221162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3.20]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求一元二次方程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ax2+bx+c=0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的解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1900" dirty="0"/>
              <a:t/>
            </a:r>
            <a:br>
              <a:rPr lang="en-US" altLang="zh-CN" sz="1900" dirty="0"/>
            </a:br>
            <a:endParaRPr lang="en-US" altLang="zh-CN" sz="19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B4277D-2084-4BC3-A525-02F27B0824A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3798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AFAE10-19A4-49C2-9767-3C04F4A83A3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380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107504" y="1772816"/>
            <a:ext cx="8928992" cy="4248150"/>
          </a:xfrm>
        </p:spPr>
        <p:txBody>
          <a:bodyPr vert="horz" wrap="square" lIns="91440" tIns="45720" rIns="91440" bIns="45720" anchor="t" anchorCtr="0"/>
          <a:lstStyle/>
          <a:p>
            <a:pPr marL="0" indent="374650" algn="just" eaLnBrk="1" hangingPunct="1"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3.21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]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已知某公司员工的保底薪水为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，某月所接工程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374650" algn="just" eaLnBrk="1" hangingPunct="1">
              <a:buNone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的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利润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（整数）与利润提成的关系如下（计量单位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）：</a:t>
            </a:r>
          </a:p>
          <a:p>
            <a:pPr marL="0" indent="374650" algn="just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profit≤1000		   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没有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提成；</a:t>
            </a:r>
          </a:p>
          <a:p>
            <a:pPr marL="0" indent="374650" algn="just" eaLnBrk="1" hangingPunct="1"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1000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profit≤2000		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提成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10%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marL="0" indent="374650" algn="just" eaLnBrk="1" hangingPunct="1"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2000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profit≤5000		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提成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15%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marL="0" indent="374650" algn="just" eaLnBrk="1" hangingPunct="1"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5000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profit≤10000		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提成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20%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marL="0" indent="374650" algn="just" eaLnBrk="1" hangingPunct="1"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10000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			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提成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25%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9E1E52-4F7C-4950-B9A8-D4C343E34D8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4821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8FF121-0635-459D-8DA0-3D99ED2FD1E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187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3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65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4751" y="2163763"/>
            <a:ext cx="8353425" cy="378551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switch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语句，必须将利润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与提成的关系，转换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成某些整数与提成的关系。分析本题可知，提成的变化点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都是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的整数倍（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），如果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将利润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整除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，则当：</a:t>
            </a:r>
          </a:p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profit≤1000		     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1000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profit≤2000		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2000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profit≤5000		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</a:p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5000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profit≤10000		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  10000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＜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profit			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038BF4-48A8-48FE-AB49-9F2D64222F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584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047ED6-3D11-4798-A7A5-516D8CBE0BA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22</a:t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5536" y="1739483"/>
            <a:ext cx="315277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算法设计要点：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6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66156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-7937" y="1989138"/>
            <a:ext cx="8604250" cy="3267075"/>
          </a:xfrm>
        </p:spPr>
        <p:txBody>
          <a:bodyPr vert="horz" wrap="square" lIns="91440" tIns="45720" rIns="91440" bIns="45720" anchor="t" anchorCtr="0"/>
          <a:lstStyle/>
          <a:p>
            <a:pPr marL="0" indent="10160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</a:t>
            </a:r>
            <a:r>
              <a:rPr lang="zh-CN" altLang="en-US" sz="2400" dirty="0"/>
              <a:t>为解决相邻两个区间的重叠问题，最简单的方法就是：利</a:t>
            </a:r>
            <a:endParaRPr lang="en-US" altLang="zh-CN" sz="2400" dirty="0"/>
          </a:p>
          <a:p>
            <a:pPr marL="0" indent="10160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</a:t>
            </a:r>
            <a:r>
              <a:rPr lang="zh-CN" altLang="en-US" sz="2400" dirty="0"/>
              <a:t>润</a:t>
            </a:r>
            <a:r>
              <a:rPr lang="en-US" altLang="zh-CN" sz="2400" dirty="0"/>
              <a:t>profit</a:t>
            </a:r>
            <a:r>
              <a:rPr lang="zh-CN" altLang="en-US" sz="2400" dirty="0"/>
              <a:t>先减</a:t>
            </a:r>
            <a:r>
              <a:rPr lang="en-US" altLang="zh-CN" sz="2400" dirty="0"/>
              <a:t>1</a:t>
            </a:r>
            <a:r>
              <a:rPr lang="zh-CN" altLang="en-US" sz="2400" dirty="0"/>
              <a:t>（最小增量），然后再整除</a:t>
            </a:r>
            <a:r>
              <a:rPr lang="en-US" altLang="zh-CN" sz="2400" dirty="0"/>
              <a:t>1000</a:t>
            </a:r>
            <a:r>
              <a:rPr lang="zh-CN" altLang="en-US" sz="2400" dirty="0"/>
              <a:t>即可：</a:t>
            </a:r>
          </a:p>
          <a:p>
            <a:pPr marL="0" indent="101600"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              </a:t>
            </a:r>
            <a:r>
              <a:rPr lang="en-US" altLang="zh-CN" sz="2400" dirty="0"/>
              <a:t>profit≤1000	    	    </a:t>
            </a:r>
            <a:r>
              <a:rPr lang="zh-CN" altLang="en-US" sz="2400" dirty="0"/>
              <a:t>对应</a:t>
            </a:r>
            <a:r>
              <a:rPr lang="en-US" altLang="zh-CN" sz="2400" dirty="0"/>
              <a:t>0</a:t>
            </a:r>
          </a:p>
          <a:p>
            <a:pPr marL="0" indent="10160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1000</a:t>
            </a:r>
            <a:r>
              <a:rPr lang="zh-CN" altLang="en-US" sz="2400" dirty="0"/>
              <a:t>＜</a:t>
            </a:r>
            <a:r>
              <a:rPr lang="en-US" altLang="zh-CN" sz="2400" dirty="0"/>
              <a:t>profit≤2000	    </a:t>
            </a:r>
            <a:r>
              <a:rPr lang="zh-CN" altLang="en-US" sz="2400" dirty="0"/>
              <a:t>对应</a:t>
            </a:r>
            <a:r>
              <a:rPr lang="en-US" altLang="zh-CN" sz="2400" dirty="0"/>
              <a:t>1</a:t>
            </a:r>
          </a:p>
          <a:p>
            <a:pPr marL="0" indent="10160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2000</a:t>
            </a:r>
            <a:r>
              <a:rPr lang="zh-CN" altLang="en-US" sz="2400" dirty="0"/>
              <a:t>＜</a:t>
            </a:r>
            <a:r>
              <a:rPr lang="en-US" altLang="zh-CN" sz="2400" dirty="0"/>
              <a:t>profit≤5000	    </a:t>
            </a:r>
            <a:r>
              <a:rPr lang="zh-CN" altLang="en-US" sz="2400" dirty="0"/>
              <a:t>对应</a:t>
            </a:r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3</a:t>
            </a:r>
            <a:r>
              <a:rPr lang="zh-CN" altLang="en-US" sz="2400" dirty="0"/>
              <a:t>、</a:t>
            </a:r>
            <a:r>
              <a:rPr lang="en-US" altLang="zh-CN" sz="2400" dirty="0"/>
              <a:t>4</a:t>
            </a:r>
          </a:p>
          <a:p>
            <a:pPr marL="0" indent="10160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5000</a:t>
            </a:r>
            <a:r>
              <a:rPr lang="zh-CN" altLang="en-US" sz="2400" dirty="0"/>
              <a:t>＜</a:t>
            </a:r>
            <a:r>
              <a:rPr lang="en-US" altLang="zh-CN" sz="2400" dirty="0"/>
              <a:t>profit≤10000	    </a:t>
            </a:r>
            <a:r>
              <a:rPr lang="zh-CN" altLang="en-US" sz="2400" dirty="0"/>
              <a:t>对应</a:t>
            </a:r>
            <a:r>
              <a:rPr lang="en-US" altLang="zh-CN" sz="2400" dirty="0"/>
              <a:t>5</a:t>
            </a:r>
            <a:r>
              <a:rPr lang="zh-CN" altLang="en-US" sz="2400" dirty="0"/>
              <a:t>、</a:t>
            </a:r>
            <a:r>
              <a:rPr lang="en-US" altLang="zh-CN" sz="2400" dirty="0"/>
              <a:t>6</a:t>
            </a:r>
            <a:r>
              <a:rPr lang="zh-CN" altLang="en-US" sz="2400" dirty="0"/>
              <a:t>、</a:t>
            </a:r>
            <a:r>
              <a:rPr lang="en-US" altLang="zh-CN" sz="2400" dirty="0"/>
              <a:t>7</a:t>
            </a:r>
            <a:r>
              <a:rPr lang="zh-CN" altLang="en-US" sz="2400" dirty="0"/>
              <a:t>、</a:t>
            </a:r>
            <a:r>
              <a:rPr lang="en-US" altLang="zh-CN" sz="2400" dirty="0"/>
              <a:t>8</a:t>
            </a:r>
            <a:r>
              <a:rPr lang="zh-CN" altLang="en-US" sz="2400" dirty="0"/>
              <a:t>、</a:t>
            </a:r>
            <a:r>
              <a:rPr lang="en-US" altLang="zh-CN" sz="2400" dirty="0"/>
              <a:t>9</a:t>
            </a:r>
          </a:p>
          <a:p>
            <a:pPr marL="0" indent="101600"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10000</a:t>
            </a:r>
            <a:r>
              <a:rPr lang="zh-CN" altLang="en-US" sz="2400" dirty="0"/>
              <a:t>＜</a:t>
            </a:r>
            <a:r>
              <a:rPr lang="en-US" altLang="zh-CN" sz="2400" dirty="0"/>
              <a:t>profit		    </a:t>
            </a:r>
            <a:r>
              <a:rPr lang="zh-CN" altLang="en-US" sz="2400" dirty="0"/>
              <a:t>对应</a:t>
            </a:r>
            <a:r>
              <a:rPr lang="en-US" altLang="zh-CN" sz="2400" dirty="0"/>
              <a:t>10</a:t>
            </a:r>
            <a:r>
              <a:rPr lang="zh-CN" altLang="en-US" sz="2400" dirty="0"/>
              <a:t>、</a:t>
            </a:r>
            <a:r>
              <a:rPr lang="en-US" altLang="zh-CN" sz="2400" dirty="0"/>
              <a:t>11</a:t>
            </a:r>
            <a:r>
              <a:rPr lang="zh-CN" altLang="en-US" sz="2400" dirty="0"/>
              <a:t>、</a:t>
            </a:r>
            <a:r>
              <a:rPr lang="en-US" altLang="zh-CN" sz="2400" dirty="0"/>
              <a:t>12</a:t>
            </a:r>
            <a:r>
              <a:rPr lang="zh-CN" altLang="en-US" sz="2400" dirty="0"/>
              <a:t>、</a:t>
            </a:r>
            <a:r>
              <a:rPr lang="en-US" altLang="zh-CN" sz="2400" dirty="0">
                <a:latin typeface="Courier New" panose="02070309020205020404" pitchFamily="49" charset="0"/>
              </a:rPr>
              <a:t>……</a:t>
            </a:r>
            <a:endParaRPr lang="en-US" altLang="zh-CN" sz="2400" dirty="0"/>
          </a:p>
          <a:p>
            <a:pPr marL="0" indent="101600" algn="just" eaLnBrk="1" hangingPunct="1">
              <a:lnSpc>
                <a:spcPct val="90000"/>
              </a:lnSpc>
              <a:buNone/>
            </a:pPr>
            <a:endParaRPr lang="en-US" altLang="zh-CN" sz="2400" dirty="0"/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8FC457-6309-4C16-B396-26368B7279C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6869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E644FB-BA7E-48C2-8C35-3B4DFC94EF8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925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725613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main(){</a:t>
            </a: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long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profit;</a:t>
            </a: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grade;</a:t>
            </a: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float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salary=5000;</a:t>
            </a: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("Input  profit: ");</a:t>
            </a: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("%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ld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", &amp;profit);</a:t>
            </a: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grade= (profit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–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1) / 1000;	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将利润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、再整除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1000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，转化成 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语句中的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zh-CN" alt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</a:t>
            </a:r>
            <a:endParaRPr kumimoji="0" lang="en-US" altLang="zh-CN" sz="2400" b="0" i="1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号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</a:p>
          <a:p>
            <a:pPr marL="0" marR="0" lvl="0" indent="101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038BF4-48A8-48FE-AB49-9F2D64222F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7893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89DC51-764C-4BD5-9F9C-1A899F90759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24</a:t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19216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/>
          </p:cNvSpPr>
          <p:nvPr>
            <p:ph idx="1"/>
          </p:nvPr>
        </p:nvSpPr>
        <p:spPr>
          <a:xfrm>
            <a:off x="790575" y="1844675"/>
            <a:ext cx="8424863" cy="424815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switch(grade)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{ case  0:  break;			      </a:t>
            </a:r>
            <a:r>
              <a:rPr lang="en-US" altLang="zh-CN" sz="2400" i="1" dirty="0">
                <a:solidFill>
                  <a:srgbClr val="0070C0"/>
                </a:solidFill>
              </a:rPr>
              <a:t>/*profit≤1000 */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case  1: salary += profit*0.1; break; </a:t>
            </a:r>
            <a:r>
              <a:rPr lang="en-US" altLang="zh-CN" sz="2400" i="1" dirty="0">
                <a:solidFill>
                  <a:srgbClr val="0070C0"/>
                </a:solidFill>
              </a:rPr>
              <a:t>/*1000</a:t>
            </a:r>
            <a:r>
              <a:rPr lang="zh-CN" altLang="en-US" sz="2400" i="1" dirty="0">
                <a:solidFill>
                  <a:srgbClr val="0070C0"/>
                </a:solidFill>
              </a:rPr>
              <a:t>＜</a:t>
            </a:r>
            <a:r>
              <a:rPr lang="en-US" altLang="zh-CN" sz="2400" i="1" dirty="0">
                <a:solidFill>
                  <a:srgbClr val="0070C0"/>
                </a:solidFill>
              </a:rPr>
              <a:t>profit≤2000 */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case  2: 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case  3: 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case  4: salary += profit*0.15; break; </a:t>
            </a:r>
            <a:r>
              <a:rPr lang="en-US" altLang="zh-CN" sz="2400" i="1" dirty="0">
                <a:solidFill>
                  <a:srgbClr val="0070C0"/>
                </a:solidFill>
              </a:rPr>
              <a:t>/*2000</a:t>
            </a:r>
            <a:r>
              <a:rPr lang="zh-CN" altLang="en-US" sz="2400" i="1" dirty="0">
                <a:solidFill>
                  <a:srgbClr val="0070C0"/>
                </a:solidFill>
              </a:rPr>
              <a:t>＜</a:t>
            </a:r>
            <a:r>
              <a:rPr lang="en-US" altLang="zh-CN" sz="2400" i="1" dirty="0">
                <a:solidFill>
                  <a:srgbClr val="0070C0"/>
                </a:solidFill>
              </a:rPr>
              <a:t>profit≤5000 */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case  5: 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case  6: 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case  7: 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case  8: 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Courier New" panose="02070309020205020404" pitchFamily="49" charset="0"/>
              </a:rPr>
              <a:t> </a:t>
            </a:r>
            <a:endParaRPr lang="en-US" altLang="zh-CN" sz="2400" b="1" dirty="0"/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610F72-7189-4C1B-9FEB-1B6EBFB0EDA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8917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90BBCE-E73B-4C59-B751-EF3980E011D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51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37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416CFF-98F9-49E1-888D-314ABB5C621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1B3F47-951F-4811-B99F-62BA28EBDB7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4213" y="2205038"/>
            <a:ext cx="7991475" cy="2455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case  9: salary += profit*0.2; break;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/*5000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＜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profit≤10000 */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default: salary += profit*0.25;		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/*10000</a:t>
            </a:r>
            <a:r>
              <a:rPr kumimoji="0" lang="zh-CN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＜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profit */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}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printf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("salary=%.2f\n", salary);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return 0;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} 							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196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6DA6BA-E76C-4D58-8152-BD5DB2F211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03648" y="2060848"/>
            <a:ext cx="6397625" cy="4307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dirty="0"/>
          </a:p>
          <a:p>
            <a:r>
              <a:rPr lang="zh-CN" altLang="en-US" sz="1600" dirty="0"/>
              <a:t>#include&lt;stdio.h&gt;</a:t>
            </a:r>
          </a:p>
          <a:p>
            <a:r>
              <a:rPr lang="zh-CN" altLang="en-US" sz="1600" dirty="0"/>
              <a:t>int main(){</a:t>
            </a:r>
          </a:p>
          <a:p>
            <a:r>
              <a:rPr lang="zh-CN" altLang="en-US" sz="1600" dirty="0"/>
              <a:t>	int num;</a:t>
            </a:r>
          </a:p>
          <a:p>
            <a:r>
              <a:rPr lang="zh-CN" altLang="en-US" sz="1600" dirty="0"/>
              <a:t>	for(;;){</a:t>
            </a:r>
          </a:p>
          <a:p>
            <a:r>
              <a:rPr lang="zh-CN" altLang="en-US" sz="1600" dirty="0"/>
              <a:t>		printf("成绩管理系统\n");</a:t>
            </a:r>
          </a:p>
          <a:p>
            <a:r>
              <a:rPr lang="zh-CN" altLang="en-US" sz="1600" dirty="0"/>
              <a:t>		printf("1.录入成绩\n");</a:t>
            </a:r>
          </a:p>
          <a:p>
            <a:r>
              <a:rPr lang="zh-CN" altLang="en-US" sz="1600" dirty="0"/>
              <a:t>		printf("2.修改成绩\n");</a:t>
            </a:r>
          </a:p>
          <a:p>
            <a:r>
              <a:rPr lang="zh-CN" altLang="en-US" sz="1600" dirty="0"/>
              <a:t>		printf("0.退出系统\n");</a:t>
            </a:r>
          </a:p>
          <a:p>
            <a:r>
              <a:rPr lang="zh-CN" altLang="en-US" sz="1600" dirty="0"/>
              <a:t>		scanf("%d",&amp;num);</a:t>
            </a:r>
          </a:p>
          <a:p>
            <a:r>
              <a:rPr lang="zh-CN" altLang="en-US" sz="1600" dirty="0"/>
              <a:t>		switch(num){</a:t>
            </a:r>
          </a:p>
          <a:p>
            <a:r>
              <a:rPr lang="zh-CN" altLang="en-US" sz="1600" dirty="0"/>
              <a:t>			case 1:printf("1\n");break;</a:t>
            </a:r>
          </a:p>
          <a:p>
            <a:r>
              <a:rPr lang="zh-CN" altLang="en-US" sz="1600" dirty="0"/>
              <a:t>			case 2:printf("2\n"); break;</a:t>
            </a:r>
          </a:p>
          <a:p>
            <a:r>
              <a:rPr lang="zh-CN" altLang="en-US" sz="1600" dirty="0"/>
              <a:t>			case 0:return 0;</a:t>
            </a:r>
          </a:p>
          <a:p>
            <a:r>
              <a:rPr lang="zh-CN" altLang="en-US" sz="1600" dirty="0"/>
              <a:t>		}</a:t>
            </a:r>
          </a:p>
          <a:p>
            <a:r>
              <a:rPr lang="zh-CN" altLang="en-US" sz="1600" dirty="0"/>
              <a:t>	}</a:t>
            </a:r>
          </a:p>
          <a:p>
            <a:r>
              <a:rPr lang="zh-CN" altLang="en-US" sz="1600" dirty="0"/>
              <a:t>}   </a:t>
            </a: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729341" y="1650256"/>
            <a:ext cx="4977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3746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[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例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3.22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swtich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语句实现菜单</a:t>
            </a:r>
          </a:p>
        </p:txBody>
      </p:sp>
      <p:sp>
        <p:nvSpPr>
          <p:cNvPr id="5" name="Rectangle 2"/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555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6DA6BA-E76C-4D58-8152-BD5DB2F211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19885" y="1988820"/>
            <a:ext cx="5486400" cy="3714750"/>
          </a:xfrm>
          <a:prstGeom prst="rect">
            <a:avLst/>
          </a:prstGeom>
        </p:spPr>
      </p:pic>
      <p:sp>
        <p:nvSpPr>
          <p:cNvPr id="5" name="Rectangle 2"/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87624" y="1117873"/>
            <a:ext cx="3816915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  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选择结构程序设计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47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2C4FCD-E7E0-430A-BDA1-636A581166C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2" name="灯片编号占位符 7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497CFF-9F05-4E7C-904F-78EFCF4EE1C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29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1913" y="1052513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矩形 2"/>
          <p:cNvSpPr/>
          <p:nvPr/>
        </p:nvSpPr>
        <p:spPr>
          <a:xfrm>
            <a:off x="1115616" y="2439290"/>
            <a:ext cx="6408737" cy="230832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577850" eaLnBrk="1" hangingPunct="1">
              <a:lnSpc>
                <a:spcPct val="150000"/>
              </a:lnSpc>
              <a:buClr>
                <a:srgbClr val="CC9900"/>
              </a:buClr>
              <a:buNone/>
            </a:pPr>
            <a:endParaRPr lang="en-US" altLang="zh-CN" sz="24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577850" eaLnBrk="1" hangingPunct="1">
              <a:lnSpc>
                <a:spcPct val="150000"/>
              </a:lnSpc>
              <a:buClr>
                <a:srgbClr val="CC9900"/>
              </a:buClr>
              <a:buNone/>
            </a:pPr>
            <a:r>
              <a:rPr lang="en-US" altLang="zh-CN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语言提供了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条循环语句用来处理这种重复计算结构（称为循环结构），以简化、并规范循环结构程序设计。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2159406"/>
            <a:ext cx="6218406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7850" eaLnBrk="1" hangingPunct="1">
              <a:lnSpc>
                <a:spcPct val="150000"/>
              </a:lnSpc>
              <a:buClr>
                <a:srgbClr val="CC9900"/>
              </a:buClr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循环结构是计算机处理问题的重要特点。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5491" y="1556792"/>
            <a:ext cx="7489825" cy="6080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循环语句概述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507885" y="2227006"/>
            <a:ext cx="8077200" cy="4464050"/>
          </a:xfrm>
        </p:spPr>
        <p:txBody>
          <a:bodyPr vert="horz" wrap="square" lIns="91440" tIns="45720" rIns="91440" bIns="45720" anchor="t" anchorCtr="0"/>
          <a:lstStyle/>
          <a:p>
            <a:pPr marL="0" indent="577850" eaLnBrk="1" hangingPunct="1"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的累计和。</a:t>
            </a:r>
          </a:p>
          <a:p>
            <a:pPr marL="0" indent="577850" eaLnBrk="1" hangingPunct="1">
              <a:buNone/>
            </a:pP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根据已有的知识，可以用“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1+2+……+100”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来求解，</a:t>
            </a:r>
            <a:endParaRPr lang="en-US" altLang="zh-CN" sz="20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buNone/>
            </a:pP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但显然很繁琐。现在换个思路来考虑：</a:t>
            </a:r>
          </a:p>
          <a:p>
            <a:pPr marL="0" indent="577850" eaLnBrk="1" hangingPunct="1">
              <a:buNone/>
            </a:pP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首先设置一个累计器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sum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，其初值为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，利用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sum+= n</a:t>
            </a:r>
          </a:p>
          <a:p>
            <a:pPr marL="0" indent="577850" eaLnBrk="1" hangingPunct="1">
              <a:buNone/>
            </a:pP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来计算（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依次取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），只要解决以下</a:t>
            </a:r>
            <a:endParaRPr lang="en-US" altLang="zh-CN" sz="20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buNone/>
            </a:pP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个问题即可：</a:t>
            </a:r>
            <a:endParaRPr lang="en-US" altLang="zh-CN" sz="20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buNone/>
            </a:pP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）将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的初值置为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b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endParaRPr lang="en-US" altLang="zh-CN" sz="20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）每执行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次“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sum += n”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后，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增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b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endParaRPr lang="en-US" altLang="zh-CN" sz="20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buNone/>
            </a:pP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）当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增到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101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时，停止计算。此时，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sum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的值就是</a:t>
            </a:r>
            <a:endParaRPr lang="en-US" altLang="zh-CN" sz="20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buNone/>
            </a:pP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     1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的累计和。</a:t>
            </a:r>
            <a:b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            </a:t>
            </a:r>
          </a:p>
          <a:p>
            <a:pPr marL="0" indent="577850" eaLnBrk="1" hangingPunct="1">
              <a:lnSpc>
                <a:spcPct val="80000"/>
              </a:lnSpc>
              <a:buNone/>
            </a:pPr>
            <a:endParaRPr lang="en-US" altLang="zh-CN" sz="2600" dirty="0"/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9E40DC-8E1E-4886-8AF8-68454F68FA4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126" name="灯片编号占位符 7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466D91-3EF3-46CD-B22F-998EF5E23FB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31913" y="1052513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539750" y="1700213"/>
            <a:ext cx="8229600" cy="43926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在Ｃ语言中，可用以下语句实现循环：</a:t>
            </a:r>
          </a:p>
          <a:p>
            <a:pPr eaLnBrk="1" hangingPunct="1">
              <a:buNone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）用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for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语句。</a:t>
            </a:r>
          </a:p>
          <a:p>
            <a:pPr eaLnBrk="1" hangingPunct="1"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（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）用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do-while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语句。</a:t>
            </a:r>
          </a:p>
          <a:p>
            <a:pPr eaLnBrk="1" hangingPunct="1"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（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）用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while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语句。</a:t>
            </a:r>
          </a:p>
          <a:p>
            <a:pPr eaLnBrk="1" hangingPunct="1"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（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）用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goto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语句和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语句构成循环。使用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goto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语句实现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求解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累计和的程序可以如下：</a:t>
            </a:r>
          </a:p>
          <a:p>
            <a:pPr eaLnBrk="1" hangingPunct="1">
              <a:buNone/>
            </a:pPr>
            <a:endParaRPr lang="en-US" altLang="zh-CN" sz="20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0DC0BA-72AB-4936-8D69-C000352CE03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149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7DE989-76FA-4F69-9B1C-5B7554618F3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884238" y="1589088"/>
            <a:ext cx="8080375" cy="119184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Clr>
                <a:srgbClr val="CC9900"/>
              </a:buClr>
              <a:buNone/>
            </a:pPr>
            <a:r>
              <a:rPr lang="en-US" altLang="zh-CN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for</a:t>
            </a:r>
            <a:r>
              <a:rPr lang="zh-CN" altLang="en-US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 </a:t>
            </a:r>
            <a:endParaRPr lang="en-US" altLang="zh-CN" sz="2000" kern="1200" dirty="0" smtClean="0">
              <a:solidFill>
                <a:srgbClr val="6600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buClr>
                <a:srgbClr val="CC9900"/>
              </a:buClr>
              <a:buNone/>
            </a:pPr>
            <a:r>
              <a:rPr lang="en-US" altLang="zh-CN" sz="2000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for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语句最为灵活，不仅可用于循环次数已经确定的情况，也可用于循环次数虽不确定、但给出了循环继续条件的情况。</a:t>
            </a:r>
            <a:b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690AA4-10F9-43E4-9577-95C3E96E07C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222" name="灯片编号占位符 7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29283E-7B29-4271-AC20-F4F9C3B1BA7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32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6012" y="2759406"/>
            <a:ext cx="748982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3.23]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的累计和。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将累加器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sum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初始化为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0*/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     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 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实现累加*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"sum=%d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5142716"/>
            <a:ext cx="7239000" cy="13335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循环结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xfrm>
            <a:off x="468313" y="1727200"/>
            <a:ext cx="8153400" cy="4516438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buNone/>
            </a:pP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a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．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for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语句的一般格式</a:t>
            </a:r>
            <a:b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     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for([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变量赋初值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]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循环继续条件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]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循环变量增值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])</a:t>
            </a:r>
            <a:b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{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循环体组；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}</a:t>
            </a:r>
          </a:p>
          <a:p>
            <a:pPr marL="0" indent="476250" eaLnBrk="1" hangingPunct="1">
              <a:buNone/>
            </a:pP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b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．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for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语句的语句执行过程</a:t>
            </a:r>
          </a:p>
          <a:p>
            <a:pPr marL="0" indent="476250" eaLnBrk="1" hangingPunct="1">
              <a:buNone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）求解“变量赋初值”表达式。</a:t>
            </a:r>
          </a:p>
          <a:p>
            <a:pPr marL="0" indent="476250" eaLnBrk="1" hangingPunct="1">
              <a:buNone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）求解“循环继续条件”表达式。如果其值非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，执行（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）；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否则，转至（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）。</a:t>
            </a:r>
          </a:p>
          <a:p>
            <a:pPr marL="0" indent="476250" eaLnBrk="1" hangingPunct="1">
              <a:buNone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）执行循环体语句组，并求解“循环变量增值”表达式，然后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转向（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）。</a:t>
            </a:r>
          </a:p>
          <a:p>
            <a:pPr marL="0" indent="476250" eaLnBrk="1" hangingPunct="1">
              <a:buNone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）执行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for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语句的下一条语句。</a:t>
            </a:r>
          </a:p>
          <a:p>
            <a:pPr marL="0" indent="476250" eaLnBrk="1" hangingPunct="1">
              <a:lnSpc>
                <a:spcPct val="90000"/>
              </a:lnSpc>
              <a:buNone/>
            </a:pPr>
            <a:endParaRPr lang="zh-CN" altLang="en-US" sz="24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D87360-F566-4D16-B35A-7EABAEAC5D3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1269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C00536-72FB-4E46-8712-ADCBD857C3F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436563" y="1844675"/>
            <a:ext cx="8281987" cy="4248150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．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说明</a:t>
            </a: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）“变量赋初值”、“循环继续条件”和“循环变量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增值”部分均可缺省，甚至全部缺省，但其间的分  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号不能省略。</a:t>
            </a:r>
          </a:p>
          <a:p>
            <a:pPr marL="0" indent="476250" eaLnBrk="1" hangingPunct="1">
              <a:buNone/>
            </a:pP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）当循环体语句组仅由一条语句构成时，可以不使用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复合语句形式，如上例所示。</a:t>
            </a:r>
          </a:p>
          <a:p>
            <a:pPr marL="0" indent="476250" eaLnBrk="1" hangingPunct="1">
              <a:buNone/>
            </a:pP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）“循环变量赋初值”表达式，既可以是给循环变量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赋初值的赋值表达式，也可以是与此无关的其它表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    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达式（如逗号表达式）。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96FF2A-9041-4511-85A6-98132A54BA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2293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26CCE0-DC76-4971-8563-99109F463C8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225" y="1958975"/>
            <a:ext cx="8888413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例如，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for(sum=0;i&lt;=100;i++) </a:t>
            </a: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sum +=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for(sum=0,i=1;i&lt;=100;i++)</a:t>
            </a: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sum += 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	</a:t>
            </a: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4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）“循环继续条件”部分是一个逻辑量，除一般的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关系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（或逻辑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表达式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外，也允许是数值（或字符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）表达式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。</a:t>
            </a:r>
            <a:b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</a:b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63E472-EFC7-4A1F-A672-FC14D44AB17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331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090B91-F061-43A6-A89C-C527F60FCA4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35</a:t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611188" y="1701800"/>
            <a:ext cx="7772400" cy="4535488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2) while</a:t>
            </a:r>
            <a:r>
              <a:rPr lang="zh-CN" altLang="en-US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语句</a:t>
            </a: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）一般格式</a:t>
            </a:r>
            <a:r>
              <a:rPr lang="zh-CN" altLang="en-US" sz="2600" dirty="0"/>
              <a:t/>
            </a:r>
            <a:br>
              <a:rPr lang="zh-CN" altLang="en-US" sz="2600" dirty="0"/>
            </a:br>
            <a:r>
              <a:rPr lang="zh-CN" altLang="en-US" sz="2600" dirty="0"/>
              <a:t>          </a:t>
            </a:r>
            <a:r>
              <a:rPr lang="en-US" altLang="zh-CN" sz="2600" dirty="0"/>
              <a:t>while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循环继续条件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b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          {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循环体语句组；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}</a:t>
            </a: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）执行过程</a:t>
            </a: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① 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求解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“循环继续条件”表达式。如果其值为非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转②；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否则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</a:t>
            </a:r>
            <a:r>
              <a:rPr lang="en-US" altLang="zh-CN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③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zh-CN" altLang="en-US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②执行循环体语句组，然后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① 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zh-CN" altLang="en-US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③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执行</a:t>
            </a:r>
            <a:r>
              <a:rPr lang="en-US" altLang="zh-CN" sz="2600" dirty="0"/>
              <a:t>while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语句的下一条。</a:t>
            </a: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显然，</a:t>
            </a:r>
            <a:r>
              <a:rPr lang="en-US" altLang="zh-CN" sz="2600" dirty="0"/>
              <a:t>while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循环是</a:t>
            </a:r>
            <a:r>
              <a:rPr lang="en-US" altLang="zh-CN" sz="2600" dirty="0"/>
              <a:t>for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循环的一种简化形式（缺省“变量赋初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lnSpc>
                <a:spcPct val="90000"/>
              </a:lnSpc>
              <a:buClr>
                <a:srgbClr val="CC9900"/>
              </a:buClr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值”和“循环变量增值”表达式）。</a:t>
            </a:r>
            <a:b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zh-CN" altLang="en-US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13790-E97B-49AE-9C27-F0D7F80209D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4341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1C1B29-6764-4868-BB3B-0D755C0FED2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445E5B-6ABB-4449-84FB-3EDBB550F43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536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2CF614-7D58-4229-B380-380914E8D55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1600" y="1863726"/>
            <a:ext cx="7776864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3.24]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while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的累计和。</a:t>
            </a:r>
            <a:b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初始化循环控制变量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和累计器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sum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*/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</a:t>
            </a:r>
            <a:endParaRPr lang="en-US" altLang="zh-CN" dirty="0" smtClean="0">
              <a:solidFill>
                <a:srgbClr val="BABABA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smtClean="0">
                <a:solidFill>
                  <a:srgbClr val="BABABA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dirty="0" smtClean="0">
                <a:solidFill>
                  <a:srgbClr val="BABABA"/>
                </a:solidFill>
                <a:latin typeface="Consolas" panose="020B0609020204030204" pitchFamily="49" charset="0"/>
              </a:rPr>
              <a:t> 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实现累加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</a:t>
            </a:r>
            <a:r>
              <a:rPr lang="en-US" altLang="zh-CN" dirty="0" smtClean="0">
                <a:solidFill>
                  <a:srgbClr val="BABABA"/>
                </a:solidFill>
                <a:latin typeface="Consolas" panose="020B0609020204030204" pitchFamily="49" charset="0"/>
              </a:rPr>
              <a:t>  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循环控制变量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*/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"sum=%d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1619031"/>
            <a:ext cx="5112742" cy="5318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1200" dirty="0" smtClean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   </a:t>
            </a:r>
            <a:r>
              <a:rPr lang="zh-CN" altLang="en-US" sz="24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直到型循环</a:t>
            </a:r>
            <a:r>
              <a:rPr lang="en-US" altLang="zh-CN" sz="24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do-while</a:t>
            </a:r>
            <a:r>
              <a:rPr lang="zh-CN" altLang="en-US" sz="24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语句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625475" y="2276475"/>
            <a:ext cx="8497888" cy="2593975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 一般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格式</a:t>
            </a:r>
          </a:p>
          <a:p>
            <a:pPr marL="0" indent="476250" eaLnBrk="1" hangingPunct="1">
              <a:buNone/>
            </a:pP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do </a:t>
            </a:r>
          </a:p>
          <a:p>
            <a:pPr marL="0" indent="476250"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{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循环体语句组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; }</a:t>
            </a:r>
          </a:p>
          <a:p>
            <a:pPr marL="0" indent="476250"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while(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循环继续条件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);	</a:t>
            </a:r>
            <a:r>
              <a:rPr lang="en-US" altLang="zh-CN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en-US" altLang="zh-CN" sz="2000" i="1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sz="2000" i="1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本行的分号不能缺省*</a:t>
            </a:r>
            <a:r>
              <a:rPr lang="en-US" altLang="zh-CN" sz="2000" i="1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pPr marL="0" indent="476250"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当循环体语句组仅由一条语句构成时，可以不使用复合语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句形式。</a:t>
            </a:r>
          </a:p>
          <a:p>
            <a:pPr marL="0" indent="476250" eaLnBrk="1" hangingPunct="1">
              <a:buNone/>
            </a:pPr>
            <a:endParaRPr lang="zh-CN" altLang="en-US" sz="2400" dirty="0"/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E7E9EB-1BB1-4C30-A93C-8CF4970E7A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414" name="灯片编号占位符 7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CE8BDE-3084-4669-8F87-095D88E95E3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38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631156"/>
            <a:ext cx="7993063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0" indent="476250" eaLnBrk="1" hangingPunct="1">
              <a:buClr>
                <a:srgbClr val="CC9900"/>
              </a:buClr>
              <a:buNone/>
              <a:defRPr/>
            </a:pP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）执行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过程</a:t>
            </a: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(1)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执行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循环体语句组。</a:t>
            </a: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(2)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计算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“循环继续条件”表达式。如果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“循环继续条件”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表达式的值为非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（真），则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转向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(1)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继续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执行；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否则，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转向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(3)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(3)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执行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do-while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的下一条语句。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do-while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循环语句的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特点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是：先执行循环体语句组，然后再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lvl="0" indent="476250" eaLnBrk="1" hangingPunct="1">
              <a:buClr>
                <a:srgbClr val="CC9900"/>
              </a:buClr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判断循环条件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。适用于处理：不论条件是否成立，先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执行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次</a:t>
            </a:r>
            <a:endParaRPr lang="en-US" altLang="zh-CN" sz="2000" b="1" dirty="0" smtClean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lvl="0" indent="476250" eaLnBrk="1" hangingPunct="1">
              <a:buClr>
                <a:srgbClr val="CC9900"/>
              </a:buClr>
              <a:buNone/>
              <a:defRPr/>
            </a:pP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循环体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语句组的情况。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FC395D-2289-4EC5-B269-68AB85FEA6A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843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A3970D-2CB7-4D2E-B270-3DDA7CBDE18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39</a:t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/>
          </p:cNvSpPr>
          <p:nvPr>
            <p:ph idx="1"/>
          </p:nvPr>
        </p:nvSpPr>
        <p:spPr>
          <a:xfrm>
            <a:off x="545963" y="1412776"/>
            <a:ext cx="7772400" cy="668908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lnSpc>
                <a:spcPct val="80000"/>
              </a:lnSpc>
              <a:buNone/>
            </a:pPr>
            <a:endParaRPr lang="zh-CN" altLang="en-US" sz="1900" dirty="0"/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lang="en-US" altLang="zh-CN" sz="2000" kern="12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3.25] 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do-while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语句求解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～</a:t>
            </a:r>
            <a:r>
              <a:rPr lang="en-US" altLang="zh-CN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100</a:t>
            </a:r>
            <a: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的累计和。</a:t>
            </a:r>
            <a:br>
              <a:rPr lang="zh-CN" altLang="en-US" sz="2000" kern="1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endParaRPr lang="en-US" altLang="zh-CN" sz="2000" kern="12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EFB50E-5821-4F3F-8F2B-7FCEB8329A7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9461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917A3-1460-44FA-B656-3E8649FEB2E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26753" y="2110907"/>
            <a:ext cx="806489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定义并初始化循环控制变量，以及累计器*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/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do</a:t>
            </a:r>
            <a:b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累加*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循环继续条件：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&lt;=100*/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"sum=%d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5FA5E3-B704-4E1A-8794-86DF1B4BE9B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19672" y="1772816"/>
            <a:ext cx="5184576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[例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3.26]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整数按位倒序输出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d"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do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"%d"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%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!=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23" y="4941168"/>
            <a:ext cx="7124700" cy="144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/>
          </p:cNvSpPr>
          <p:nvPr>
            <p:ph idx="1"/>
          </p:nvPr>
        </p:nvSpPr>
        <p:spPr>
          <a:xfrm>
            <a:off x="304800" y="1916113"/>
            <a:ext cx="8299450" cy="4038600"/>
          </a:xfrm>
        </p:spPr>
        <p:txBody>
          <a:bodyPr vert="horz" wrap="square" lIns="91440" tIns="45720" rIns="91440" bIns="45720" anchor="t" anchorCtr="0"/>
          <a:lstStyle/>
          <a:p>
            <a:pPr marL="0" indent="663575" eaLnBrk="1" hangingPunct="1">
              <a:lnSpc>
                <a:spcPct val="90000"/>
              </a:lnSpc>
              <a:buNone/>
            </a:pPr>
            <a:r>
              <a:rPr lang="en-US" altLang="zh-CN" sz="20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3) </a:t>
            </a:r>
            <a:r>
              <a:rPr lang="zh-CN" altLang="en-US" sz="20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嵌套</a:t>
            </a:r>
          </a:p>
          <a:p>
            <a:pPr marL="0" indent="663575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）循环语句的循环体内，又包含另一个完整的循环结构，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63575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称为循环的嵌套。循环嵌套的概念，对所有高级语言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63575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都是一样的。</a:t>
            </a:r>
          </a:p>
          <a:p>
            <a:pPr marL="0" indent="663575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en-US" altLang="zh-CN" sz="2400" dirty="0"/>
              <a:t>for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语句、</a:t>
            </a:r>
            <a:r>
              <a:rPr lang="en-US" altLang="zh-CN" sz="2400" dirty="0"/>
              <a:t>while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语句和</a:t>
            </a:r>
            <a:r>
              <a:rPr lang="en-US" altLang="zh-CN" sz="2000" dirty="0"/>
              <a:t>do-while</a:t>
            </a:r>
            <a:r>
              <a:rPr lang="zh-CN" altLang="en-US" sz="18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语句都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允许嵌套。 </a:t>
            </a:r>
          </a:p>
          <a:p>
            <a:pPr marL="0" indent="663575" eaLnBrk="1" hangingPunct="1">
              <a:lnSpc>
                <a:spcPct val="90000"/>
              </a:lnSpc>
              <a:buNone/>
            </a:pPr>
            <a:endParaRPr lang="zh-CN" altLang="en-US" sz="2400" dirty="0"/>
          </a:p>
          <a:p>
            <a:pPr marL="0" indent="663575" eaLnBrk="1" hangingPunct="1">
              <a:lnSpc>
                <a:spcPct val="90000"/>
              </a:lnSpc>
              <a:buNone/>
            </a:pPr>
            <a:endParaRPr lang="zh-CN" altLang="en-US" sz="2400" dirty="0"/>
          </a:p>
          <a:p>
            <a:pPr marL="0" indent="663575" eaLnBrk="1" hangingPunct="1">
              <a:lnSpc>
                <a:spcPct val="90000"/>
              </a:lnSpc>
              <a:buNone/>
            </a:pPr>
            <a:endParaRPr lang="en-US" altLang="zh-CN" sz="21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B1C908-C383-4BA8-BD47-524B6B681B3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6389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72176D-924B-44EA-8A59-932BD3B15F6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42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93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395536" y="5026211"/>
            <a:ext cx="8569077" cy="1236092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buNone/>
            </a:pP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其中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loop:”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为语句标号（格式：标号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: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语句行），其命名遵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循标识符命名规则。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goto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语句格式：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goto 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标号，功能为：使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系统转向标号所在的语句行执行。</a:t>
            </a:r>
            <a:endParaRPr lang="zh-CN" altLang="en-US" sz="2000" b="1" i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endParaRPr lang="zh-CN" altLang="en-US" sz="2400" b="1" i="1" dirty="0"/>
          </a:p>
          <a:p>
            <a:pPr marL="0" indent="476250" eaLnBrk="1" hangingPunct="1">
              <a:lnSpc>
                <a:spcPct val="80000"/>
              </a:lnSpc>
              <a:buNone/>
            </a:pPr>
            <a:endParaRPr lang="zh-CN" altLang="en-US" sz="1900" dirty="0"/>
          </a:p>
          <a:p>
            <a:pPr marL="0" indent="476250" eaLnBrk="1" hangingPunct="1">
              <a:lnSpc>
                <a:spcPct val="80000"/>
              </a:lnSpc>
              <a:buNone/>
            </a:pPr>
            <a:endParaRPr lang="en-US" altLang="zh-CN" sz="19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0C9697-A363-4ED0-BF8C-882BB06D360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173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17C680-E8BD-4A4A-81B3-8BC29B0FCFB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7657" y="1735309"/>
            <a:ext cx="655272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4 </a:t>
            </a:r>
            <a:r>
              <a:rPr lang="zh-CN" altLang="en-US" sz="24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en-US" altLang="zh-CN" sz="2400" dirty="0" err="1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goto</a:t>
            </a:r>
            <a:r>
              <a:rPr lang="zh-CN" altLang="en-US" sz="24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语句和</a:t>
            </a:r>
            <a:r>
              <a:rPr lang="en-US" altLang="zh-CN" sz="24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if</a:t>
            </a:r>
            <a:r>
              <a:rPr lang="zh-CN" altLang="en-US" sz="240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语句构成循环</a:t>
            </a:r>
            <a:endParaRPr lang="en-US" altLang="zh-CN" sz="2400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solidFill>
                <a:srgbClr val="1F542E"/>
              </a:solidFill>
              <a:latin typeface="Consolas" panose="020B0609020204030204" pitchFamily="49" charset="0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loop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goto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loop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"sum=%d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12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2204864"/>
            <a:ext cx="8229600" cy="2735882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2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注意</a:t>
            </a:r>
            <a:r>
              <a:rPr lang="zh-CN" altLang="en-US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：结构化程序设计方法，主张限制使用</a:t>
            </a:r>
            <a:r>
              <a:rPr lang="en-US" altLang="zh-CN" sz="2200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goto</a:t>
            </a:r>
            <a:r>
              <a:rPr lang="zh-CN" altLang="en-US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语句。</a:t>
            </a:r>
            <a:endParaRPr lang="en-US" altLang="zh-CN" sz="2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因为滥用</a:t>
            </a:r>
            <a:r>
              <a:rPr lang="en-US" altLang="zh-CN" sz="2200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goto</a:t>
            </a:r>
            <a:r>
              <a:rPr lang="zh-CN" altLang="en-US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语句，将会导致程序结构无规律、可读性</a:t>
            </a:r>
            <a:endParaRPr lang="en-US" altLang="zh-CN" sz="2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差。另外，从功能上说，</a:t>
            </a:r>
            <a:r>
              <a:rPr lang="en-US" altLang="zh-CN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for</a:t>
            </a:r>
            <a:r>
              <a:rPr lang="zh-CN" altLang="en-US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语句可完全代替当型循环语</a:t>
            </a:r>
            <a:endParaRPr lang="en-US" altLang="zh-CN" sz="2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句</a:t>
            </a:r>
            <a:r>
              <a:rPr lang="en-US" altLang="zh-CN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while</a:t>
            </a:r>
            <a:r>
              <a:rPr lang="zh-CN" altLang="en-US" sz="2200" b="1" dirty="0">
                <a:latin typeface="仿宋" panose="02010609060101010101" pitchFamily="49" charset="-122"/>
                <a:ea typeface="仿宋" panose="02010609060101010101" pitchFamily="49" charset="-122"/>
              </a:rPr>
              <a:t>，所以该语句也不是必需的。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zh-CN" altLang="en-US" sz="2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F9DD04-5032-4BF0-842C-1E47CE3A5FD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19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2419FF-E8E2-4588-B611-19257137C4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44</a:t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7009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818511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5  break</a:t>
            </a:r>
            <a:r>
              <a:rPr lang="zh-CN" altLang="en-US" sz="24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语句与</a:t>
            </a:r>
            <a:r>
              <a:rPr lang="en-US" altLang="zh-CN" sz="24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continue</a:t>
            </a:r>
            <a:r>
              <a:rPr lang="zh-CN" altLang="en-US" sz="24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语句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325437" y="2073276"/>
            <a:ext cx="8424862" cy="4392612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buNone/>
            </a:pPr>
            <a:endParaRPr lang="en-US" altLang="zh-CN" sz="2000" b="1" dirty="0" smtClean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zh-CN" altLang="en-US" sz="2000" b="1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为了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使循环控制更加灵活，Ｃ语言提供了</a:t>
            </a:r>
            <a:r>
              <a:rPr lang="en-US" altLang="zh-CN" sz="2400" dirty="0"/>
              <a:t>break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语句和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400" dirty="0"/>
              <a:t>continue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语句。</a:t>
            </a:r>
          </a:p>
          <a:p>
            <a:pPr marL="0" indent="476250" eaLnBrk="1" hangingPunct="1">
              <a:buNone/>
            </a:pPr>
            <a:r>
              <a:rPr lang="en-US" altLang="zh-CN" sz="2400" dirty="0" smtClean="0"/>
              <a:t>1)</a:t>
            </a:r>
            <a:r>
              <a:rPr lang="zh-CN" altLang="en-US" sz="2400" dirty="0" smtClean="0"/>
              <a:t>一般</a:t>
            </a:r>
            <a:r>
              <a:rPr lang="zh-CN" altLang="en-US" sz="2400" dirty="0"/>
              <a:t>格式： </a:t>
            </a:r>
            <a:r>
              <a:rPr lang="en-US" altLang="zh-CN" sz="2400" dirty="0"/>
              <a:t>break</a:t>
            </a:r>
            <a:r>
              <a:rPr lang="zh-CN" altLang="en-US" sz="2400" dirty="0"/>
              <a:t>；</a:t>
            </a:r>
          </a:p>
          <a:p>
            <a:pPr marL="0" indent="476250" eaLnBrk="1" hangingPunct="1">
              <a:buNone/>
            </a:pPr>
            <a:r>
              <a:rPr lang="zh-CN" altLang="en-US" sz="2400" dirty="0"/>
              <a:t>                           </a:t>
            </a:r>
            <a:r>
              <a:rPr lang="en-US" altLang="zh-CN" sz="2400" dirty="0"/>
              <a:t>continue</a:t>
            </a:r>
            <a:r>
              <a:rPr lang="zh-CN" altLang="en-US" sz="2400" dirty="0"/>
              <a:t>；</a:t>
            </a:r>
          </a:p>
          <a:p>
            <a:pPr marL="0" indent="476250" eaLnBrk="1" hangingPunct="1">
              <a:buNone/>
            </a:pPr>
            <a:r>
              <a:rPr lang="en-US" altLang="zh-CN" sz="2400" dirty="0" smtClean="0"/>
              <a:t>2)</a:t>
            </a:r>
            <a:r>
              <a:rPr lang="zh-CN" altLang="en-US" sz="2400" dirty="0" smtClean="0"/>
              <a:t>功能</a:t>
            </a:r>
            <a:endParaRPr lang="zh-CN" altLang="en-US" sz="2400" dirty="0"/>
          </a:p>
          <a:p>
            <a:pPr marL="0" indent="476250" eaLnBrk="1" hangingPunct="1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break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强行结束循环，转向执行循环语句的下一条语句。</a:t>
            </a:r>
          </a:p>
          <a:p>
            <a:pPr marL="0" indent="476250" eaLnBrk="1" hangingPunct="1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continue</a:t>
            </a:r>
            <a:r>
              <a:rPr lang="zh-CN" altLang="en-US" sz="2400" dirty="0">
                <a:solidFill>
                  <a:srgbClr val="FF0000"/>
                </a:solidFill>
              </a:rPr>
              <a:t>：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对于</a:t>
            </a:r>
            <a:r>
              <a:rPr lang="en-US" altLang="zh-CN" sz="2400" dirty="0"/>
              <a:t>for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循环，跳过循环体其余语句，转向循环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变量增量表达式的计算；对于</a:t>
            </a:r>
            <a:r>
              <a:rPr lang="en-US" altLang="zh-CN" sz="2400" dirty="0"/>
              <a:t>while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2400" dirty="0"/>
              <a:t>do-while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循环，跳过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476250"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循环体其余语句，但转向循环继续条件的判定。</a:t>
            </a:r>
          </a:p>
          <a:p>
            <a:pPr marL="0" indent="476250" eaLnBrk="1" hangingPunct="1">
              <a:buNone/>
            </a:pPr>
            <a:endParaRPr lang="en-US" altLang="zh-CN" sz="2400" b="1" dirty="0"/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267F48-01F7-4CF3-86E2-4B83AE7D1B4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1510" name="灯片编号占位符 7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DD85A9-1DC2-4764-90D2-435E9EDCF24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930400"/>
            <a:ext cx="80645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3)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说明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能用于循环语句和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switch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语句中，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只能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用于循环语句中。</a:t>
            </a: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）循环嵌套时，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只影响包含它们的最内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层循环，与外层循环无关。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FEF1E0-4695-479D-A01E-62BD4E8EFEA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2533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92C39D-97D7-4FB8-BFCC-B5AAE307891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46</a:t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5FA5E3-B704-4E1A-8794-86DF1B4BE9B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24" y="1591230"/>
            <a:ext cx="748883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初始化循环控制变量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和累计器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sum*/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d"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continue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实现累加*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循环控制变量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1*/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"sum=%d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5320029"/>
            <a:ext cx="48196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6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5FA5E3-B704-4E1A-8794-86DF1B4BE9B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555750"/>
            <a:ext cx="73448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初始化循环控制变量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和累计器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sum*/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"%d"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continue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实现累加*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/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"sum=%d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87624" y="1093787"/>
            <a:ext cx="424815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3.6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循环结构程序设计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4621374"/>
            <a:ext cx="589597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68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722313" y="1916113"/>
            <a:ext cx="8051800" cy="4683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1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穷举与迭代算法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循环是计算机解题的一个重要特征。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在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循环算法中，穷举与迭代是两类具有代表性的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基本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算法。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1.a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穷举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穷举的基本思想是，对问题的所有可能状态一一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测试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直到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找到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解或将全部可能的状态都测试过为止。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90BB9B-8245-489F-B84E-5C1F942BC67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3558" name="灯片编号占位符 7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C3000F-48CE-4B37-8DB7-C87A629294C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49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684213" y="1635125"/>
            <a:ext cx="8351837" cy="46085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600" dirty="0"/>
              <a:t>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穷举法是一种重复型算法，</a:t>
            </a:r>
            <a:r>
              <a:rPr lang="zh-CN" altLang="en-US" sz="2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循环体的核心是一次测试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循环控制有两种办法，</a:t>
            </a:r>
            <a:r>
              <a:rPr lang="zh-CN" altLang="en-US" sz="2600" b="1" dirty="0">
                <a:solidFill>
                  <a:srgbClr val="FF0000"/>
                </a:solidFill>
              </a:rPr>
              <a:t>计数法和标志法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。计数法要先确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定循环次数，然后逐次测试，完成测试次数后，循环结束。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标志法是达到某一目标后，循环结束。</a:t>
            </a:r>
          </a:p>
          <a:p>
            <a:pPr eaLnBrk="1" hangingPunct="1">
              <a:buNone/>
            </a:pPr>
            <a:endParaRPr lang="zh-CN" altLang="en-US" sz="2600" dirty="0"/>
          </a:p>
          <a:p>
            <a:pPr eaLnBrk="1" hangingPunct="1">
              <a:buNone/>
            </a:pPr>
            <a:r>
              <a:rPr lang="zh-CN" altLang="en-US" sz="2600" dirty="0"/>
              <a:t>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如：百钱买百鸡问题使用的就是一个两重穷举算法，且两层循环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使用的都是计数法控制。</a:t>
            </a:r>
          </a:p>
          <a:p>
            <a:pPr eaLnBrk="1" hangingPunct="1">
              <a:buNone/>
            </a:pPr>
            <a:endParaRPr lang="zh-CN" altLang="en-US" sz="2600" dirty="0"/>
          </a:p>
          <a:p>
            <a:pPr eaLnBrk="1" hangingPunct="1">
              <a:buNone/>
            </a:pPr>
            <a:r>
              <a:rPr lang="en-US" altLang="zh-CN" sz="2600" dirty="0"/>
              <a:t>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计数控制法设置循环条件时要特别注意</a:t>
            </a:r>
            <a:r>
              <a:rPr lang="zh-CN" altLang="en-US" sz="2600" b="1" dirty="0">
                <a:solidFill>
                  <a:srgbClr val="FF0000"/>
                </a:solidFill>
              </a:rPr>
              <a:t>边界值</a:t>
            </a:r>
            <a:r>
              <a:rPr lang="en-US" altLang="zh-CN" sz="2600" b="1" dirty="0"/>
              <a:t>,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边界值设错不易发现。</a:t>
            </a:r>
          </a:p>
          <a:p>
            <a:pPr eaLnBrk="1" hangingPunct="1">
              <a:buNone/>
            </a:pPr>
            <a:endParaRPr lang="en-US" altLang="zh-CN" sz="2600" b="1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143421-9A69-4745-BBA0-0C07C84DC51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4581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FCF6B7-7B74-4190-AEED-49FE176C2EF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971600" y="2060848"/>
            <a:ext cx="7813675" cy="390239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2600" dirty="0"/>
          </a:p>
          <a:p>
            <a:pPr eaLnBrk="1" hangingPunct="1">
              <a:buNone/>
            </a:pPr>
            <a:r>
              <a:rPr lang="en-US" altLang="zh-CN" sz="2600" dirty="0"/>
              <a:t>int number=0;                          int number=0; </a:t>
            </a:r>
          </a:p>
          <a:p>
            <a:pPr eaLnBrk="1" hangingPunct="1">
              <a:buNone/>
            </a:pPr>
            <a:r>
              <a:rPr lang="en-US" altLang="zh-CN" sz="2600" dirty="0"/>
              <a:t>while(number&lt;=1)                  while(number&lt;=1)</a:t>
            </a:r>
          </a:p>
          <a:p>
            <a:pPr eaLnBrk="1" hangingPunct="1">
              <a:buNone/>
            </a:pPr>
            <a:r>
              <a:rPr lang="en-US" altLang="zh-CN" sz="2600" dirty="0"/>
              <a:t> {                                            {</a:t>
            </a:r>
          </a:p>
          <a:p>
            <a:pPr eaLnBrk="1" hangingPunct="1">
              <a:buNone/>
            </a:pPr>
            <a:r>
              <a:rPr lang="en-US" altLang="zh-CN" sz="2600" dirty="0"/>
              <a:t>   number++;                            ++number;</a:t>
            </a:r>
          </a:p>
          <a:p>
            <a:pPr eaLnBrk="1" hangingPunct="1">
              <a:buNone/>
            </a:pPr>
            <a:r>
              <a:rPr lang="en-US" altLang="zh-CN" sz="2600" dirty="0"/>
              <a:t>   printf("*%d\n",number);         printf("*%d\n",number);</a:t>
            </a:r>
          </a:p>
          <a:p>
            <a:pPr eaLnBrk="1" hangingPunct="1">
              <a:buNone/>
            </a:pPr>
            <a:r>
              <a:rPr lang="en-US" altLang="zh-CN" sz="2600" dirty="0"/>
              <a:t>  }                                            }</a:t>
            </a:r>
          </a:p>
          <a:p>
            <a:pPr eaLnBrk="1" hangingPunct="1">
              <a:buNone/>
            </a:pPr>
            <a:r>
              <a:rPr lang="en-US" altLang="zh-CN" sz="2600" dirty="0"/>
              <a:t>printf("**%d\n",number);        printf("**%d\n",number);</a:t>
            </a:r>
          </a:p>
          <a:p>
            <a:pPr eaLnBrk="1" hangingPunct="1">
              <a:buNone/>
            </a:pPr>
            <a:endParaRPr lang="en-US" altLang="zh-CN" sz="2600" dirty="0"/>
          </a:p>
          <a:p>
            <a:pPr eaLnBrk="1" hangingPunct="1">
              <a:buNone/>
            </a:pPr>
            <a:endParaRPr lang="en-US" altLang="zh-CN" sz="2600" dirty="0"/>
          </a:p>
          <a:p>
            <a:pPr eaLnBrk="1" hangingPunct="1">
              <a:buNone/>
            </a:pPr>
            <a:endParaRPr lang="en-US" altLang="zh-CN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6C0901-C662-4155-B64B-34A18646C31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560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D34DDD-3ADE-4112-865E-81CBEAD21A1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2060848"/>
            <a:ext cx="3897313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试分析下列程序段的结果：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827088" y="1844675"/>
            <a:ext cx="8062912" cy="38163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600" dirty="0"/>
              <a:t>*1</a:t>
            </a:r>
          </a:p>
          <a:p>
            <a:pPr eaLnBrk="1" hangingPunct="1">
              <a:buNone/>
            </a:pPr>
            <a:r>
              <a:rPr lang="en-US" altLang="zh-CN" sz="2600" dirty="0"/>
              <a:t>*2</a:t>
            </a:r>
          </a:p>
          <a:p>
            <a:pPr eaLnBrk="1" hangingPunct="1">
              <a:buNone/>
            </a:pPr>
            <a:r>
              <a:rPr lang="en-US" altLang="zh-CN" sz="2600" dirty="0"/>
              <a:t>**2</a:t>
            </a:r>
          </a:p>
          <a:p>
            <a:pPr eaLnBrk="1" hangingPunct="1">
              <a:buNone/>
            </a:pPr>
            <a:r>
              <a:rPr lang="en-US" altLang="zh-CN" sz="2600" dirty="0"/>
              <a:t>int number=0;                       int number=0;</a:t>
            </a:r>
          </a:p>
          <a:p>
            <a:pPr eaLnBrk="1" hangingPunct="1">
              <a:buNone/>
            </a:pPr>
            <a:r>
              <a:rPr lang="en-US" altLang="zh-CN" sz="2600" dirty="0"/>
              <a:t>while(number++&lt;=1)           while(++number&lt;=1)</a:t>
            </a:r>
          </a:p>
          <a:p>
            <a:pPr eaLnBrk="1" hangingPunct="1">
              <a:buNone/>
            </a:pPr>
            <a:r>
              <a:rPr lang="en-US" altLang="zh-CN" sz="2600" dirty="0"/>
              <a:t> printf("*%d\n",number);       printf("*%d\n",number);</a:t>
            </a:r>
          </a:p>
          <a:p>
            <a:pPr eaLnBrk="1" hangingPunct="1">
              <a:buNone/>
            </a:pPr>
            <a:r>
              <a:rPr lang="en-US" altLang="zh-CN" sz="2600" dirty="0"/>
              <a:t>printf("**%d\n",number);     printf("**%d\n",number);</a:t>
            </a:r>
          </a:p>
          <a:p>
            <a:pPr eaLnBrk="1" hangingPunct="1">
              <a:buNone/>
            </a:pPr>
            <a:endParaRPr lang="en-US" altLang="zh-CN" sz="2600" dirty="0"/>
          </a:p>
          <a:p>
            <a:pPr eaLnBrk="1" hangingPunct="1">
              <a:buNone/>
            </a:pPr>
            <a:endParaRPr lang="en-US" altLang="zh-CN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02A062-7DB6-4B8C-AFB4-740083AC5DA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6629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9C1B4F-3E73-4D66-BBD9-F2411F234B1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52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1192213" y="1700213"/>
            <a:ext cx="7772400" cy="46085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100" dirty="0"/>
              <a:t>*1                                         *1</a:t>
            </a:r>
          </a:p>
          <a:p>
            <a:pPr eaLnBrk="1" hangingPunct="1">
              <a:buNone/>
            </a:pPr>
            <a:r>
              <a:rPr lang="en-US" altLang="zh-CN" sz="2100" dirty="0"/>
              <a:t>*2                                         **2</a:t>
            </a:r>
          </a:p>
          <a:p>
            <a:pPr eaLnBrk="1" hangingPunct="1">
              <a:buNone/>
            </a:pPr>
            <a:r>
              <a:rPr lang="en-US" altLang="zh-CN" sz="2100" dirty="0"/>
              <a:t>**3</a:t>
            </a:r>
          </a:p>
          <a:p>
            <a:pPr eaLnBrk="1" hangingPunct="1"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标志控制法；</a:t>
            </a:r>
          </a:p>
          <a:p>
            <a:pPr eaLnBrk="1" hangingPunct="1">
              <a:buNone/>
            </a:pPr>
            <a:r>
              <a:rPr lang="en-US" altLang="zh-CN" sz="2400" dirty="0"/>
              <a:t>#include “stdio.h”</a:t>
            </a:r>
          </a:p>
          <a:p>
            <a:pPr eaLnBrk="1" hangingPunct="1">
              <a:buNone/>
            </a:pPr>
            <a:r>
              <a:rPr lang="en-US" altLang="zh-CN" sz="2400" dirty="0"/>
              <a:t>int main(){ </a:t>
            </a:r>
          </a:p>
          <a:p>
            <a:pPr eaLnBrk="1" hangingPunct="1">
              <a:buNone/>
            </a:pPr>
            <a:r>
              <a:rPr lang="en-US" altLang="zh-CN" sz="2400" dirty="0"/>
              <a:t>  char c;</a:t>
            </a:r>
          </a:p>
          <a:p>
            <a:pPr eaLnBrk="1" hangingPunct="1">
              <a:buNone/>
            </a:pPr>
            <a:r>
              <a:rPr lang="en-US" altLang="zh-CN" sz="2400" dirty="0"/>
              <a:t>  while ((c=getchar())!=EOF)</a:t>
            </a:r>
          </a:p>
          <a:p>
            <a:pPr eaLnBrk="1" hangingPunct="1">
              <a:buNone/>
            </a:pPr>
            <a:r>
              <a:rPr lang="en-US" altLang="zh-CN" sz="2400" dirty="0"/>
              <a:t>      putchar(c);</a:t>
            </a:r>
          </a:p>
          <a:p>
            <a:pPr eaLnBrk="1" hangingPunct="1">
              <a:buNone/>
            </a:pPr>
            <a:r>
              <a:rPr lang="en-US" altLang="zh-CN" sz="2400" dirty="0"/>
              <a:t>   return 0;</a:t>
            </a:r>
          </a:p>
          <a:p>
            <a:pPr eaLnBrk="1" hangingPunct="1">
              <a:buNone/>
            </a:pPr>
            <a:r>
              <a:rPr lang="en-US" altLang="zh-CN" sz="2400" dirty="0"/>
              <a:t> }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543A8-1182-4101-AA9B-FECF08FF4C5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7653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974A8B-53BA-4058-B225-3E9E11B0789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785813" y="1628775"/>
            <a:ext cx="7772400" cy="47529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程序中</a:t>
            </a:r>
            <a:r>
              <a:rPr lang="zh-CN" altLang="en-US" sz="2600" dirty="0"/>
              <a:t>“</a:t>
            </a:r>
            <a:r>
              <a:rPr lang="en-US" altLang="zh-CN" sz="2600" dirty="0"/>
              <a:t>EOF”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是符号常量，称为结束标志，在头文件</a:t>
            </a:r>
            <a:r>
              <a:rPr lang="en-US" altLang="zh-CN" sz="2600" dirty="0"/>
              <a:t>stdio.h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定义。当从键盘输入</a:t>
            </a:r>
            <a:r>
              <a:rPr lang="en-US" altLang="zh-CN" sz="2600" dirty="0"/>
              <a:t>^z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或遇到文件结束标记），</a:t>
            </a:r>
            <a:r>
              <a:rPr lang="en-US" altLang="zh-CN" sz="2600" dirty="0"/>
              <a:t>c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的值得到－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等于</a:t>
            </a:r>
            <a:r>
              <a:rPr lang="en-US" altLang="zh-CN" sz="2600" dirty="0"/>
              <a:t>EOF</a:t>
            </a:r>
            <a:r>
              <a:rPr lang="zh-CN" altLang="en-US" sz="2600" dirty="0"/>
              <a:t>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运行结果：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600" dirty="0"/>
              <a:t> </a:t>
            </a:r>
            <a:r>
              <a:rPr lang="en-US" altLang="zh-CN" sz="2600" dirty="0"/>
              <a:t>a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 a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 c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 c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 ^z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 the end.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FF0000"/>
                </a:solidFill>
              </a:rPr>
              <a:t>思考：看到这样的结果，循环了几次？</a:t>
            </a: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600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600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7AF2AF-765E-40F3-A128-34E6D21ED40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8677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A3DD65-25B2-4486-82C8-A629FA6A0F1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CAFD18-9D61-404C-9F37-41ED6B63BEF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9701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E98DF0-9B72-4720-BE8F-C7DC9737290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5650" y="1844675"/>
            <a:ext cx="5976938" cy="492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注意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    字符型变量输入时的回车问题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.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95536" y="2264447"/>
            <a:ext cx="7843838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3.27]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用穷举法解决简单推理问题。有四位同学中的一位做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了好事，未留名，表扬信来了之后，校长问这四位是谁做的好事。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说：不是我。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B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说：是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说：是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说：他胡说。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已知三个人说的是真话，一个人说的是假话。现根据这些信息，找出做了好事的人。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程序算法：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）用关系表达式描述四人所说的话；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）从第一个人开始假设该人是做好事者，然后代到每句话中去测试看有几句是真话。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762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18FBDF-F4E0-4E2A-BA34-AC9D730327A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F2B657-8F9B-4ED8-8165-C513C82DAA2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56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  <p:sp>
        <p:nvSpPr>
          <p:cNvPr id="2" name="矩形 1"/>
          <p:cNvSpPr/>
          <p:nvPr/>
        </p:nvSpPr>
        <p:spPr>
          <a:xfrm>
            <a:off x="1259632" y="1664574"/>
            <a:ext cx="747057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theone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theone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theone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!=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)+(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theone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'C'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theone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'D'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)+(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theone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!=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'D'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"This man is %c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theone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break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"No found!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2C2464-43BC-4BAC-85D2-011FAB73D5A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9F603A-B58A-4841-BDE8-F8F98B82605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方正姚体" panose="02010601030101010101" pitchFamily="2" charset="-122"/>
                <a:cs typeface="+mn-cs"/>
              </a:rPr>
              <a:t>57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27088" y="1844675"/>
            <a:ext cx="7772400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1.b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迭代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迭代：是一个不断用新值取代变量的旧值，或者由旧值推出变量的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  新值的过程。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例：现有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12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亿人口，按年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％的增长速度，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10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年后将是多少人？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设现有人口为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m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，则第一年后的人口为：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m=m*(1+2%)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第二年后的人口数即把上式再执行一边。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。。。。。。。。。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706438" y="1916113"/>
            <a:ext cx="7772400" cy="39608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因此十年后的人口数即将上式执行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遍。循环。循环体是一个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从变量的旧值出发，计算它的新值的过程。</a:t>
            </a:r>
          </a:p>
          <a:p>
            <a:pPr eaLnBrk="1" hangingPunct="1">
              <a:buNone/>
            </a:pPr>
            <a:endParaRPr lang="en-US" altLang="zh-CN" sz="2600" dirty="0"/>
          </a:p>
          <a:p>
            <a:pPr eaLnBrk="1" hangingPunct="1">
              <a:buNone/>
            </a:pPr>
            <a:r>
              <a:rPr lang="zh-CN" altLang="en-US" sz="2600" dirty="0"/>
              <a:t>迭代的三要素：</a:t>
            </a:r>
          </a:p>
          <a:p>
            <a:pPr eaLnBrk="1" hangingPunct="1"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1.</a:t>
            </a:r>
            <a:r>
              <a:rPr lang="zh-CN" altLang="en-US" sz="2600" b="1" dirty="0">
                <a:solidFill>
                  <a:srgbClr val="FF0000"/>
                </a:solidFill>
              </a:rPr>
              <a:t>初值</a:t>
            </a:r>
          </a:p>
          <a:p>
            <a:pPr eaLnBrk="1" hangingPunct="1"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2.</a:t>
            </a:r>
            <a:r>
              <a:rPr lang="zh-CN" altLang="en-US" sz="2600" b="1" dirty="0">
                <a:solidFill>
                  <a:srgbClr val="FF0000"/>
                </a:solidFill>
              </a:rPr>
              <a:t>迭代公式</a:t>
            </a:r>
          </a:p>
          <a:p>
            <a:pPr eaLnBrk="1" hangingPunct="1"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3.</a:t>
            </a:r>
            <a:r>
              <a:rPr lang="zh-CN" altLang="en-US" sz="2600" b="1" dirty="0">
                <a:solidFill>
                  <a:srgbClr val="FF0000"/>
                </a:solidFill>
              </a:rPr>
              <a:t>迭代次数</a:t>
            </a:r>
          </a:p>
          <a:p>
            <a:pPr eaLnBrk="1" hangingPunct="1">
              <a:buNone/>
            </a:pPr>
            <a:endParaRPr lang="zh-CN" altLang="en-US" sz="2600" dirty="0"/>
          </a:p>
          <a:p>
            <a:pPr eaLnBrk="1" hangingPunct="1">
              <a:buNone/>
            </a:pPr>
            <a:endParaRPr lang="zh-CN" altLang="en-US" sz="2600" dirty="0"/>
          </a:p>
          <a:p>
            <a:pPr eaLnBrk="1" hangingPunct="1">
              <a:buNone/>
            </a:pPr>
            <a:endParaRPr lang="en-US" altLang="zh-CN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3FF39D-FE61-4091-8E3F-6A299DF52EE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072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CEF880-F381-435D-B16D-E000237F72A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58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323528" y="1988840"/>
            <a:ext cx="8153400" cy="4392612"/>
          </a:xfrm>
        </p:spPr>
        <p:txBody>
          <a:bodyPr vert="horz" wrap="square" lIns="91440" tIns="45720" rIns="91440" bIns="45720" anchor="t" anchorCtr="0"/>
          <a:lstStyle/>
          <a:p>
            <a:pPr marL="0" indent="374650" eaLnBrk="1" hangingPunct="1">
              <a:buNone/>
            </a:pPr>
            <a:endParaRPr lang="en-US" altLang="zh-CN" sz="2600" dirty="0"/>
          </a:p>
          <a:p>
            <a:pPr marL="0" indent="374650"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算法设计，此数列从第三个数开始都是前两个相邻数之和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参考书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374650"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P107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4.17)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。可将算法描述为：</a:t>
            </a:r>
          </a:p>
          <a:p>
            <a:pPr marL="0" indent="374650" eaLnBrk="1" hangingPunct="1">
              <a:buNone/>
            </a:pPr>
            <a:r>
              <a:rPr lang="zh-CN" altLang="en-US" sz="2600" dirty="0"/>
              <a:t> </a:t>
            </a:r>
            <a:r>
              <a:rPr lang="en-US" altLang="zh-CN" sz="2600" dirty="0"/>
              <a:t>f1=1,f2=1                                          (1)</a:t>
            </a:r>
          </a:p>
          <a:p>
            <a:pPr marL="0" indent="374650" eaLnBrk="1" hangingPunct="1">
              <a:buNone/>
            </a:pPr>
            <a:r>
              <a:rPr lang="en-US" altLang="zh-CN" sz="2600" dirty="0"/>
              <a:t> fn=fn-1+fn-2     (n&gt;=3)                     (2)</a:t>
            </a:r>
          </a:p>
          <a:p>
            <a:pPr marL="0" indent="374650"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则式一为初值</a:t>
            </a:r>
          </a:p>
          <a:p>
            <a:pPr marL="0" indent="374650"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式二为迭代公式</a:t>
            </a:r>
          </a:p>
          <a:p>
            <a:pPr marL="0" indent="374650"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迭代次数由题目要求</a:t>
            </a:r>
          </a:p>
          <a:p>
            <a:pPr marL="0" indent="374650" eaLnBrk="1" hangingPunct="1">
              <a:buNone/>
            </a:pPr>
            <a:endParaRPr lang="zh-CN" altLang="en-US" sz="2600" dirty="0"/>
          </a:p>
          <a:p>
            <a:pPr marL="0" indent="374650" eaLnBrk="1" hangingPunct="1">
              <a:buNone/>
            </a:pPr>
            <a:r>
              <a:rPr lang="zh-CN" altLang="en-US" sz="2600" dirty="0"/>
              <a:t> </a:t>
            </a:r>
            <a:br>
              <a:rPr lang="zh-CN" altLang="en-US" sz="2600" dirty="0"/>
            </a:br>
            <a:r>
              <a:rPr lang="zh-CN" altLang="en-US" sz="2600" dirty="0"/>
              <a:t>     			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F5F10A-8EEA-4521-9639-FFED30B07D1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1749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505E0E-5F03-4A4A-8F9B-2F2409100E8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59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7544" y="1742777"/>
            <a:ext cx="6335713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3746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3.28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]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Fibonacci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数列的前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40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个数。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2988" y="1773238"/>
            <a:ext cx="7842250" cy="3816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能用解析表达式精确的描述出解的一元方程非常有限，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一元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五次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以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上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的方程找不出根的解析表达式，在这种情况下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，不得不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寻求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一些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近似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的解法。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我们可以用迭代法使方程的根不断地精确化，用迭代法求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一元方程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f(x)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＝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的解，就是要把方程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f(x)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＝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改写为一种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迭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代形式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x=</a:t>
            </a:r>
            <a:r>
              <a:rPr kumimoji="0" lang="el-GR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φ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(x)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72D944-884B-4F6C-A67F-BE2BB85C5C0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2773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4920DE-0843-4BBE-8370-A55A939D98A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60</a:t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5616" y="1700808"/>
            <a:ext cx="2954338" cy="423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一元方程的迭代解法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Grp="1"/>
          </p:cNvSpPr>
          <p:nvPr>
            <p:ph type="body" sz="half" idx="1"/>
          </p:nvPr>
        </p:nvSpPr>
        <p:spPr>
          <a:xfrm>
            <a:off x="827584" y="2204864"/>
            <a:ext cx="7705725" cy="31194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选取恰当的初值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（粗略的解），便可以通过重复迭代构造出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一个序列：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0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,x</a:t>
            </a:r>
            <a:r>
              <a:rPr lang="en-US" altLang="zh-CN" sz="1000" dirty="0"/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,x</a:t>
            </a:r>
            <a:r>
              <a:rPr lang="en-US" altLang="zh-CN" sz="1000" dirty="0"/>
              <a:t>2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,……,x</a:t>
            </a:r>
            <a:r>
              <a:rPr lang="en-US" altLang="zh-CN" sz="1000" dirty="0"/>
              <a:t>n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,……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若这个数列收敛，即存在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极限，且函数连续（在所求解的区间），得到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x=     x</a:t>
            </a:r>
            <a:r>
              <a:rPr lang="en-US" altLang="zh-CN" sz="1000" dirty="0"/>
              <a:t>i</a:t>
            </a:r>
            <a:r>
              <a:rPr lang="en-US" altLang="zh-CN" sz="2400" dirty="0">
                <a:cs typeface="Times New Roman" panose="02020603050405020304" pitchFamily="18" charset="0"/>
              </a:rPr>
              <a:t>  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这个极限就是方程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f(x)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＝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的一个解。</a:t>
            </a: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200" dirty="0">
                <a:cs typeface="Times New Roman" panose="02020603050405020304" pitchFamily="18" charset="0"/>
              </a:rPr>
              <a:t> </a:t>
            </a:r>
            <a:endParaRPr lang="zh-CN" altLang="el-GR" sz="22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rgbClr val="CC9900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重复的次数可由指定的精确度（误差）来决定，一般可采用当前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Clr>
                <a:srgbClr val="CC9900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近似解与上次近似解之差作为相对误差来进行判断。</a:t>
            </a:r>
          </a:p>
          <a:p>
            <a:pPr eaLnBrk="1" hangingPunct="1">
              <a:lnSpc>
                <a:spcPct val="90000"/>
              </a:lnSpc>
              <a:buClr>
                <a:srgbClr val="CC9900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解一元方程的迭代方法很多。</a:t>
            </a:r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200" dirty="0"/>
          </a:p>
        </p:txBody>
      </p:sp>
      <p:graphicFrame>
        <p:nvGraphicFramePr>
          <p:cNvPr id="102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006370"/>
              </p:ext>
            </p:extLst>
          </p:nvPr>
        </p:nvGraphicFramePr>
        <p:xfrm>
          <a:off x="1283196" y="3212927"/>
          <a:ext cx="3857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r:id="rId3" imgW="254000" imgH="279400" progId="Equation.3">
                  <p:embed/>
                </p:oleObj>
              </mc:Choice>
              <mc:Fallback>
                <p:oleObj r:id="rId3" imgW="254000" imgH="279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3196" y="3212927"/>
                        <a:ext cx="385763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7"/>
          <p:cNvSpPr txBox="1">
            <a:spLocks noGrp="1"/>
          </p:cNvSpPr>
          <p:nvPr>
            <p:ph type="dt" sz="half" idx="1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F6F619-5E18-42DA-A9EF-50008E4ECA3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3798" name="灯片编号占位符 9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CBA4-841C-482C-ABE5-55D557AEB29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757238" y="2569571"/>
            <a:ext cx="7631112" cy="367240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基本思想：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60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先取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f(x)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＝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的两个粗略解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x1,x2,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若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f(x</a:t>
            </a:r>
            <a:r>
              <a:rPr lang="en-US" altLang="zh-CN" sz="1000" dirty="0"/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与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f(x</a:t>
            </a:r>
            <a:r>
              <a:rPr lang="en-US" altLang="zh-CN" sz="1000" dirty="0"/>
              <a:t>2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符号相反，则方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程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f(x)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＝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在区间（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,x</a:t>
            </a:r>
            <a:r>
              <a:rPr lang="en-US" altLang="zh-CN" sz="1000" dirty="0"/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）中至少有一个根，若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f(x)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在（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,x</a:t>
            </a:r>
            <a:r>
              <a:rPr lang="en-US" altLang="zh-CN" sz="1000" dirty="0"/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内严格单调，则（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,x</a:t>
            </a:r>
            <a:r>
              <a:rPr lang="en-US" altLang="zh-CN" sz="1000" dirty="0"/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）中有一个实根。取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3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+x</a:t>
            </a:r>
            <a:r>
              <a:rPr lang="en-US" altLang="zh-CN" sz="1000" dirty="0"/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）*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0.5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并在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与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中舍弃函数值与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f(x</a:t>
            </a:r>
            <a:r>
              <a:rPr lang="en-US" altLang="zh-CN" sz="1000" dirty="0"/>
              <a:t>3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同号者，则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与剩下的一个粗略解组成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一个新的含根小区间。如此重复便可以构造出一个序列：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,x</a:t>
            </a:r>
            <a:r>
              <a:rPr lang="en-US" altLang="zh-CN" sz="1000" dirty="0"/>
              <a:t>2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,x</a:t>
            </a:r>
            <a:r>
              <a:rPr lang="en-US" altLang="zh-CN" sz="1000" dirty="0"/>
              <a:t>3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,……,x</a:t>
            </a:r>
            <a:r>
              <a:rPr lang="en-US" altLang="zh-CN" sz="1000" dirty="0"/>
              <a:t>n</a:t>
            </a:r>
            <a:r>
              <a:rPr lang="zh-CN" altLang="en-US" sz="1000" dirty="0"/>
              <a:t>－</a:t>
            </a:r>
            <a:r>
              <a:rPr lang="en-US" altLang="zh-CN" sz="1000" dirty="0"/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, x</a:t>
            </a:r>
            <a:r>
              <a:rPr lang="en-US" altLang="zh-CN" sz="1000" dirty="0"/>
              <a:t>n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…..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当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n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与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n</a:t>
            </a:r>
            <a:r>
              <a:rPr lang="zh-CN" altLang="en-US" sz="1000" dirty="0"/>
              <a:t>－</a:t>
            </a:r>
            <a:r>
              <a:rPr lang="en-US" altLang="zh-CN" sz="1000" dirty="0"/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之差小于给定误差时， 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en-US" altLang="zh-CN" sz="1000" dirty="0"/>
              <a:t>n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便是所求的近似解。</a:t>
            </a: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06C454-CEC4-4B27-87B6-C5650AFB9CC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4821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61C9F6-4A57-4FB0-8C92-D941D52B23D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62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0201" y="1988840"/>
            <a:ext cx="2101850" cy="450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1.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二分迭代法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844824"/>
            <a:ext cx="8229600" cy="3600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2.</a:t>
            </a:r>
            <a:r>
              <a:rPr kumimoji="0" lang="zh-CN" altLang="en-US" sz="2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牛顿迭代法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比一般的迭代法有更高的收敛速度，其基本思想：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设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US" altLang="zh-CN" sz="105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是方程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f(x)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＝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的精确解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x*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附近的一个猜测解，过点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f(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作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f(x)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的切线。该切线方程：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y=f(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)+f ’(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·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x-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442AD1-D385-4339-96DF-CDB24E15520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584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63E60C-6009-4C12-84C3-F124B85B99D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827088" y="2060575"/>
            <a:ext cx="7772400" cy="38893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600" dirty="0"/>
              <a:t>它与</a:t>
            </a:r>
            <a:r>
              <a:rPr lang="en-US" altLang="zh-CN" sz="2600" dirty="0"/>
              <a:t>X</a:t>
            </a:r>
            <a:r>
              <a:rPr lang="zh-CN" altLang="en-US" sz="2600" dirty="0"/>
              <a:t>轴的交点为方程：</a:t>
            </a:r>
          </a:p>
          <a:p>
            <a:pPr eaLnBrk="1" hangingPunct="1">
              <a:buNone/>
            </a:pPr>
            <a:r>
              <a:rPr lang="en-US" altLang="zh-CN" dirty="0"/>
              <a:t>f(x</a:t>
            </a:r>
            <a:r>
              <a:rPr lang="en-US" altLang="zh-CN" sz="1300" dirty="0"/>
              <a:t>k</a:t>
            </a:r>
            <a:r>
              <a:rPr lang="en-US" altLang="zh-CN" dirty="0"/>
              <a:t>)+f ’(x</a:t>
            </a:r>
            <a:r>
              <a:rPr lang="en-US" altLang="zh-CN" sz="1300" dirty="0"/>
              <a:t>k</a:t>
            </a:r>
            <a:r>
              <a:rPr lang="en-US" altLang="zh-CN" dirty="0"/>
              <a:t>)</a:t>
            </a:r>
            <a:r>
              <a:rPr lang="en-US" altLang="zh-CN" dirty="0">
                <a:cs typeface="Times New Roman" panose="02020603050405020304" pitchFamily="18" charset="0"/>
              </a:rPr>
              <a:t>·</a:t>
            </a:r>
            <a:r>
              <a:rPr lang="zh-CN" altLang="en-US" dirty="0"/>
              <a:t>（</a:t>
            </a:r>
            <a:r>
              <a:rPr lang="en-US" altLang="zh-CN" dirty="0"/>
              <a:t>x-x</a:t>
            </a:r>
            <a:r>
              <a:rPr lang="en-US" altLang="zh-CN" sz="1300" dirty="0"/>
              <a:t>k</a:t>
            </a:r>
            <a:r>
              <a:rPr lang="zh-CN" altLang="en-US" dirty="0"/>
              <a:t>）＝</a:t>
            </a:r>
            <a:r>
              <a:rPr lang="en-US" altLang="zh-CN" dirty="0"/>
              <a:t>0</a:t>
            </a:r>
          </a:p>
          <a:p>
            <a:pPr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解为：</a:t>
            </a:r>
          </a:p>
          <a:p>
            <a:pPr eaLnBrk="1" hangingPunct="1">
              <a:buNone/>
            </a:pPr>
            <a:r>
              <a:rPr lang="zh-CN" altLang="en-US" dirty="0"/>
              <a:t>  </a:t>
            </a:r>
            <a:r>
              <a:rPr lang="en-US" altLang="zh-CN" dirty="0"/>
              <a:t>x</a:t>
            </a:r>
            <a:r>
              <a:rPr lang="en-US" altLang="zh-CN" sz="1300" dirty="0"/>
              <a:t>k</a:t>
            </a:r>
            <a:r>
              <a:rPr lang="zh-CN" altLang="en-US" sz="1300" dirty="0"/>
              <a:t>＋</a:t>
            </a:r>
            <a:r>
              <a:rPr lang="en-US" altLang="zh-CN" sz="1300" dirty="0"/>
              <a:t>1</a:t>
            </a:r>
            <a:r>
              <a:rPr lang="en-US" altLang="zh-CN" sz="2600" dirty="0"/>
              <a:t>= </a:t>
            </a:r>
            <a:r>
              <a:rPr lang="en-US" altLang="zh-CN" dirty="0"/>
              <a:t>x</a:t>
            </a:r>
            <a:r>
              <a:rPr lang="en-US" altLang="zh-CN" sz="1300" dirty="0"/>
              <a:t>k</a:t>
            </a:r>
            <a:r>
              <a:rPr lang="en-US" altLang="zh-CN" sz="2600" dirty="0"/>
              <a:t>- </a:t>
            </a:r>
            <a:r>
              <a:rPr lang="en-US" altLang="zh-CN" dirty="0"/>
              <a:t>f(x</a:t>
            </a:r>
            <a:r>
              <a:rPr lang="en-US" altLang="zh-CN" sz="1300" dirty="0"/>
              <a:t>k</a:t>
            </a:r>
            <a:r>
              <a:rPr lang="en-US" altLang="zh-CN" dirty="0"/>
              <a:t>)/ f ’(x</a:t>
            </a:r>
            <a:r>
              <a:rPr lang="en-US" altLang="zh-CN" sz="1300" dirty="0"/>
              <a:t>k</a:t>
            </a:r>
            <a:r>
              <a:rPr lang="en-US" altLang="zh-CN" dirty="0"/>
              <a:t>)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即为牛顿迭代法的迭代公式。经过有限次迭代后，便可以求得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符合误差要求的近似根。</a:t>
            </a:r>
          </a:p>
          <a:p>
            <a:pPr eaLnBrk="1" hangingPunct="1">
              <a:buNone/>
            </a:pPr>
            <a:endParaRPr lang="zh-CN" altLang="en-US" sz="2800" dirty="0"/>
          </a:p>
          <a:p>
            <a:pPr eaLnBrk="1" hangingPunct="1">
              <a:buNone/>
            </a:pPr>
            <a:endParaRPr lang="zh-CN" altLang="en-US" sz="2600" dirty="0"/>
          </a:p>
          <a:p>
            <a:pPr eaLnBrk="1" hangingPunct="1">
              <a:buNone/>
            </a:pPr>
            <a:r>
              <a:rPr lang="zh-CN" altLang="en-US" sz="2600" dirty="0"/>
              <a:t>     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FB89DF-79A3-44D2-9C5C-413E24900C1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6869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A1D751-DB76-4B99-8C22-18A14966A02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683568" y="2636912"/>
            <a:ext cx="7772400" cy="308704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600" dirty="0"/>
              <a:t>  </a:t>
            </a:r>
            <a:r>
              <a:rPr lang="zh-CN" altLang="en-US" sz="2600" b="1" dirty="0">
                <a:solidFill>
                  <a:srgbClr val="FF0000"/>
                </a:solidFill>
              </a:rPr>
              <a:t>欧几里德算法：</a:t>
            </a:r>
          </a:p>
          <a:p>
            <a:pPr eaLnBrk="1" hangingPunct="1">
              <a:buNone/>
            </a:pPr>
            <a:r>
              <a:rPr lang="zh-CN" altLang="en-US" sz="2600" dirty="0"/>
              <a:t>  </a:t>
            </a:r>
            <a:endParaRPr lang="en-US" altLang="zh-CN" sz="2600" dirty="0"/>
          </a:p>
          <a:p>
            <a:pPr eaLnBrk="1" hangingPunct="1">
              <a:buNone/>
            </a:pPr>
            <a:r>
              <a:rPr lang="en-US" altLang="zh-CN" sz="2600" dirty="0"/>
              <a:t> 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求两个非负整数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最大公因子可用辗转相除法，算法描述为：</a:t>
            </a:r>
            <a:endParaRPr lang="en-US" altLang="zh-CN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当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不为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时，辗转用操作：</a:t>
            </a:r>
          </a:p>
          <a:p>
            <a:pPr eaLnBrk="1" hangingPunct="1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   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r=u%v, u=v,v=r</a:t>
            </a:r>
          </a:p>
          <a:p>
            <a:pPr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消去相同的因子。直到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为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时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u </a:t>
            </a:r>
            <a:r>
              <a:rPr lang="zh-CN" altLang="en-US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的值就是所求的解</a:t>
            </a:r>
            <a:r>
              <a:rPr lang="en-US" altLang="zh-CN" sz="20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  <a:endParaRPr lang="zh-CN" altLang="en-US" sz="20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C148F2C-D224-416D-A4A5-69BED96942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7893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4FCB96-B69C-4F52-8002-5510C1A4FEE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1844824"/>
            <a:ext cx="6120680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循环结构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注释</a:t>
            </a:r>
            <a:endParaRPr kumimoji="0" lang="zh-CN" altLang="en-US" sz="29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j-cs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611560" y="2420888"/>
            <a:ext cx="8118475" cy="3744416"/>
          </a:xfrm>
        </p:spPr>
        <p:txBody>
          <a:bodyPr vert="horz" wrap="square" lIns="91440" tIns="45720" rIns="91440" bIns="45720" anchor="t" anchorCtr="0"/>
          <a:lstStyle/>
          <a:p>
            <a:pPr marL="0" indent="663575" eaLnBrk="1" hangingPunct="1">
              <a:buNone/>
            </a:pPr>
            <a:r>
              <a:rPr lang="zh-CN" altLang="en-US" sz="2100" dirty="0"/>
              <a:t>在</a:t>
            </a:r>
            <a:r>
              <a:rPr lang="en-US" altLang="zh-CN" sz="2100" dirty="0"/>
              <a:t>C</a:t>
            </a:r>
            <a:r>
              <a:rPr lang="zh-CN" altLang="en-US" sz="2100" dirty="0"/>
              <a:t>语言中，循环结构由循环语句</a:t>
            </a:r>
            <a:r>
              <a:rPr lang="en-US" altLang="zh-CN" sz="2100" dirty="0"/>
              <a:t>for</a:t>
            </a:r>
            <a:r>
              <a:rPr lang="zh-CN" altLang="en-US" sz="2100" dirty="0"/>
              <a:t>、</a:t>
            </a:r>
            <a:r>
              <a:rPr lang="en-US" altLang="zh-CN" sz="2100" dirty="0"/>
              <a:t>while</a:t>
            </a:r>
            <a:r>
              <a:rPr lang="zh-CN" altLang="en-US" sz="2100" dirty="0"/>
              <a:t>和</a:t>
            </a:r>
            <a:r>
              <a:rPr lang="en-US" altLang="zh-CN" sz="2100" dirty="0"/>
              <a:t>do...while</a:t>
            </a:r>
            <a:r>
              <a:rPr lang="zh-CN" altLang="en-US" sz="2100" dirty="0"/>
              <a:t>来实现。</a:t>
            </a:r>
          </a:p>
          <a:p>
            <a:pPr marL="0" indent="663575" eaLnBrk="1" hangingPunct="1">
              <a:buNone/>
            </a:pPr>
            <a:r>
              <a:rPr lang="zh-CN" altLang="en-US" sz="2100" dirty="0"/>
              <a:t>作为注释，应在它们的前面说明其功能，在循环条件判断语句行的后面，说明循环继续条件的含义，如下所示。</a:t>
            </a:r>
            <a:br>
              <a:rPr lang="zh-CN" altLang="en-US" sz="2100" dirty="0"/>
            </a:br>
            <a:r>
              <a:rPr lang="zh-CN" altLang="en-US" sz="2100" dirty="0"/>
              <a:t>        </a:t>
            </a:r>
            <a:r>
              <a:rPr lang="en-US" altLang="zh-CN" sz="2100" dirty="0"/>
              <a:t>1</a:t>
            </a:r>
            <a:r>
              <a:rPr lang="zh-CN" altLang="en-US" sz="2100" dirty="0"/>
              <a:t>）</a:t>
            </a:r>
            <a:r>
              <a:rPr lang="en-US" altLang="zh-CN" sz="2100" dirty="0"/>
              <a:t>for</a:t>
            </a:r>
            <a:r>
              <a:rPr lang="zh-CN" altLang="en-US" sz="2100" dirty="0"/>
              <a:t>语句</a:t>
            </a:r>
          </a:p>
          <a:p>
            <a:pPr marL="0" indent="663575" eaLnBrk="1" hangingPunct="1">
              <a:buNone/>
            </a:pPr>
            <a:r>
              <a:rPr lang="en-US" altLang="zh-CN" sz="2100" i="1" dirty="0">
                <a:solidFill>
                  <a:srgbClr val="0070C0"/>
                </a:solidFill>
              </a:rPr>
              <a:t>/*</a:t>
            </a:r>
            <a:r>
              <a:rPr lang="zh-CN" altLang="en-US" sz="2100" i="1" dirty="0">
                <a:solidFill>
                  <a:srgbClr val="0070C0"/>
                </a:solidFill>
              </a:rPr>
              <a:t>功能*</a:t>
            </a:r>
            <a:r>
              <a:rPr lang="en-US" altLang="zh-CN" sz="2100" i="1" dirty="0">
                <a:solidFill>
                  <a:srgbClr val="0070C0"/>
                </a:solidFill>
              </a:rPr>
              <a:t>/</a:t>
            </a:r>
          </a:p>
          <a:p>
            <a:pPr marL="0" indent="663575" eaLnBrk="1" hangingPunct="1">
              <a:buNone/>
            </a:pPr>
            <a:r>
              <a:rPr lang="en-US" altLang="zh-CN" sz="2100" dirty="0"/>
              <a:t>for(</a:t>
            </a:r>
            <a:r>
              <a:rPr lang="zh-CN" altLang="en-US" sz="2100" dirty="0"/>
              <a:t>变量初始化</a:t>
            </a:r>
            <a:r>
              <a:rPr lang="en-US" altLang="zh-CN" sz="2100" dirty="0"/>
              <a:t>;</a:t>
            </a:r>
            <a:r>
              <a:rPr lang="zh-CN" altLang="en-US" sz="2100" dirty="0"/>
              <a:t>循环条件</a:t>
            </a:r>
            <a:r>
              <a:rPr lang="en-US" altLang="zh-CN" sz="2100" dirty="0"/>
              <a:t>;</a:t>
            </a:r>
            <a:r>
              <a:rPr lang="zh-CN" altLang="en-US" sz="2100" dirty="0"/>
              <a:t>变量增值</a:t>
            </a:r>
            <a:r>
              <a:rPr lang="en-US" altLang="zh-CN" sz="2100" dirty="0"/>
              <a:t>) </a:t>
            </a:r>
            <a:r>
              <a:rPr lang="en-US" altLang="zh-CN" sz="2100" i="1" dirty="0">
                <a:solidFill>
                  <a:srgbClr val="0070C0"/>
                </a:solidFill>
              </a:rPr>
              <a:t>/*</a:t>
            </a:r>
            <a:r>
              <a:rPr lang="zh-CN" altLang="en-US" sz="2100" i="1" dirty="0">
                <a:solidFill>
                  <a:srgbClr val="0070C0"/>
                </a:solidFill>
              </a:rPr>
              <a:t>循环继续条件的含义*</a:t>
            </a:r>
            <a:r>
              <a:rPr lang="en-US" altLang="zh-CN" sz="2100" i="1" dirty="0">
                <a:solidFill>
                  <a:srgbClr val="0070C0"/>
                </a:solidFill>
              </a:rPr>
              <a:t>/</a:t>
            </a:r>
          </a:p>
          <a:p>
            <a:pPr marL="0" indent="663575" eaLnBrk="1" hangingPunct="1">
              <a:buNone/>
            </a:pPr>
            <a:r>
              <a:rPr lang="en-US" altLang="zh-CN" sz="2100" dirty="0"/>
              <a:t>    {  ……    }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45544A-D3C4-4B2D-827B-A4B3DE34ED9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8918" name="灯片编号占位符 7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028062-DEAD-4BA8-8508-084B58F8B07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116013" y="1052735"/>
            <a:ext cx="4320083" cy="5141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3.7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循环型程序设计举例</a:t>
            </a:r>
            <a:endParaRPr lang="zh-CN" altLang="en-US" sz="2400" b="1" kern="0" dirty="0">
              <a:solidFill>
                <a:schemeClr val="tx2">
                  <a:lumMod val="7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779463" y="1628775"/>
            <a:ext cx="7772400" cy="4679950"/>
          </a:xfrm>
        </p:spPr>
        <p:txBody>
          <a:bodyPr vert="horz" wrap="square" lIns="91440" tIns="45720" rIns="91440" bIns="45720" anchor="t" anchorCtr="0"/>
          <a:lstStyle/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/>
              <a:t>）</a:t>
            </a:r>
            <a:r>
              <a:rPr lang="en-US" altLang="zh-CN" sz="2600" dirty="0"/>
              <a:t>while</a:t>
            </a:r>
            <a:r>
              <a:rPr lang="zh-CN" altLang="en-US" sz="2600" dirty="0"/>
              <a:t>语句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600" i="1" dirty="0">
                <a:solidFill>
                  <a:srgbClr val="0070C0"/>
                </a:solidFill>
              </a:rPr>
              <a:t>/*</a:t>
            </a:r>
            <a:r>
              <a:rPr lang="zh-CN" altLang="en-US" sz="2600" i="1" dirty="0">
                <a:solidFill>
                  <a:srgbClr val="0070C0"/>
                </a:solidFill>
              </a:rPr>
              <a:t>功能说明*</a:t>
            </a:r>
            <a:r>
              <a:rPr lang="en-US" altLang="zh-CN" sz="2600" i="1" dirty="0">
                <a:solidFill>
                  <a:srgbClr val="0070C0"/>
                </a:solidFill>
              </a:rPr>
              <a:t>/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600" dirty="0"/>
              <a:t>while(</a:t>
            </a:r>
            <a:r>
              <a:rPr lang="zh-CN" altLang="en-US" sz="2600" dirty="0"/>
              <a:t>循环条件</a:t>
            </a:r>
            <a:r>
              <a:rPr lang="en-US" altLang="zh-CN" sz="2600" dirty="0"/>
              <a:t>)	</a:t>
            </a:r>
            <a:r>
              <a:rPr lang="en-US" altLang="zh-CN" sz="2600" i="1" dirty="0">
                <a:solidFill>
                  <a:srgbClr val="0070C0"/>
                </a:solidFill>
              </a:rPr>
              <a:t>/*</a:t>
            </a:r>
            <a:r>
              <a:rPr lang="zh-CN" altLang="en-US" sz="2600" i="1" dirty="0">
                <a:solidFill>
                  <a:srgbClr val="0070C0"/>
                </a:solidFill>
              </a:rPr>
              <a:t>循环继续条件的含义*</a:t>
            </a:r>
            <a:r>
              <a:rPr lang="en-US" altLang="zh-CN" sz="2600" i="1" dirty="0">
                <a:solidFill>
                  <a:srgbClr val="0070C0"/>
                </a:solidFill>
              </a:rPr>
              <a:t>/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600" dirty="0"/>
              <a:t>   {   ……   }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endParaRPr lang="en-US" altLang="zh-CN" sz="2600" dirty="0"/>
          </a:p>
          <a:p>
            <a:pPr marL="0" indent="476250" eaLnBrk="1" hangingPunct="1">
              <a:lnSpc>
                <a:spcPct val="80000"/>
              </a:lnSpc>
              <a:buNone/>
            </a:pPr>
            <a:endParaRPr lang="en-US" altLang="zh-CN" sz="2600" dirty="0"/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600" dirty="0"/>
              <a:t>3</a:t>
            </a:r>
            <a:r>
              <a:rPr lang="zh-CN" altLang="en-US" sz="2600" dirty="0"/>
              <a:t>）</a:t>
            </a:r>
            <a:r>
              <a:rPr lang="en-US" altLang="zh-CN" sz="2600" dirty="0"/>
              <a:t>do...while</a:t>
            </a:r>
            <a:r>
              <a:rPr lang="zh-CN" altLang="en-US" sz="2600" dirty="0"/>
              <a:t>语句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600" i="1" dirty="0">
                <a:solidFill>
                  <a:srgbClr val="0070C0"/>
                </a:solidFill>
              </a:rPr>
              <a:t>/*</a:t>
            </a:r>
            <a:r>
              <a:rPr lang="zh-CN" altLang="en-US" sz="2600" i="1" dirty="0">
                <a:solidFill>
                  <a:srgbClr val="0070C0"/>
                </a:solidFill>
              </a:rPr>
              <a:t>功能说明*</a:t>
            </a:r>
            <a:r>
              <a:rPr lang="en-US" altLang="zh-CN" sz="2600" i="1" dirty="0">
                <a:solidFill>
                  <a:srgbClr val="0070C0"/>
                </a:solidFill>
              </a:rPr>
              <a:t>/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600" dirty="0"/>
              <a:t>do {  ……   }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en-US" altLang="zh-CN" sz="2600" dirty="0"/>
              <a:t>while(</a:t>
            </a:r>
            <a:r>
              <a:rPr lang="zh-CN" altLang="en-US" sz="2600" dirty="0"/>
              <a:t>循环条件</a:t>
            </a:r>
            <a:r>
              <a:rPr lang="en-US" altLang="zh-CN" sz="2600" dirty="0"/>
              <a:t>)</a:t>
            </a:r>
            <a:r>
              <a:rPr lang="zh-CN" altLang="en-US" sz="2600" dirty="0"/>
              <a:t>；	</a:t>
            </a:r>
            <a:r>
              <a:rPr lang="en-US" altLang="zh-CN" sz="2600" i="1" dirty="0">
                <a:solidFill>
                  <a:srgbClr val="0070C0"/>
                </a:solidFill>
              </a:rPr>
              <a:t>/*</a:t>
            </a:r>
            <a:r>
              <a:rPr lang="zh-CN" altLang="en-US" sz="2600" i="1" dirty="0">
                <a:solidFill>
                  <a:srgbClr val="0070C0"/>
                </a:solidFill>
              </a:rPr>
              <a:t>循环继续条件的含义*</a:t>
            </a:r>
            <a:r>
              <a:rPr lang="en-US" altLang="zh-CN" sz="2600" i="1" dirty="0">
                <a:solidFill>
                  <a:srgbClr val="0070C0"/>
                </a:solidFill>
              </a:rPr>
              <a:t>/</a:t>
            </a:r>
          </a:p>
          <a:p>
            <a:pPr marL="0" indent="476250" eaLnBrk="1" hangingPunct="1">
              <a:lnSpc>
                <a:spcPct val="80000"/>
              </a:lnSpc>
              <a:buNone/>
            </a:pPr>
            <a:r>
              <a:rPr lang="zh-CN" altLang="en-US" sz="2600" dirty="0"/>
              <a:t>如果循环嵌套，还应说明每层循环各控制什么。</a:t>
            </a:r>
            <a:br>
              <a:rPr lang="zh-CN" altLang="en-US" sz="2600" dirty="0"/>
            </a:br>
            <a:r>
              <a:rPr lang="zh-CN" altLang="en-US" sz="2600" dirty="0"/>
              <a:t/>
            </a:r>
            <a:br>
              <a:rPr lang="zh-CN" altLang="en-US" sz="2600" dirty="0"/>
            </a:br>
            <a:endParaRPr lang="zh-CN" altLang="en-US" sz="2600" dirty="0"/>
          </a:p>
          <a:p>
            <a:pPr marL="0" indent="476250" eaLnBrk="1" hangingPunct="1">
              <a:lnSpc>
                <a:spcPct val="80000"/>
              </a:lnSpc>
              <a:buNone/>
            </a:pPr>
            <a:endParaRPr lang="en-US" altLang="zh-CN" sz="2600" dirty="0"/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B05F80-52C8-43D3-A4F5-BDF622F757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9941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B10F66-993E-4E55-A48D-E3D446F3E5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67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5"/>
            <a:ext cx="4320083" cy="514127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3.7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循环型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程序设计举例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7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7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7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7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5FA5E3-B704-4E1A-8794-86DF1B4BE9B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2024/10/18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16397" y="1124744"/>
            <a:ext cx="67684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/*</a:t>
            </a:r>
            <a:r>
              <a:rPr lang="zh-CN" altLang="en-US" dirty="0"/>
              <a:t>统计单词数（任何不包含空格、制表符或换行符的字符序列*</a:t>
            </a:r>
            <a:r>
              <a:rPr lang="en-US" altLang="zh-CN" dirty="0"/>
              <a:t>/</a:t>
            </a:r>
          </a:p>
        </p:txBody>
      </p:sp>
      <p:sp>
        <p:nvSpPr>
          <p:cNvPr id="2" name="矩形 1"/>
          <p:cNvSpPr/>
          <p:nvPr/>
        </p:nvSpPr>
        <p:spPr>
          <a:xfrm>
            <a:off x="1547664" y="1616175"/>
            <a:ext cx="574238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单词内</a:t>
            </a:r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单词外</a:t>
            </a:r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nw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nw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getchar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())!=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EOF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 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||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'\n'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||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'\t'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nw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nw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8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bbfc611-5782-4b6e-a188-2a90f460ee80"/>
  <p:tag name="COMMONDATA" val="eyJoZGlkIjoiZmUyMGIyN2ZjYTYxMTM5YjdhMDk5OWRkNWI4ZTVjY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2325,&quot;width&quot;:859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4215</Words>
  <Application>Microsoft Office PowerPoint</Application>
  <PresentationFormat>全屏显示(4:3)</PresentationFormat>
  <Paragraphs>699</Paragraphs>
  <Slides>68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5" baseType="lpstr">
      <vt:lpstr>方正姚体</vt:lpstr>
      <vt:lpstr>仿宋</vt:lpstr>
      <vt:lpstr>华文隶书</vt:lpstr>
      <vt:lpstr>华文新魏</vt:lpstr>
      <vt:lpstr>华文行楷</vt:lpstr>
      <vt:lpstr>楷体</vt:lpstr>
      <vt:lpstr>楷体_GB2312</vt:lpstr>
      <vt:lpstr>宋体</vt:lpstr>
      <vt:lpstr>Arial</vt:lpstr>
      <vt:lpstr>Consolas</vt:lpstr>
      <vt:lpstr>Courier New</vt:lpstr>
      <vt:lpstr>Garamond</vt:lpstr>
      <vt:lpstr>Tahoma</vt:lpstr>
      <vt:lpstr>Times New Roman</vt:lpstr>
      <vt:lpstr>Wingdings</vt:lpstr>
      <vt:lpstr>Blends</vt:lpstr>
      <vt:lpstr>Microsoft 公式 3.0</vt:lpstr>
      <vt:lpstr>3.4   顺序结构程序设计</vt:lpstr>
      <vt:lpstr>3.4   顺序结构程序设计</vt:lpstr>
      <vt:lpstr>3.5   选择结构程序设计</vt:lpstr>
      <vt:lpstr>3.5   选择结构程序设计</vt:lpstr>
      <vt:lpstr>3.5   选择结构程序设计</vt:lpstr>
      <vt:lpstr>3.5   选择结构程序设计</vt:lpstr>
      <vt:lpstr>3.5   选择结构程序设计</vt:lpstr>
      <vt:lpstr>3.5   选择结构程序设计</vt:lpstr>
      <vt:lpstr>3.5   选择结构程序设计</vt:lpstr>
      <vt:lpstr>  </vt:lpstr>
      <vt:lpstr>PowerPoint 演示文稿</vt:lpstr>
      <vt:lpstr>PowerPoint 演示文稿</vt:lpstr>
      <vt:lpstr>b.switch语句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循环语句概述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   直到型循环do-while语句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  break语句与continue语句</vt:lpstr>
      <vt:lpstr>PowerPoint 演示文稿</vt:lpstr>
      <vt:lpstr>PowerPoint 演示文稿</vt:lpstr>
      <vt:lpstr>PowerPoint 演示文稿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3.7 循环型程序设计举例</vt:lpstr>
      <vt:lpstr>      循环结构注释</vt:lpstr>
      <vt:lpstr>3.7 循环型程序设计举例</vt:lpstr>
      <vt:lpstr>PowerPoint 演示文稿</vt:lpstr>
    </vt:vector>
  </TitlesOfParts>
  <Company>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zhengzhong</dc:creator>
  <cp:lastModifiedBy>zheng</cp:lastModifiedBy>
  <cp:revision>1127</cp:revision>
  <dcterms:created xsi:type="dcterms:W3CDTF">2003-08-26T10:11:00Z</dcterms:created>
  <dcterms:modified xsi:type="dcterms:W3CDTF">2024-10-18T05:35:46Z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0991782EF6674E7081A82AC96A09D420_12</vt:lpwstr>
  </property>
  <property fmtid="{D5CDD505-2E9C-101B-9397-08002B2CF9AE}" pid="3" name="KSOProductBuildVer">
    <vt:lpwstr>2052-11.1.0.14309</vt:lpwstr>
  </property>
</Properties>
</file>